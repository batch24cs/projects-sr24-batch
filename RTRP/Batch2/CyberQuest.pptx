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9" r:id="rId12"/>
    <p:sldId id="270" r:id="rId13"/>
    <p:sldId id="266" r:id="rId14"/>
  </p:sldIdLst>
  <p:sldSz cx="18288000" cy="10287000"/>
  <p:notesSz cx="6858000" cy="9144000"/>
  <p:embeddedFontLst>
    <p:embeddedFont>
      <p:font typeface="Bicubik" panose="02000503020000020004" charset="0"/>
      <p:regular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  <p:embeddedFont>
      <p:font typeface="Telegraf" panose="020B0604020202020204" charset="0"/>
      <p:regular r:id="rId19"/>
    </p:embeddedFont>
    <p:embeddedFont>
      <p:font typeface="Telegraf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22" autoAdjust="0"/>
  </p:normalViewPr>
  <p:slideViewPr>
    <p:cSldViewPr>
      <p:cViewPr varScale="1">
        <p:scale>
          <a:sx n="50" d="100"/>
          <a:sy n="50" d="100"/>
        </p:scale>
        <p:origin x="653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6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7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104867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10486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06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104870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11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12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1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104871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1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 fontScale="95833" lnSpcReduction="20000"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8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1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 fontScale="95833" lnSpcReduction="20000"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0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104872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81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104868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25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104872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5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96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104869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0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104870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8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104868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AutoShape 2"/>
          <p:cNvSpPr/>
          <p:nvPr/>
        </p:nvSpPr>
        <p:spPr>
          <a:xfrm>
            <a:off x="1028700" y="4785413"/>
            <a:ext cx="16230600" cy="0"/>
          </a:xfrm>
          <a:prstGeom prst="line">
            <a:avLst/>
          </a:prstGeom>
          <a:ln w="9525" cap="flat">
            <a:solidFill>
              <a:srgbClr val="21839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8585" name="AutoShape 3"/>
          <p:cNvSpPr/>
          <p:nvPr/>
        </p:nvSpPr>
        <p:spPr>
          <a:xfrm>
            <a:off x="1028700" y="2612404"/>
            <a:ext cx="16230600" cy="0"/>
          </a:xfrm>
          <a:prstGeom prst="line">
            <a:avLst/>
          </a:prstGeom>
          <a:ln w="9525" cap="flat">
            <a:solidFill>
              <a:srgbClr val="21839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6" name="Group 4"/>
          <p:cNvGrpSpPr/>
          <p:nvPr/>
        </p:nvGrpSpPr>
        <p:grpSpPr>
          <a:xfrm rot="5400000">
            <a:off x="2060558" y="5588880"/>
            <a:ext cx="3567606" cy="3567606"/>
            <a:chOff x="0" y="0"/>
            <a:chExt cx="812800" cy="812800"/>
          </a:xfrm>
        </p:grpSpPr>
        <p:sp>
          <p:nvSpPr>
            <p:cNvPr id="1048586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id="1048587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48588" name="TextBox 7"/>
          <p:cNvSpPr txBox="1"/>
          <p:nvPr/>
        </p:nvSpPr>
        <p:spPr>
          <a:xfrm>
            <a:off x="1082747" y="2668588"/>
            <a:ext cx="16122507" cy="1993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696"/>
              </a:lnSpc>
              <a:spcBef>
                <a:spcPct val="0"/>
              </a:spcBef>
            </a:pPr>
            <a:r>
              <a:rPr lang="en-US" sz="11211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Bicubik"/>
                <a:ea typeface="Bicubik"/>
                <a:cs typeface="Bicubik"/>
                <a:sym typeface="Bicubik"/>
              </a:rPr>
              <a:t>CyberQuest</a:t>
            </a:r>
          </a:p>
        </p:txBody>
      </p:sp>
      <p:sp>
        <p:nvSpPr>
          <p:cNvPr id="1048589" name="TextBox 8"/>
          <p:cNvSpPr txBox="1"/>
          <p:nvPr/>
        </p:nvSpPr>
        <p:spPr>
          <a:xfrm>
            <a:off x="1929134" y="6333226"/>
            <a:ext cx="3608152" cy="1515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77"/>
              </a:lnSpc>
            </a:pPr>
            <a:r>
              <a:rPr lang="en-US" sz="3314" spc="-132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 Gamified Cybersecurity Learning Platform</a:t>
            </a:r>
          </a:p>
        </p:txBody>
      </p:sp>
      <p:sp>
        <p:nvSpPr>
          <p:cNvPr id="1048590" name="TextBox 9"/>
          <p:cNvSpPr txBox="1"/>
          <p:nvPr/>
        </p:nvSpPr>
        <p:spPr>
          <a:xfrm>
            <a:off x="12877676" y="6120878"/>
            <a:ext cx="4381624" cy="30389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60"/>
              </a:lnSpc>
            </a:pPr>
            <a:r>
              <a:rPr lang="en-US" sz="3400" u="sng" spc="-136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Team  Members:</a:t>
            </a:r>
          </a:p>
          <a:p>
            <a:pPr algn="just">
              <a:lnSpc>
                <a:spcPts val="4760"/>
              </a:lnSpc>
            </a:pPr>
            <a:r>
              <a:rPr lang="en-US" sz="3400" spc="-136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R.Abhilash-253</a:t>
            </a:r>
          </a:p>
          <a:p>
            <a:pPr algn="just">
              <a:lnSpc>
                <a:spcPts val="4760"/>
              </a:lnSpc>
            </a:pPr>
            <a:r>
              <a:rPr lang="en-US" sz="3400" spc="-136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Y.Naveen-250</a:t>
            </a:r>
          </a:p>
          <a:p>
            <a:pPr algn="just">
              <a:lnSpc>
                <a:spcPts val="4760"/>
              </a:lnSpc>
            </a:pPr>
            <a:r>
              <a:rPr lang="en-US" sz="3400" spc="-136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S.Munishwar-249</a:t>
            </a:r>
          </a:p>
          <a:p>
            <a:pPr algn="just">
              <a:lnSpc>
                <a:spcPts val="4760"/>
              </a:lnSpc>
              <a:spcBef>
                <a:spcPct val="0"/>
              </a:spcBef>
            </a:pPr>
            <a:r>
              <a:rPr lang="en-US" sz="3400" spc="-136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M.Praveen</a:t>
            </a:r>
            <a:r>
              <a:rPr lang="en-US" sz="3400" spc="-136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kumar-246</a:t>
            </a:r>
          </a:p>
        </p:txBody>
      </p:sp>
      <p:pic>
        <p:nvPicPr>
          <p:cNvPr id="2097152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33729"/>
            <a:ext cx="11243808" cy="22626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5"/>
          <p:cNvGrpSpPr/>
          <p:nvPr/>
        </p:nvGrpSpPr>
        <p:grpSpPr>
          <a:xfrm rot="5400000">
            <a:off x="6364662" y="2080949"/>
            <a:ext cx="5558676" cy="5558676"/>
            <a:chOff x="0" y="0"/>
            <a:chExt cx="812800" cy="812800"/>
          </a:xfrm>
        </p:grpSpPr>
        <p:sp>
          <p:nvSpPr>
            <p:cNvPr id="1048591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77FC"/>
            </a:solidFill>
          </p:spPr>
        </p:sp>
        <p:sp>
          <p:nvSpPr>
            <p:cNvPr id="1048592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8"/>
          <p:cNvGrpSpPr/>
          <p:nvPr/>
        </p:nvGrpSpPr>
        <p:grpSpPr>
          <a:xfrm>
            <a:off x="6678869" y="2395155"/>
            <a:ext cx="4930263" cy="4930263"/>
            <a:chOff x="0" y="0"/>
            <a:chExt cx="812800" cy="812800"/>
          </a:xfrm>
        </p:grpSpPr>
        <p:sp>
          <p:nvSpPr>
            <p:cNvPr id="1048593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256F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id="1048594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48596" name="TextBox 12"/>
          <p:cNvSpPr txBox="1"/>
          <p:nvPr/>
        </p:nvSpPr>
        <p:spPr>
          <a:xfrm>
            <a:off x="6701822" y="4241539"/>
            <a:ext cx="4884357" cy="1297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05"/>
              </a:lnSpc>
            </a:pPr>
            <a:r>
              <a:rPr lang="en-US" sz="3783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Problem in Cybersecurity Education</a:t>
            </a:r>
          </a:p>
        </p:txBody>
      </p:sp>
      <p:sp>
        <p:nvSpPr>
          <p:cNvPr id="1048597" name="TextBox 13"/>
          <p:cNvSpPr txBox="1"/>
          <p:nvPr/>
        </p:nvSpPr>
        <p:spPr>
          <a:xfrm>
            <a:off x="12542463" y="5742311"/>
            <a:ext cx="3260003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8"/>
              </a:lnSpc>
            </a:pPr>
            <a:r>
              <a:rPr lang="en-US" sz="2798" b="1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Passive Methods :</a:t>
            </a:r>
          </a:p>
        </p:txBody>
      </p:sp>
      <p:sp>
        <p:nvSpPr>
          <p:cNvPr id="1048598" name="TextBox 14"/>
          <p:cNvSpPr txBox="1"/>
          <p:nvPr/>
        </p:nvSpPr>
        <p:spPr>
          <a:xfrm>
            <a:off x="12603627" y="6334700"/>
            <a:ext cx="5061476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68"/>
              </a:lnSpc>
            </a:pPr>
            <a:r>
              <a:rPr lang="en-US" sz="247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Traditional teaching approaches are lecture-based and ineffective, resulting in poor concept clarity and low exam scores.</a:t>
            </a:r>
          </a:p>
        </p:txBody>
      </p:sp>
      <p:sp>
        <p:nvSpPr>
          <p:cNvPr id="1048599" name="TextBox 15"/>
          <p:cNvSpPr txBox="1"/>
          <p:nvPr/>
        </p:nvSpPr>
        <p:spPr>
          <a:xfrm>
            <a:off x="356507" y="6889163"/>
            <a:ext cx="3804785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78"/>
              </a:lnSpc>
            </a:pPr>
            <a:r>
              <a:rPr lang="en-US" sz="2898" b="1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Complex Concepts :</a:t>
            </a:r>
          </a:p>
        </p:txBody>
      </p:sp>
      <p:sp>
        <p:nvSpPr>
          <p:cNvPr id="1048600" name="TextBox 16"/>
          <p:cNvSpPr txBox="1"/>
          <p:nvPr/>
        </p:nvSpPr>
        <p:spPr>
          <a:xfrm>
            <a:off x="356507" y="7508288"/>
            <a:ext cx="6147263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3"/>
              </a:lnSpc>
            </a:pPr>
            <a:r>
              <a:rPr lang="en-US" sz="243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Students struggle to grasp key topics like encryption, networking security, and malware without hands-on practice.</a:t>
            </a:r>
          </a:p>
        </p:txBody>
      </p:sp>
      <p:sp>
        <p:nvSpPr>
          <p:cNvPr id="1048601" name="TextBox 17"/>
          <p:cNvSpPr txBox="1"/>
          <p:nvPr/>
        </p:nvSpPr>
        <p:spPr>
          <a:xfrm>
            <a:off x="12542463" y="3347684"/>
            <a:ext cx="3623172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0"/>
              </a:lnSpc>
            </a:pPr>
            <a:r>
              <a:rPr lang="en-US" sz="2908" b="1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Low Engagement:</a:t>
            </a:r>
          </a:p>
        </p:txBody>
      </p:sp>
      <p:sp>
        <p:nvSpPr>
          <p:cNvPr id="1048602" name="TextBox 18"/>
          <p:cNvSpPr txBox="1"/>
          <p:nvPr/>
        </p:nvSpPr>
        <p:spPr>
          <a:xfrm>
            <a:off x="12542463" y="3957284"/>
            <a:ext cx="5564562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63"/>
              </a:lnSpc>
            </a:pPr>
            <a:r>
              <a:rPr lang="en-US" sz="24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Students spend more time on mobile apps and games than studying theoretical cybersecurity topics.</a:t>
            </a:r>
          </a:p>
        </p:txBody>
      </p:sp>
      <p:sp>
        <p:nvSpPr>
          <p:cNvPr id="1048603" name="TextBox 19"/>
          <p:cNvSpPr txBox="1"/>
          <p:nvPr/>
        </p:nvSpPr>
        <p:spPr>
          <a:xfrm>
            <a:off x="356507" y="4552825"/>
            <a:ext cx="3959118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78"/>
              </a:lnSpc>
            </a:pPr>
            <a:r>
              <a:rPr lang="en-US" sz="2898" b="1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Digital Distraction :</a:t>
            </a:r>
          </a:p>
        </p:txBody>
      </p:sp>
      <p:sp>
        <p:nvSpPr>
          <p:cNvPr id="1048604" name="TextBox 20"/>
          <p:cNvSpPr txBox="1"/>
          <p:nvPr/>
        </p:nvSpPr>
        <p:spPr>
          <a:xfrm>
            <a:off x="356507" y="5175573"/>
            <a:ext cx="5885074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53"/>
              </a:lnSpc>
            </a:pPr>
            <a:r>
              <a:rPr lang="en-US" sz="24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Gaming and social media compete for attention, leaving cybersecurity education feeling boring and outdated.</a:t>
            </a:r>
          </a:p>
        </p:txBody>
      </p:sp>
      <p:sp>
        <p:nvSpPr>
          <p:cNvPr id="1048605" name="TextBox 21"/>
          <p:cNvSpPr txBox="1"/>
          <p:nvPr/>
        </p:nvSpPr>
        <p:spPr>
          <a:xfrm>
            <a:off x="356507" y="2395155"/>
            <a:ext cx="5885074" cy="1571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5"/>
              </a:lnSpc>
            </a:pPr>
            <a:r>
              <a:rPr lang="en-US" sz="259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Cybersecurity education faces critical challenges: students are disengaged, concepts feel abstract, and traditional methods fail to inspire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extBox 2"/>
          <p:cNvSpPr txBox="1"/>
          <p:nvPr/>
        </p:nvSpPr>
        <p:spPr>
          <a:xfrm>
            <a:off x="4114801" y="1914493"/>
            <a:ext cx="11734800" cy="796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268"/>
              </a:lnSpc>
            </a:pPr>
            <a:r>
              <a:rPr lang="en-US" sz="6000" dirty="0">
                <a:solidFill>
                  <a:srgbClr val="5CE1E6"/>
                </a:solidFill>
                <a:latin typeface="Bicubik"/>
                <a:ea typeface="Bicubik"/>
                <a:cs typeface="Bicubik"/>
                <a:sym typeface="Bicubik"/>
              </a:rPr>
              <a:t>Solution: </a:t>
            </a:r>
            <a:r>
              <a:rPr lang="en-US" sz="6000" dirty="0" err="1">
                <a:solidFill>
                  <a:srgbClr val="5CE1E6"/>
                </a:solidFill>
                <a:latin typeface="Bicubik"/>
                <a:ea typeface="Bicubik"/>
                <a:cs typeface="Bicubik"/>
                <a:sym typeface="Bicubik"/>
              </a:rPr>
              <a:t>CyberQuest</a:t>
            </a:r>
            <a:endParaRPr lang="en-US" sz="6000" dirty="0">
              <a:solidFill>
                <a:srgbClr val="5CE1E6"/>
              </a:solidFill>
              <a:latin typeface="Bicubik"/>
              <a:ea typeface="Bicubik"/>
              <a:cs typeface="Bicubik"/>
              <a:sym typeface="Bicubik"/>
            </a:endParaRPr>
          </a:p>
        </p:txBody>
      </p:sp>
      <p:sp>
        <p:nvSpPr>
          <p:cNvPr id="1048607" name="TextBox 3"/>
          <p:cNvSpPr txBox="1"/>
          <p:nvPr/>
        </p:nvSpPr>
        <p:spPr>
          <a:xfrm>
            <a:off x="5606581" y="5882159"/>
            <a:ext cx="4374551" cy="44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03"/>
              </a:lnSpc>
            </a:pPr>
            <a:r>
              <a:rPr lang="en-US" sz="3600" b="1" spc="-113" dirty="0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Real-Time Features :</a:t>
            </a:r>
          </a:p>
        </p:txBody>
      </p:sp>
      <p:sp>
        <p:nvSpPr>
          <p:cNvPr id="1048608" name="TextBox 4"/>
          <p:cNvSpPr txBox="1"/>
          <p:nvPr/>
        </p:nvSpPr>
        <p:spPr>
          <a:xfrm>
            <a:off x="5606581" y="6386925"/>
            <a:ext cx="8223271" cy="7816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86"/>
              </a:lnSpc>
            </a:pPr>
            <a:r>
              <a:rPr lang="en-US" sz="3200" spc="-99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Timer-based challenges, live scoring, and competitive elements keep learners engaged.</a:t>
            </a:r>
          </a:p>
        </p:txBody>
      </p:sp>
      <p:sp>
        <p:nvSpPr>
          <p:cNvPr id="1048609" name="TextBox 5"/>
          <p:cNvSpPr txBox="1"/>
          <p:nvPr/>
        </p:nvSpPr>
        <p:spPr>
          <a:xfrm>
            <a:off x="5606580" y="4264185"/>
            <a:ext cx="4832819" cy="448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05"/>
              </a:lnSpc>
            </a:pPr>
            <a:r>
              <a:rPr lang="en-US" sz="3600" b="1" spc="-113" dirty="0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Interactive MCQs :</a:t>
            </a:r>
          </a:p>
        </p:txBody>
      </p:sp>
      <p:sp>
        <p:nvSpPr>
          <p:cNvPr id="1048610" name="TextBox 6"/>
          <p:cNvSpPr txBox="1"/>
          <p:nvPr/>
        </p:nvSpPr>
        <p:spPr>
          <a:xfrm>
            <a:off x="5606581" y="4861901"/>
            <a:ext cx="8461717" cy="751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59"/>
              </a:lnSpc>
            </a:pPr>
            <a:r>
              <a:rPr lang="en-US" sz="3200" spc="-98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Learn through questions with instant feedback and detailed explanations.</a:t>
            </a:r>
          </a:p>
        </p:txBody>
      </p:sp>
      <p:grpSp>
        <p:nvGrpSpPr>
          <p:cNvPr id="32" name="Group 7"/>
          <p:cNvGrpSpPr/>
          <p:nvPr/>
        </p:nvGrpSpPr>
        <p:grpSpPr>
          <a:xfrm rot="5400000">
            <a:off x="13631778" y="2832954"/>
            <a:ext cx="4656222" cy="4656222"/>
            <a:chOff x="0" y="0"/>
            <a:chExt cx="812800" cy="812800"/>
          </a:xfrm>
        </p:grpSpPr>
        <p:sp>
          <p:nvSpPr>
            <p:cNvPr id="1048611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5DE1E6">
                    <a:alpha val="100000"/>
                  </a:srgbClr>
                </a:gs>
                <a:gs pos="100000">
                  <a:srgbClr val="003D48">
                    <a:alpha val="0"/>
                  </a:srgbClr>
                </a:gs>
              </a:gsLst>
              <a:lin ang="0"/>
            </a:gradFill>
          </p:spPr>
        </p:sp>
        <p:sp>
          <p:nvSpPr>
            <p:cNvPr id="1048612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48613" name="TextBox 10"/>
          <p:cNvSpPr txBox="1"/>
          <p:nvPr/>
        </p:nvSpPr>
        <p:spPr>
          <a:xfrm>
            <a:off x="5606580" y="7532545"/>
            <a:ext cx="4147020" cy="448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358"/>
              </a:lnSpc>
            </a:pPr>
            <a:r>
              <a:rPr lang="en-US" sz="3600" b="1" spc="-111" dirty="0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Progressive Levels :</a:t>
            </a:r>
          </a:p>
        </p:txBody>
      </p:sp>
      <p:sp>
        <p:nvSpPr>
          <p:cNvPr id="1048614" name="TextBox 11"/>
          <p:cNvSpPr txBox="1"/>
          <p:nvPr/>
        </p:nvSpPr>
        <p:spPr>
          <a:xfrm>
            <a:off x="5606580" y="7993792"/>
            <a:ext cx="7568084" cy="7310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78"/>
              </a:lnSpc>
            </a:pPr>
            <a:r>
              <a:rPr lang="en-US" sz="3200" spc="-95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Advance from Basic to Intermediate to Advanced as you master concepts.</a:t>
            </a:r>
          </a:p>
        </p:txBody>
      </p:sp>
      <p:grpSp>
        <p:nvGrpSpPr>
          <p:cNvPr id="33" name="Group 12"/>
          <p:cNvGrpSpPr/>
          <p:nvPr/>
        </p:nvGrpSpPr>
        <p:grpSpPr>
          <a:xfrm>
            <a:off x="14640292" y="3885717"/>
            <a:ext cx="2619008" cy="2619008"/>
            <a:chOff x="0" y="0"/>
            <a:chExt cx="812800" cy="812800"/>
          </a:xfrm>
        </p:grpSpPr>
        <p:sp>
          <p:nvSpPr>
            <p:cNvPr id="1048615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D48"/>
            </a:solidFill>
            <a:ln w="9525" cap="sq">
              <a:solidFill>
                <a:srgbClr val="218395"/>
              </a:solidFill>
              <a:prstDash val="solid"/>
              <a:miter/>
            </a:ln>
          </p:spPr>
        </p:sp>
        <p:sp>
          <p:nvSpPr>
            <p:cNvPr id="1048616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48617" name="TextBox 15"/>
          <p:cNvSpPr txBox="1"/>
          <p:nvPr/>
        </p:nvSpPr>
        <p:spPr>
          <a:xfrm>
            <a:off x="14592863" y="4649992"/>
            <a:ext cx="2734052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8"/>
              </a:lnSpc>
            </a:pPr>
            <a:r>
              <a:rPr lang="en-US" sz="2798" b="1" spc="-111">
                <a:solidFill>
                  <a:srgbClr val="FFBD59"/>
                </a:solidFill>
                <a:latin typeface="Telegraf Bold"/>
                <a:ea typeface="Telegraf Bold"/>
                <a:cs typeface="Telegraf Bold"/>
                <a:sym typeface="Telegraf Bold"/>
              </a:rPr>
              <a:t>WEB-BASED LEARNING PLATFORM</a:t>
            </a:r>
          </a:p>
        </p:txBody>
      </p:sp>
      <p:grpSp>
        <p:nvGrpSpPr>
          <p:cNvPr id="34" name="Group 16"/>
          <p:cNvGrpSpPr/>
          <p:nvPr/>
        </p:nvGrpSpPr>
        <p:grpSpPr>
          <a:xfrm>
            <a:off x="62541" y="2788570"/>
            <a:ext cx="5353539" cy="7200900"/>
            <a:chOff x="0" y="0"/>
            <a:chExt cx="829403" cy="1115608"/>
          </a:xfrm>
        </p:grpSpPr>
        <p:sp>
          <p:nvSpPr>
            <p:cNvPr id="1048618" name="Freeform 17"/>
            <p:cNvSpPr/>
            <p:nvPr/>
          </p:nvSpPr>
          <p:spPr>
            <a:xfrm>
              <a:off x="0" y="0"/>
              <a:ext cx="829403" cy="1115608"/>
            </a:xfrm>
            <a:custGeom>
              <a:avLst/>
              <a:gdLst/>
              <a:ahLst/>
              <a:cxnLst/>
              <a:rect l="l" t="t" r="r" b="b"/>
              <a:pathLst>
                <a:path w="829403" h="1115608">
                  <a:moveTo>
                    <a:pt x="73753" y="0"/>
                  </a:moveTo>
                  <a:lnTo>
                    <a:pt x="755651" y="0"/>
                  </a:lnTo>
                  <a:cubicBezTo>
                    <a:pt x="775211" y="0"/>
                    <a:pt x="793970" y="7770"/>
                    <a:pt x="807802" y="21602"/>
                  </a:cubicBezTo>
                  <a:cubicBezTo>
                    <a:pt x="821633" y="35433"/>
                    <a:pt x="829403" y="54192"/>
                    <a:pt x="829403" y="73753"/>
                  </a:cubicBezTo>
                  <a:lnTo>
                    <a:pt x="829403" y="1041855"/>
                  </a:lnTo>
                  <a:cubicBezTo>
                    <a:pt x="829403" y="1061416"/>
                    <a:pt x="821633" y="1080175"/>
                    <a:pt x="807802" y="1094006"/>
                  </a:cubicBezTo>
                  <a:cubicBezTo>
                    <a:pt x="793970" y="1107838"/>
                    <a:pt x="775211" y="1115608"/>
                    <a:pt x="755651" y="1115608"/>
                  </a:cubicBezTo>
                  <a:lnTo>
                    <a:pt x="73753" y="1115608"/>
                  </a:lnTo>
                  <a:cubicBezTo>
                    <a:pt x="33020" y="1115608"/>
                    <a:pt x="0" y="1082588"/>
                    <a:pt x="0" y="1041855"/>
                  </a:cubicBezTo>
                  <a:lnTo>
                    <a:pt x="0" y="73753"/>
                  </a:lnTo>
                  <a:cubicBezTo>
                    <a:pt x="0" y="54192"/>
                    <a:pt x="7770" y="35433"/>
                    <a:pt x="21602" y="21602"/>
                  </a:cubicBezTo>
                  <a:cubicBezTo>
                    <a:pt x="35433" y="7770"/>
                    <a:pt x="54192" y="0"/>
                    <a:pt x="73753" y="0"/>
                  </a:cubicBezTo>
                  <a:close/>
                </a:path>
              </a:pathLst>
            </a:custGeom>
            <a:blipFill>
              <a:blip r:embed="rId2"/>
              <a:stretch>
                <a:fillRect l="-376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extBox 2"/>
          <p:cNvSpPr txBox="1"/>
          <p:nvPr/>
        </p:nvSpPr>
        <p:spPr>
          <a:xfrm>
            <a:off x="171036" y="2339356"/>
            <a:ext cx="6229763" cy="5843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687"/>
              </a:lnSpc>
            </a:pPr>
            <a:r>
              <a:rPr lang="en-US" sz="3906" b="1" spc="-156" dirty="0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Telegraf Bold"/>
                <a:ea typeface="Telegraf Bold"/>
                <a:cs typeface="Telegraf Bold"/>
                <a:sym typeface="Telegraf Bold"/>
              </a:rPr>
              <a:t>CORE GAME FEATURES : </a:t>
            </a:r>
          </a:p>
        </p:txBody>
      </p:sp>
      <p:sp>
        <p:nvSpPr>
          <p:cNvPr id="1048620" name="TextBox 3"/>
          <p:cNvSpPr txBox="1"/>
          <p:nvPr/>
        </p:nvSpPr>
        <p:spPr>
          <a:xfrm>
            <a:off x="2963403" y="508417"/>
            <a:ext cx="12789882" cy="108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69"/>
              </a:lnSpc>
            </a:pPr>
            <a:r>
              <a:rPr lang="en-US" sz="7200" dirty="0">
                <a:solidFill>
                  <a:srgbClr val="5CE1E6"/>
                </a:solidFill>
                <a:latin typeface="Bicubik"/>
                <a:ea typeface="Bicubik"/>
                <a:cs typeface="Bicubik"/>
                <a:sym typeface="Bicubik"/>
              </a:rPr>
              <a:t>Game Mechanics</a:t>
            </a:r>
          </a:p>
        </p:txBody>
      </p:sp>
      <p:sp>
        <p:nvSpPr>
          <p:cNvPr id="1048621" name="TextBox 4"/>
          <p:cNvSpPr txBox="1"/>
          <p:nvPr/>
        </p:nvSpPr>
        <p:spPr>
          <a:xfrm>
            <a:off x="3200400" y="3312132"/>
            <a:ext cx="14564679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758"/>
              </a:lnSpc>
            </a:pPr>
            <a:r>
              <a:rPr lang="en-US" sz="2400" spc="-91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Progress through Basic, Intermediate, and Advanced levels as your cybersecurity knowledge grows.</a:t>
            </a:r>
          </a:p>
        </p:txBody>
      </p:sp>
      <p:sp>
        <p:nvSpPr>
          <p:cNvPr id="1048622" name="TextBox 5"/>
          <p:cNvSpPr txBox="1"/>
          <p:nvPr/>
        </p:nvSpPr>
        <p:spPr>
          <a:xfrm>
            <a:off x="114633" y="3234885"/>
            <a:ext cx="3171284" cy="43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63"/>
              </a:lnSpc>
            </a:pPr>
            <a:r>
              <a:rPr lang="en-US" sz="2886" b="1" spc="-115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Difficulty Levels : </a:t>
            </a:r>
          </a:p>
        </p:txBody>
      </p:sp>
      <p:sp>
        <p:nvSpPr>
          <p:cNvPr id="1048623" name="TextBox 6"/>
          <p:cNvSpPr txBox="1"/>
          <p:nvPr/>
        </p:nvSpPr>
        <p:spPr>
          <a:xfrm>
            <a:off x="2667000" y="4168411"/>
            <a:ext cx="12498518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47"/>
              </a:lnSpc>
            </a:pPr>
            <a:r>
              <a:rPr lang="en-US" sz="2373" spc="-94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Answer quickly! Each question has 7-12 seconds to keep the challenge exciting and urgent.</a:t>
            </a:r>
          </a:p>
        </p:txBody>
      </p:sp>
      <p:sp>
        <p:nvSpPr>
          <p:cNvPr id="1048624" name="TextBox 7"/>
          <p:cNvSpPr txBox="1"/>
          <p:nvPr/>
        </p:nvSpPr>
        <p:spPr>
          <a:xfrm>
            <a:off x="0" y="4096971"/>
            <a:ext cx="2832418" cy="43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78"/>
              </a:lnSpc>
            </a:pPr>
            <a:r>
              <a:rPr lang="en-US" sz="2898" b="1" spc="-115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Speed Timer :</a:t>
            </a:r>
          </a:p>
        </p:txBody>
      </p:sp>
      <p:sp>
        <p:nvSpPr>
          <p:cNvPr id="1048625" name="TextBox 8"/>
          <p:cNvSpPr txBox="1"/>
          <p:nvPr/>
        </p:nvSpPr>
        <p:spPr>
          <a:xfrm>
            <a:off x="2717091" y="5067281"/>
            <a:ext cx="11823472" cy="360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78"/>
              </a:lnSpc>
            </a:pPr>
            <a:r>
              <a:rPr lang="en-US" sz="2398" spc="-95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Three wrong answers and you restart! Stay focused and learn from mistakes.</a:t>
            </a:r>
          </a:p>
        </p:txBody>
      </p:sp>
      <p:sp>
        <p:nvSpPr>
          <p:cNvPr id="1048626" name="TextBox 9"/>
          <p:cNvSpPr txBox="1"/>
          <p:nvPr/>
        </p:nvSpPr>
        <p:spPr>
          <a:xfrm>
            <a:off x="88582" y="5000891"/>
            <a:ext cx="2743837" cy="4347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478"/>
              </a:lnSpc>
            </a:pPr>
            <a:r>
              <a:rPr lang="en-US" sz="2898" b="1" spc="-115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Strike System :</a:t>
            </a:r>
          </a:p>
        </p:txBody>
      </p:sp>
      <p:sp>
        <p:nvSpPr>
          <p:cNvPr id="1048627" name="TextBox 10"/>
          <p:cNvSpPr txBox="1"/>
          <p:nvPr/>
        </p:nvSpPr>
        <p:spPr>
          <a:xfrm>
            <a:off x="4225133" y="5962956"/>
            <a:ext cx="9837733" cy="360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78"/>
              </a:lnSpc>
            </a:pPr>
            <a:r>
              <a:rPr lang="en-US" sz="2398" spc="-95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Earn points for correct answers plus bonus points for answering quickly.</a:t>
            </a:r>
          </a:p>
        </p:txBody>
      </p:sp>
      <p:sp>
        <p:nvSpPr>
          <p:cNvPr id="1048628" name="TextBox 11"/>
          <p:cNvSpPr txBox="1"/>
          <p:nvPr/>
        </p:nvSpPr>
        <p:spPr>
          <a:xfrm>
            <a:off x="157949" y="5886716"/>
            <a:ext cx="3827441" cy="4347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478"/>
              </a:lnSpc>
            </a:pPr>
            <a:r>
              <a:rPr lang="en-US" sz="2898" b="1" spc="-115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Score &amp; Speed Bonus :</a:t>
            </a:r>
          </a:p>
        </p:txBody>
      </p:sp>
      <p:sp>
        <p:nvSpPr>
          <p:cNvPr id="1048629" name="TextBox 12"/>
          <p:cNvSpPr txBox="1"/>
          <p:nvPr/>
        </p:nvSpPr>
        <p:spPr>
          <a:xfrm>
            <a:off x="3703808" y="6759235"/>
            <a:ext cx="12679191" cy="3600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878"/>
              </a:lnSpc>
            </a:pPr>
            <a:r>
              <a:rPr lang="en-US" sz="2398" spc="-95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Collect Double XP, Skip Question, and 50:50 power-ups to boost your gameplay!</a:t>
            </a:r>
          </a:p>
        </p:txBody>
      </p:sp>
      <p:sp>
        <p:nvSpPr>
          <p:cNvPr id="1048630" name="TextBox 13"/>
          <p:cNvSpPr txBox="1"/>
          <p:nvPr/>
        </p:nvSpPr>
        <p:spPr>
          <a:xfrm>
            <a:off x="140380" y="6721134"/>
            <a:ext cx="3521591" cy="434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78"/>
              </a:lnSpc>
            </a:pPr>
            <a:r>
              <a:rPr lang="en-US" sz="2898" b="1" spc="-11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Power-Up Bonuses 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extBox 2"/>
          <p:cNvSpPr txBox="1"/>
          <p:nvPr/>
        </p:nvSpPr>
        <p:spPr>
          <a:xfrm>
            <a:off x="1028700" y="1171575"/>
            <a:ext cx="17259300" cy="6154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846"/>
              </a:lnSpc>
            </a:pPr>
            <a:r>
              <a:rPr lang="en-US" sz="5400" b="1" dirty="0">
                <a:solidFill>
                  <a:schemeClr val="accent6">
                    <a:lumMod val="75000"/>
                  </a:schemeClr>
                </a:solidFill>
                <a:latin typeface="Bicubik"/>
                <a:ea typeface="Bicubik"/>
                <a:cs typeface="Bicubik"/>
                <a:sym typeface="Bicubik"/>
              </a:rPr>
              <a:t>Cybersecurity Topics Covered :</a:t>
            </a:r>
          </a:p>
        </p:txBody>
      </p:sp>
      <p:sp>
        <p:nvSpPr>
          <p:cNvPr id="1048632" name="TextBox 3"/>
          <p:cNvSpPr txBox="1"/>
          <p:nvPr/>
        </p:nvSpPr>
        <p:spPr>
          <a:xfrm>
            <a:off x="1592967" y="6255560"/>
            <a:ext cx="7122145" cy="4569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418" lvl="1" indent="-323709" algn="just">
              <a:lnSpc>
                <a:spcPts val="3598"/>
              </a:lnSpc>
              <a:buFont typeface="Arial"/>
              <a:buChar char="•"/>
            </a:pPr>
            <a:r>
              <a:rPr lang="en-US" sz="3200" b="1" spc="-119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Social Engineering , etc. . ,</a:t>
            </a:r>
          </a:p>
        </p:txBody>
      </p:sp>
      <p:sp>
        <p:nvSpPr>
          <p:cNvPr id="1048633" name="TextBox 4"/>
          <p:cNvSpPr txBox="1"/>
          <p:nvPr/>
        </p:nvSpPr>
        <p:spPr>
          <a:xfrm>
            <a:off x="1592967" y="2530523"/>
            <a:ext cx="8295578" cy="4417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5829" lvl="1" indent="-312914" algn="just">
              <a:lnSpc>
                <a:spcPts val="3478"/>
              </a:lnSpc>
              <a:buFont typeface="Arial"/>
              <a:buChar char="•"/>
            </a:pPr>
            <a:r>
              <a:rPr lang="en-US" sz="3200" b="1" spc="-115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Phishing Attacks </a:t>
            </a:r>
          </a:p>
        </p:txBody>
      </p:sp>
      <p:sp>
        <p:nvSpPr>
          <p:cNvPr id="1048634" name="TextBox 5"/>
          <p:cNvSpPr txBox="1"/>
          <p:nvPr/>
        </p:nvSpPr>
        <p:spPr>
          <a:xfrm>
            <a:off x="1592967" y="3354928"/>
            <a:ext cx="7122145" cy="4417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5829" lvl="1" indent="-312914" algn="just">
              <a:lnSpc>
                <a:spcPts val="3478"/>
              </a:lnSpc>
              <a:buFont typeface="Arial"/>
              <a:buChar char="•"/>
            </a:pPr>
            <a:r>
              <a:rPr lang="en-US" sz="3200" b="1" spc="-115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Malware &amp; Ransomware</a:t>
            </a:r>
          </a:p>
        </p:txBody>
      </p:sp>
      <p:sp>
        <p:nvSpPr>
          <p:cNvPr id="1048635" name="TextBox 6"/>
          <p:cNvSpPr txBox="1"/>
          <p:nvPr/>
        </p:nvSpPr>
        <p:spPr>
          <a:xfrm>
            <a:off x="1592966" y="4321985"/>
            <a:ext cx="8456535" cy="4417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5829" lvl="1" indent="-312914" algn="just">
              <a:lnSpc>
                <a:spcPts val="3478"/>
              </a:lnSpc>
              <a:buFont typeface="Arial"/>
              <a:buChar char="•"/>
            </a:pPr>
            <a:r>
              <a:rPr lang="en-US" sz="3200" b="1" spc="-115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Firewalls &amp; Network Security</a:t>
            </a:r>
          </a:p>
        </p:txBody>
      </p:sp>
      <p:sp>
        <p:nvSpPr>
          <p:cNvPr id="1048636" name="TextBox 7"/>
          <p:cNvSpPr txBox="1"/>
          <p:nvPr/>
        </p:nvSpPr>
        <p:spPr>
          <a:xfrm>
            <a:off x="1592966" y="5293535"/>
            <a:ext cx="6712833" cy="4417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25829" lvl="1" indent="-312914" algn="just">
              <a:lnSpc>
                <a:spcPts val="3478"/>
              </a:lnSpc>
              <a:buFont typeface="Arial"/>
              <a:buChar char="•"/>
            </a:pPr>
            <a:r>
              <a:rPr lang="en-US" sz="3200" b="1" spc="-115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Encryption &amp; Passwords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extBox 15"/>
          <p:cNvSpPr txBox="1"/>
          <p:nvPr/>
        </p:nvSpPr>
        <p:spPr>
          <a:xfrm>
            <a:off x="838199" y="1333501"/>
            <a:ext cx="12274283" cy="6494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114"/>
              </a:lnSpc>
            </a:pPr>
            <a:r>
              <a:rPr lang="en-US" sz="7200" dirty="0">
                <a:solidFill>
                  <a:schemeClr val="accent6">
                    <a:lumMod val="75000"/>
                  </a:schemeClr>
                </a:solidFill>
                <a:latin typeface="Bicubik"/>
                <a:ea typeface="Bicubik"/>
                <a:cs typeface="Bicubik"/>
                <a:sym typeface="Bicubik"/>
              </a:rPr>
              <a:t>Usage Applications :</a:t>
            </a:r>
          </a:p>
        </p:txBody>
      </p:sp>
      <p:sp>
        <p:nvSpPr>
          <p:cNvPr id="1048638" name="TextBox 30"/>
          <p:cNvSpPr txBox="1"/>
          <p:nvPr/>
        </p:nvSpPr>
        <p:spPr>
          <a:xfrm>
            <a:off x="1316762" y="4796482"/>
            <a:ext cx="5922238" cy="27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2158"/>
              </a:lnSpc>
              <a:buFont typeface="Arial" panose="020B0604020202020204" pitchFamily="34" charset="0"/>
              <a:buChar char="•"/>
            </a:pPr>
            <a:r>
              <a:rPr lang="en-US" sz="4000" b="1" spc="-7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Practice Tests</a:t>
            </a:r>
          </a:p>
        </p:txBody>
      </p:sp>
      <p:sp>
        <p:nvSpPr>
          <p:cNvPr id="1048639" name="TextBox 32"/>
          <p:cNvSpPr txBox="1"/>
          <p:nvPr/>
        </p:nvSpPr>
        <p:spPr>
          <a:xfrm>
            <a:off x="1234481" y="2730853"/>
            <a:ext cx="3941038" cy="27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 algn="l">
              <a:lnSpc>
                <a:spcPts val="2158"/>
              </a:lnSpc>
              <a:buFont typeface="Arial" panose="020B0604020202020204" pitchFamily="34" charset="0"/>
              <a:buChar char="•"/>
            </a:pPr>
            <a:r>
              <a:rPr lang="en-US" sz="4000" b="1" spc="-7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Self-Learning</a:t>
            </a:r>
          </a:p>
        </p:txBody>
      </p:sp>
      <p:sp>
        <p:nvSpPr>
          <p:cNvPr id="1048640" name="TextBox 34"/>
          <p:cNvSpPr txBox="1"/>
          <p:nvPr/>
        </p:nvSpPr>
        <p:spPr>
          <a:xfrm>
            <a:off x="1234481" y="3779520"/>
            <a:ext cx="8046638" cy="27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2158"/>
              </a:lnSpc>
              <a:buFont typeface="Arial" panose="020B0604020202020204" pitchFamily="34" charset="0"/>
              <a:buChar char="•"/>
            </a:pPr>
            <a:r>
              <a:rPr lang="en-US" sz="4000" b="1" spc="-7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Classroom Quizzes</a:t>
            </a:r>
          </a:p>
        </p:txBody>
      </p:sp>
      <p:sp>
        <p:nvSpPr>
          <p:cNvPr id="1048641" name="TextBox 36"/>
          <p:cNvSpPr txBox="1"/>
          <p:nvPr/>
        </p:nvSpPr>
        <p:spPr>
          <a:xfrm>
            <a:off x="1316762" y="5703345"/>
            <a:ext cx="6934200" cy="27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2158"/>
              </a:lnSpc>
              <a:buFont typeface="Arial" panose="020B0604020202020204" pitchFamily="34" charset="0"/>
              <a:buChar char="•"/>
            </a:pPr>
            <a:r>
              <a:rPr lang="en-US" sz="4000" b="1" spc="-7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Tech Competitions</a:t>
            </a:r>
          </a:p>
        </p:txBody>
      </p:sp>
      <p:sp>
        <p:nvSpPr>
          <p:cNvPr id="1048642" name="TextBox 38"/>
          <p:cNvSpPr txBox="1"/>
          <p:nvPr/>
        </p:nvSpPr>
        <p:spPr>
          <a:xfrm>
            <a:off x="1316762" y="6720307"/>
            <a:ext cx="3941038" cy="274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 algn="l">
              <a:lnSpc>
                <a:spcPts val="2158"/>
              </a:lnSpc>
              <a:buFont typeface="Arial" panose="020B0604020202020204" pitchFamily="34" charset="0"/>
              <a:buChar char="•"/>
            </a:pPr>
            <a:r>
              <a:rPr lang="en-US" sz="4000" b="1" spc="-7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Skill Building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extBox 22"/>
          <p:cNvSpPr txBox="1"/>
          <p:nvPr/>
        </p:nvSpPr>
        <p:spPr>
          <a:xfrm>
            <a:off x="1484468" y="1319863"/>
            <a:ext cx="14288932" cy="1100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666"/>
              </a:lnSpc>
            </a:pPr>
            <a:r>
              <a:rPr lang="en-US" sz="7200" dirty="0">
                <a:solidFill>
                  <a:schemeClr val="accent6">
                    <a:lumMod val="75000"/>
                  </a:schemeClr>
                </a:solidFill>
                <a:latin typeface="Bicubik"/>
                <a:ea typeface="Bicubik"/>
                <a:cs typeface="Bicubik"/>
                <a:sym typeface="Bicubik"/>
              </a:rPr>
              <a:t>Student Benefits</a:t>
            </a:r>
          </a:p>
        </p:txBody>
      </p:sp>
      <p:sp>
        <p:nvSpPr>
          <p:cNvPr id="1048644" name="TextBox 32"/>
          <p:cNvSpPr txBox="1"/>
          <p:nvPr/>
        </p:nvSpPr>
        <p:spPr>
          <a:xfrm>
            <a:off x="1484468" y="4987271"/>
            <a:ext cx="6858000" cy="2108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>
              <a:lnSpc>
                <a:spcPts val="1660"/>
              </a:lnSpc>
              <a:buFont typeface="Arial" panose="020B0604020202020204" pitchFamily="34" charset="0"/>
              <a:buChar char="•"/>
            </a:pPr>
            <a:r>
              <a:rPr lang="en-US" sz="4000" spc="-55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Self-Directed</a:t>
            </a:r>
            <a:r>
              <a:rPr lang="en-US" sz="4400" spc="-55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Learning</a:t>
            </a:r>
          </a:p>
        </p:txBody>
      </p:sp>
      <p:sp>
        <p:nvSpPr>
          <p:cNvPr id="1048645" name="TextBox 43"/>
          <p:cNvSpPr txBox="1"/>
          <p:nvPr/>
        </p:nvSpPr>
        <p:spPr>
          <a:xfrm>
            <a:off x="1462701" y="4049577"/>
            <a:ext cx="10820400" cy="210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>
              <a:lnSpc>
                <a:spcPts val="1660"/>
              </a:lnSpc>
              <a:buFont typeface="Arial" panose="020B0604020202020204" pitchFamily="34" charset="0"/>
              <a:buChar char="•"/>
            </a:pPr>
            <a:r>
              <a:rPr lang="en-US" sz="4000" b="1" spc="-55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Easy understanding of complex topics</a:t>
            </a:r>
          </a:p>
        </p:txBody>
      </p:sp>
      <p:sp>
        <p:nvSpPr>
          <p:cNvPr id="1048646" name="TextBox 54"/>
          <p:cNvSpPr txBox="1"/>
          <p:nvPr/>
        </p:nvSpPr>
        <p:spPr>
          <a:xfrm>
            <a:off x="1484468" y="3144074"/>
            <a:ext cx="5388433" cy="210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>
              <a:lnSpc>
                <a:spcPts val="1660"/>
              </a:lnSpc>
              <a:buFont typeface="Arial" panose="020B0604020202020204" pitchFamily="34" charset="0"/>
              <a:buChar char="•"/>
            </a:pPr>
            <a:r>
              <a:rPr lang="en-US" sz="4000" b="1" spc="-55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Better</a:t>
            </a:r>
            <a:r>
              <a:rPr lang="en-US" sz="4400" b="1" spc="-55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Retention</a:t>
            </a:r>
          </a:p>
        </p:txBody>
      </p:sp>
      <p:sp>
        <p:nvSpPr>
          <p:cNvPr id="1048647" name="TextBox 1"/>
          <p:cNvSpPr txBox="1"/>
          <p:nvPr/>
        </p:nvSpPr>
        <p:spPr>
          <a:xfrm>
            <a:off x="1377449" y="5591134"/>
            <a:ext cx="9601200" cy="1285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</a:rPr>
              <a:t>Improves Logical and analytical  Thinking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1048648" name="TextBox 2"/>
          <p:cNvSpPr txBox="1"/>
          <p:nvPr/>
        </p:nvSpPr>
        <p:spPr>
          <a:xfrm>
            <a:off x="1432221" y="6575185"/>
            <a:ext cx="838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</a:rPr>
              <a:t>Enhances Digital Awareness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1048649" name="TextBox 3"/>
          <p:cNvSpPr txBox="1"/>
          <p:nvPr/>
        </p:nvSpPr>
        <p:spPr>
          <a:xfrm>
            <a:off x="1386501" y="7582096"/>
            <a:ext cx="548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</a:rPr>
              <a:t>Boosts Creativity</a:t>
            </a:r>
            <a:endParaRPr lang="en-IN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extBox 2"/>
          <p:cNvSpPr txBox="1"/>
          <p:nvPr/>
        </p:nvSpPr>
        <p:spPr>
          <a:xfrm>
            <a:off x="1260567" y="1578566"/>
            <a:ext cx="8254201" cy="2740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158"/>
              </a:lnSpc>
            </a:pPr>
            <a:r>
              <a:rPr lang="en-US" sz="4000" b="1" spc="-71" dirty="0">
                <a:solidFill>
                  <a:schemeClr val="accent6">
                    <a:lumMod val="75000"/>
                  </a:schemeClr>
                </a:solidFill>
                <a:latin typeface="Telegraf Bold"/>
                <a:ea typeface="Telegraf Bold"/>
                <a:cs typeface="Telegraf Bold"/>
                <a:sym typeface="Telegraf Bold"/>
              </a:rPr>
              <a:t>FUTURE ENHANCEMENTS :</a:t>
            </a:r>
          </a:p>
        </p:txBody>
      </p:sp>
      <p:sp>
        <p:nvSpPr>
          <p:cNvPr id="1048651" name="TextBox 30"/>
          <p:cNvSpPr txBox="1"/>
          <p:nvPr/>
        </p:nvSpPr>
        <p:spPr>
          <a:xfrm>
            <a:off x="1260567" y="2606241"/>
            <a:ext cx="7701782" cy="2740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just">
              <a:lnSpc>
                <a:spcPts val="2158"/>
              </a:lnSpc>
              <a:buFont typeface="Arial" panose="020B0604020202020204" pitchFamily="34" charset="0"/>
              <a:buChar char="•"/>
            </a:pPr>
            <a:r>
              <a:rPr lang="en-US" sz="3200" spc="-7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AI Personalization</a:t>
            </a:r>
          </a:p>
        </p:txBody>
      </p:sp>
      <p:sp>
        <p:nvSpPr>
          <p:cNvPr id="1048652" name="TextBox 44"/>
          <p:cNvSpPr txBox="1"/>
          <p:nvPr/>
        </p:nvSpPr>
        <p:spPr>
          <a:xfrm>
            <a:off x="1260567" y="3647549"/>
            <a:ext cx="7701782" cy="27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just">
              <a:lnSpc>
                <a:spcPts val="2158"/>
              </a:lnSpc>
              <a:buFont typeface="Arial" panose="020B0604020202020204" pitchFamily="34" charset="0"/>
              <a:buChar char="•"/>
            </a:pPr>
            <a:r>
              <a:rPr lang="en-US" sz="3200" spc="-7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Multiplayer Mode</a:t>
            </a:r>
          </a:p>
        </p:txBody>
      </p:sp>
      <p:sp>
        <p:nvSpPr>
          <p:cNvPr id="1048653" name="TextBox 54"/>
          <p:cNvSpPr txBox="1"/>
          <p:nvPr/>
        </p:nvSpPr>
        <p:spPr>
          <a:xfrm>
            <a:off x="1260566" y="4577190"/>
            <a:ext cx="7577293" cy="2740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just">
              <a:lnSpc>
                <a:spcPts val="2158"/>
              </a:lnSpc>
              <a:buFont typeface="Arial" panose="020B0604020202020204" pitchFamily="34" charset="0"/>
              <a:buChar char="•"/>
            </a:pPr>
            <a:r>
              <a:rPr lang="en-US" sz="3200" spc="-7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Faculty Dashboard</a:t>
            </a:r>
          </a:p>
        </p:txBody>
      </p:sp>
      <p:sp>
        <p:nvSpPr>
          <p:cNvPr id="1048654" name="TextBox 64"/>
          <p:cNvSpPr txBox="1"/>
          <p:nvPr/>
        </p:nvSpPr>
        <p:spPr>
          <a:xfrm>
            <a:off x="1260566" y="5543594"/>
            <a:ext cx="3581400" cy="27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just">
              <a:lnSpc>
                <a:spcPts val="2158"/>
              </a:lnSpc>
              <a:buFont typeface="Arial" panose="020B0604020202020204" pitchFamily="34" charset="0"/>
              <a:buChar char="•"/>
            </a:pPr>
            <a:r>
              <a:rPr lang="en-US" sz="3200" spc="-7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Mobile Apps</a:t>
            </a:r>
          </a:p>
        </p:txBody>
      </p:sp>
      <p:sp>
        <p:nvSpPr>
          <p:cNvPr id="1048655" name="TextBox 74"/>
          <p:cNvSpPr txBox="1"/>
          <p:nvPr/>
        </p:nvSpPr>
        <p:spPr>
          <a:xfrm>
            <a:off x="1230086" y="6548139"/>
            <a:ext cx="7577293" cy="27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just">
              <a:lnSpc>
                <a:spcPts val="2158"/>
              </a:lnSpc>
              <a:buFont typeface="Arial" panose="020B0604020202020204" pitchFamily="34" charset="0"/>
              <a:buChar char="•"/>
            </a:pPr>
            <a:r>
              <a:rPr lang="en-US" sz="3200" spc="-7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Advanced Labs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extBox 2"/>
          <p:cNvSpPr txBox="1"/>
          <p:nvPr/>
        </p:nvSpPr>
        <p:spPr>
          <a:xfrm>
            <a:off x="1260567" y="457200"/>
            <a:ext cx="15767866" cy="27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158"/>
              </a:lnSpc>
            </a:pPr>
            <a:r>
              <a:rPr lang="en-US" sz="4000" b="1" spc="-71" dirty="0">
                <a:solidFill>
                  <a:schemeClr val="accent6">
                    <a:lumMod val="75000"/>
                  </a:schemeClr>
                </a:solidFill>
                <a:latin typeface="Telegraf Bold"/>
                <a:ea typeface="Telegraf Bold"/>
                <a:cs typeface="Telegraf Bold"/>
                <a:sym typeface="Telegraf Bold"/>
              </a:rPr>
              <a:t>SDG ALIGNMENT :</a:t>
            </a:r>
          </a:p>
        </p:txBody>
      </p:sp>
      <p:sp>
        <p:nvSpPr>
          <p:cNvPr id="1048657" name="SDG4Box"/>
          <p:cNvSpPr>
            <a:spLocks noGrp="1"/>
          </p:cNvSpPr>
          <p:nvPr/>
        </p:nvSpPr>
        <p:spPr>
          <a:xfrm>
            <a:off x="1260567" y="1350000"/>
            <a:ext cx="4700000" cy="1100000"/>
          </a:xfrm>
          <a:prstGeom prst="roundRect">
            <a:avLst>
              <a:gd name="adj" fmla="val 20000"/>
            </a:avLst>
          </a:prstGeom>
          <a:solidFill>
            <a:srgbClr val="C31F33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algn="ctr">
              <a:lnSpc>
                <a:spcPts val="1800"/>
              </a:lnSpc>
            </a:pPr>
            <a:r>
              <a:rPr lang="en-US" sz="3600" b="1" dirty="0">
                <a:solidFill>
                  <a:srgbClr val="FFFFFF"/>
                </a:solidFill>
                <a:latin typeface="Telegraf Bold"/>
              </a:rPr>
              <a:t>SDG 4</a:t>
            </a:r>
          </a:p>
          <a:p>
            <a:pPr algn="ctr">
              <a:lnSpc>
                <a:spcPts val="1800"/>
              </a:lnSpc>
            </a:pPr>
            <a:r>
              <a:rPr lang="en-US" sz="2000" b="0" dirty="0">
                <a:solidFill>
                  <a:srgbClr val="FFFFFF"/>
                </a:solidFill>
                <a:latin typeface="Telegraf Bold"/>
              </a:rPr>
              <a:t>Quality Education</a:t>
            </a:r>
          </a:p>
        </p:txBody>
      </p:sp>
      <p:sp>
        <p:nvSpPr>
          <p:cNvPr id="1048658" name="SDG9Box"/>
          <p:cNvSpPr>
            <a:spLocks noGrp="1"/>
          </p:cNvSpPr>
          <p:nvPr/>
        </p:nvSpPr>
        <p:spPr>
          <a:xfrm>
            <a:off x="6660567" y="1350000"/>
            <a:ext cx="4700000" cy="1100000"/>
          </a:xfrm>
          <a:prstGeom prst="roundRect">
            <a:avLst>
              <a:gd name="adj" fmla="val 20000"/>
            </a:avLst>
          </a:prstGeom>
          <a:solidFill>
            <a:srgbClr val="F36D25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algn="ctr">
              <a:lnSpc>
                <a:spcPts val="1800"/>
              </a:lnSpc>
            </a:pPr>
            <a:r>
              <a:rPr lang="en-US" sz="3600" b="1" dirty="0">
                <a:solidFill>
                  <a:srgbClr val="FFFFFF"/>
                </a:solidFill>
                <a:latin typeface="Telegraf Bold"/>
              </a:rPr>
              <a:t>SDG 9</a:t>
            </a:r>
          </a:p>
          <a:p>
            <a:pPr algn="ctr">
              <a:lnSpc>
                <a:spcPts val="1800"/>
              </a:lnSpc>
            </a:pPr>
            <a:r>
              <a:rPr lang="en-US" sz="2000" b="0" dirty="0">
                <a:solidFill>
                  <a:srgbClr val="FFFFFF"/>
                </a:solidFill>
                <a:latin typeface="Telegraf Bold"/>
              </a:rPr>
              <a:t>Innovation &amp; Infrastructure</a:t>
            </a:r>
          </a:p>
        </p:txBody>
      </p:sp>
      <p:sp>
        <p:nvSpPr>
          <p:cNvPr id="1048659" name="SDG17Box"/>
          <p:cNvSpPr>
            <a:spLocks noGrp="1"/>
          </p:cNvSpPr>
          <p:nvPr/>
        </p:nvSpPr>
        <p:spPr>
          <a:xfrm>
            <a:off x="12060567" y="1350000"/>
            <a:ext cx="4700000" cy="1100000"/>
          </a:xfrm>
          <a:prstGeom prst="roundRect">
            <a:avLst>
              <a:gd name="adj" fmla="val 20000"/>
            </a:avLst>
          </a:prstGeom>
          <a:solidFill>
            <a:srgbClr val="19486A"/>
          </a:solidFill>
          <a:ln>
            <a:noFill/>
          </a:ln>
        </p:spPr>
        <p:txBody>
          <a:bodyPr wrap="square" lIns="91440" tIns="91440" rIns="91440" bIns="91440" rtlCol="0" anchor="ctr"/>
          <a:lstStyle/>
          <a:p>
            <a:pPr algn="ctr">
              <a:lnSpc>
                <a:spcPts val="1800"/>
              </a:lnSpc>
            </a:pPr>
            <a:r>
              <a:rPr lang="en-US" sz="3600" b="1" dirty="0">
                <a:solidFill>
                  <a:srgbClr val="FFFFFF"/>
                </a:solidFill>
                <a:latin typeface="Telegraf Bold"/>
              </a:rPr>
              <a:t>SDG 17</a:t>
            </a:r>
          </a:p>
          <a:p>
            <a:pPr algn="ctr">
              <a:lnSpc>
                <a:spcPts val="1800"/>
              </a:lnSpc>
            </a:pPr>
            <a:r>
              <a:rPr lang="en-US" sz="2000" b="0" dirty="0">
                <a:solidFill>
                  <a:srgbClr val="FFFFFF"/>
                </a:solidFill>
                <a:latin typeface="Telegraf Bold"/>
              </a:rPr>
              <a:t>Partnerships for Goals</a:t>
            </a:r>
          </a:p>
        </p:txBody>
      </p:sp>
      <p:sp>
        <p:nvSpPr>
          <p:cNvPr id="1048660" name="SDG4Desc"/>
          <p:cNvSpPr txBox="1"/>
          <p:nvPr/>
        </p:nvSpPr>
        <p:spPr>
          <a:xfrm>
            <a:off x="1260567" y="2600000"/>
            <a:ext cx="4700000" cy="2500000"/>
          </a:xfrm>
          <a:prstGeom prst="rect">
            <a:avLst/>
          </a:prstGeom>
          <a:solidFill>
            <a:srgbClr val="004D5C"/>
          </a:solidFill>
        </p:spPr>
        <p:txBody>
          <a:bodyPr wrap="square" lIns="182880" tIns="182880" rIns="182880" bIns="182880" rtlCol="0" anchor="t"/>
          <a:lstStyle/>
          <a:p>
            <a:pPr algn="l">
              <a:lnSpc>
                <a:spcPts val="2200"/>
              </a:lnSpc>
            </a:pPr>
            <a:r>
              <a:rPr lang="en-US" sz="1800" dirty="0">
                <a:solidFill>
                  <a:srgbClr val="F0A500"/>
                </a:solidFill>
                <a:latin typeface="Telegraf Bold"/>
              </a:rPr>
              <a:t>Promotes inclusive, gamified cybersecurity learning accessible to all students regardless of background.</a:t>
            </a:r>
          </a:p>
        </p:txBody>
      </p:sp>
      <p:sp>
        <p:nvSpPr>
          <p:cNvPr id="1048661" name="SDG9Desc"/>
          <p:cNvSpPr txBox="1"/>
          <p:nvPr/>
        </p:nvSpPr>
        <p:spPr>
          <a:xfrm>
            <a:off x="6660567" y="2600000"/>
            <a:ext cx="4700000" cy="2500000"/>
          </a:xfrm>
          <a:prstGeom prst="rect">
            <a:avLst/>
          </a:prstGeom>
          <a:solidFill>
            <a:srgbClr val="004D5C"/>
          </a:solidFill>
        </p:spPr>
        <p:txBody>
          <a:bodyPr wrap="square" lIns="182880" tIns="182880" rIns="182880" bIns="182880" rtlCol="0" anchor="t"/>
          <a:lstStyle/>
          <a:p>
            <a:pPr algn="l">
              <a:lnSpc>
                <a:spcPts val="2200"/>
              </a:lnSpc>
            </a:pPr>
            <a:r>
              <a:rPr lang="en-US" sz="1800" dirty="0">
                <a:solidFill>
                  <a:srgbClr val="F0A500"/>
                </a:solidFill>
                <a:latin typeface="Telegraf Bold"/>
              </a:rPr>
              <a:t>Leverages technology-driven innovation to build digital security infrastructure skills for the future workforce.</a:t>
            </a:r>
          </a:p>
        </p:txBody>
      </p:sp>
      <p:sp>
        <p:nvSpPr>
          <p:cNvPr id="1048662" name="SDG17Desc"/>
          <p:cNvSpPr txBox="1"/>
          <p:nvPr/>
        </p:nvSpPr>
        <p:spPr>
          <a:xfrm>
            <a:off x="12060567" y="2600000"/>
            <a:ext cx="4700000" cy="2500000"/>
          </a:xfrm>
          <a:prstGeom prst="rect">
            <a:avLst/>
          </a:prstGeom>
          <a:solidFill>
            <a:srgbClr val="004D5C"/>
          </a:solidFill>
        </p:spPr>
        <p:txBody>
          <a:bodyPr wrap="square" lIns="182880" tIns="182880" rIns="182880" bIns="182880" rtlCol="0" anchor="t"/>
          <a:lstStyle/>
          <a:p>
            <a:pPr algn="l">
              <a:lnSpc>
                <a:spcPts val="2200"/>
              </a:lnSpc>
            </a:pPr>
            <a:r>
              <a:rPr lang="en-US" sz="1800" dirty="0">
                <a:solidFill>
                  <a:srgbClr val="F0A500"/>
                </a:solidFill>
                <a:latin typeface="Telegraf Bold"/>
              </a:rPr>
              <a:t>Encourages academic-industry collaboration to strengthen global cybersecurity awareness and digital equity.</a:t>
            </a:r>
          </a:p>
        </p:txBody>
      </p:sp>
      <p:sp>
        <p:nvSpPr>
          <p:cNvPr id="1048663" name="Tagline"/>
          <p:cNvSpPr txBox="1"/>
          <p:nvPr/>
        </p:nvSpPr>
        <p:spPr>
          <a:xfrm>
            <a:off x="1260567" y="5500000"/>
            <a:ext cx="15767866" cy="2740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58"/>
              </a:lnSpc>
            </a:pPr>
            <a:r>
              <a:rPr lang="en-US" sz="2000" b="0" spc="-50" dirty="0">
                <a:solidFill>
                  <a:srgbClr val="AADDDD"/>
                </a:solidFill>
                <a:latin typeface="Telegraf Bold"/>
              </a:rPr>
              <a:t>CyberQuest directly contributes to the UN Sustainable Development Goals through technology-enabled education.</a:t>
            </a:r>
          </a:p>
        </p:txBody>
      </p:sp>
      <p:sp>
        <p:nvSpPr>
          <p:cNvPr id="1048664" name="TextBox 1048663"/>
          <p:cNvSpPr txBox="1"/>
          <p:nvPr/>
        </p:nvSpPr>
        <p:spPr>
          <a:xfrm>
            <a:off x="6858000" y="4965700"/>
            <a:ext cx="4572000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GB"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"/>
          <p:cNvSpPr txBox="1"/>
          <p:nvPr/>
        </p:nvSpPr>
        <p:spPr>
          <a:xfrm>
            <a:off x="1260567" y="457200"/>
            <a:ext cx="15767866" cy="27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158"/>
              </a:lnSpc>
            </a:pPr>
            <a:r>
              <a:rPr lang="en-US" sz="4000" b="1" spc="-71" dirty="0">
                <a:solidFill>
                  <a:schemeClr val="accent6">
                    <a:lumMod val="75000"/>
                  </a:schemeClr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CONCLUSION</a:t>
            </a:r>
          </a:p>
        </p:txBody>
      </p:sp>
      <p:sp>
        <p:nvSpPr>
          <p:cNvPr id="1048668" name="Summary"/>
          <p:cNvSpPr txBox="1"/>
          <p:nvPr/>
        </p:nvSpPr>
        <p:spPr>
          <a:xfrm>
            <a:off x="1260567" y="1350000"/>
            <a:ext cx="15767866" cy="279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200" b="0" dirty="0">
                <a:solidFill>
                  <a:srgbClr val="AADDDD"/>
                </a:solidFill>
                <a:latin typeface="Telegraf Bold"/>
              </a:rPr>
              <a:t>CyberQuest transforms cybersecurity education by making it interactive, engaging, and effective.</a:t>
            </a:r>
          </a:p>
        </p:txBody>
      </p:sp>
      <p:sp>
        <p:nvSpPr>
          <p:cNvPr id="1048669" name="Point1"/>
          <p:cNvSpPr>
            <a:spLocks noGrp="1"/>
          </p:cNvSpPr>
          <p:nvPr/>
        </p:nvSpPr>
        <p:spPr>
          <a:xfrm>
            <a:off x="1260567" y="2200000"/>
            <a:ext cx="7400000" cy="1000000"/>
          </a:xfrm>
          <a:prstGeom prst="roundRect">
            <a:avLst>
              <a:gd name="adj" fmla="val 15000"/>
            </a:avLst>
          </a:prstGeom>
          <a:solidFill>
            <a:srgbClr val="004D5C"/>
          </a:solidFill>
          <a:ln>
            <a:noFill/>
          </a:ln>
        </p:spPr>
        <p:txBody>
          <a:bodyPr wrap="square" lIns="182880" tIns="91440" rIns="182880" bIns="91440" rtlCol="0" anchor="ctr"/>
          <a:lstStyle/>
          <a:p>
            <a:pPr algn="l">
              <a:lnSpc>
                <a:spcPts val="2000"/>
              </a:lnSpc>
            </a:pPr>
            <a:r>
              <a:rPr lang="en-US" sz="2400" b="1" dirty="0">
                <a:solidFill>
                  <a:srgbClr val="F0A500"/>
                </a:solidFill>
                <a:latin typeface="Telegraf Bold"/>
              </a:rPr>
              <a:t>Proven Engagement Model</a:t>
            </a:r>
          </a:p>
          <a:p>
            <a:pPr algn="l">
              <a:lnSpc>
                <a:spcPts val="2000"/>
              </a:lnSpc>
            </a:pPr>
            <a:r>
              <a:rPr lang="en-US" sz="1800" b="0" dirty="0">
                <a:solidFill>
                  <a:srgbClr val="FFFFFF"/>
                </a:solidFill>
                <a:latin typeface="Telegraf Bold"/>
              </a:rPr>
              <a:t>Gamification bridges the gap between theory and practice in cybersecurity learning.</a:t>
            </a:r>
          </a:p>
        </p:txBody>
      </p:sp>
      <p:sp>
        <p:nvSpPr>
          <p:cNvPr id="1048670" name="Point2"/>
          <p:cNvSpPr>
            <a:spLocks noGrp="1"/>
          </p:cNvSpPr>
          <p:nvPr/>
        </p:nvSpPr>
        <p:spPr>
          <a:xfrm>
            <a:off x="9060567" y="2200000"/>
            <a:ext cx="7400000" cy="1000000"/>
          </a:xfrm>
          <a:prstGeom prst="roundRect">
            <a:avLst>
              <a:gd name="adj" fmla="val 15000"/>
            </a:avLst>
          </a:prstGeom>
          <a:solidFill>
            <a:srgbClr val="004D5C"/>
          </a:solidFill>
          <a:ln>
            <a:noFill/>
          </a:ln>
        </p:spPr>
        <p:txBody>
          <a:bodyPr wrap="square" lIns="182880" tIns="91440" rIns="182880" bIns="91440" rtlCol="0" anchor="ctr"/>
          <a:lstStyle/>
          <a:p>
            <a:pPr algn="l">
              <a:lnSpc>
                <a:spcPts val="2000"/>
              </a:lnSpc>
            </a:pPr>
            <a:r>
              <a:rPr lang="en-US" sz="2400" b="1" dirty="0">
                <a:solidFill>
                  <a:srgbClr val="F0A500"/>
                </a:solidFill>
                <a:latin typeface="Telegraf Bold"/>
              </a:rPr>
              <a:t>Scalable &amp; Adaptive</a:t>
            </a:r>
          </a:p>
          <a:p>
            <a:pPr algn="l">
              <a:lnSpc>
                <a:spcPts val="2000"/>
              </a:lnSpc>
            </a:pPr>
            <a:r>
              <a:rPr lang="en-US" sz="1800" b="0" dirty="0">
                <a:solidFill>
                  <a:srgbClr val="FFFFFF"/>
                </a:solidFill>
                <a:latin typeface="Telegraf Bold"/>
              </a:rPr>
              <a:t>Progressive levels and AI-powered enhancements ensure long-term learner growth.</a:t>
            </a:r>
          </a:p>
        </p:txBody>
      </p:sp>
      <p:sp>
        <p:nvSpPr>
          <p:cNvPr id="1048671" name="Point3"/>
          <p:cNvSpPr>
            <a:spLocks noGrp="1"/>
          </p:cNvSpPr>
          <p:nvPr/>
        </p:nvSpPr>
        <p:spPr>
          <a:xfrm>
            <a:off x="1260567" y="3400000"/>
            <a:ext cx="7400000" cy="1000000"/>
          </a:xfrm>
          <a:prstGeom prst="roundRect">
            <a:avLst>
              <a:gd name="adj" fmla="val 15000"/>
            </a:avLst>
          </a:prstGeom>
          <a:solidFill>
            <a:srgbClr val="004D5C"/>
          </a:solidFill>
          <a:ln>
            <a:noFill/>
          </a:ln>
        </p:spPr>
        <p:txBody>
          <a:bodyPr wrap="square" lIns="182880" tIns="91440" rIns="182880" bIns="91440" rtlCol="0" anchor="ctr"/>
          <a:lstStyle/>
          <a:p>
            <a:pPr algn="l">
              <a:lnSpc>
                <a:spcPts val="2000"/>
              </a:lnSpc>
            </a:pPr>
            <a:r>
              <a:rPr lang="en-US" sz="2400" b="1" dirty="0">
                <a:solidFill>
                  <a:srgbClr val="F0A500"/>
                </a:solidFill>
                <a:latin typeface="Telegraf Bold"/>
              </a:rPr>
              <a:t>Real-World Readiness</a:t>
            </a:r>
          </a:p>
          <a:p>
            <a:pPr algn="l">
              <a:lnSpc>
                <a:spcPts val="2000"/>
              </a:lnSpc>
            </a:pPr>
            <a:r>
              <a:rPr lang="en-US" sz="1800" b="0" dirty="0">
                <a:solidFill>
                  <a:srgbClr val="FFFFFF"/>
                </a:solidFill>
                <a:latin typeface="Telegraf Bold"/>
              </a:rPr>
              <a:t>Topics like phishing, malware, and encryption prepare students for real industry challenges.</a:t>
            </a:r>
          </a:p>
        </p:txBody>
      </p:sp>
      <p:sp>
        <p:nvSpPr>
          <p:cNvPr id="1048672" name="Point4"/>
          <p:cNvSpPr>
            <a:spLocks noGrp="1"/>
          </p:cNvSpPr>
          <p:nvPr/>
        </p:nvSpPr>
        <p:spPr>
          <a:xfrm>
            <a:off x="9060567" y="3400000"/>
            <a:ext cx="7400000" cy="1000000"/>
          </a:xfrm>
          <a:prstGeom prst="roundRect">
            <a:avLst>
              <a:gd name="adj" fmla="val 15000"/>
            </a:avLst>
          </a:prstGeom>
          <a:solidFill>
            <a:srgbClr val="004D5C"/>
          </a:solidFill>
          <a:ln>
            <a:noFill/>
          </a:ln>
        </p:spPr>
        <p:txBody>
          <a:bodyPr wrap="square" lIns="182880" tIns="91440" rIns="182880" bIns="91440" rtlCol="0" anchor="ctr"/>
          <a:lstStyle/>
          <a:p>
            <a:pPr algn="l">
              <a:lnSpc>
                <a:spcPts val="2000"/>
              </a:lnSpc>
            </a:pPr>
            <a:r>
              <a:rPr lang="en-US" sz="2400" b="1" dirty="0">
                <a:solidFill>
                  <a:srgbClr val="F0A500"/>
                </a:solidFill>
                <a:latin typeface="Telegraf Bold"/>
              </a:rPr>
              <a:t>Multi-Purpose Platform</a:t>
            </a:r>
          </a:p>
          <a:p>
            <a:pPr algn="l">
              <a:lnSpc>
                <a:spcPts val="2000"/>
              </a:lnSpc>
            </a:pPr>
            <a:r>
              <a:rPr lang="en-US" sz="1800" b="0" dirty="0">
                <a:solidFill>
                  <a:srgbClr val="FFFFFF"/>
                </a:solidFill>
                <a:latin typeface="Telegraf Bold"/>
              </a:rPr>
              <a:t>Suitable for self-study, classroom use, and competitive tech events alike.</a:t>
            </a:r>
          </a:p>
        </p:txBody>
      </p:sp>
      <p:sp>
        <p:nvSpPr>
          <p:cNvPr id="1048673" name="Closing"/>
          <p:cNvSpPr txBox="1"/>
          <p:nvPr/>
        </p:nvSpPr>
        <p:spPr>
          <a:xfrm>
            <a:off x="1260567" y="4650000"/>
            <a:ext cx="15767866" cy="900000"/>
          </a:xfrm>
          <a:prstGeom prst="rect">
            <a:avLst/>
          </a:prstGeom>
          <a:solidFill>
            <a:srgbClr val="006070"/>
          </a:solidFill>
        </p:spPr>
        <p:txBody>
          <a:bodyPr wrap="square" lIns="182880" tIns="91440" rIns="182880" bIns="91440" rtlCol="0" anchor="ctr"/>
          <a:lstStyle/>
          <a:p>
            <a:pPr algn="ctr">
              <a:lnSpc>
                <a:spcPts val="2200"/>
              </a:lnSpc>
            </a:pPr>
            <a:r>
              <a:rPr lang="en-US" sz="2600" b="1" dirty="0">
                <a:solidFill>
                  <a:srgbClr val="FFFFFF"/>
                </a:solidFill>
                <a:latin typeface="Telegraf Bold"/>
              </a:rPr>
              <a:t>CyberQuest is not just a quiz platform — it is a mission to make every student cyber-aware and career-ready.</a:t>
            </a:r>
          </a:p>
        </p:txBody>
      </p:sp>
      <p:sp>
        <p:nvSpPr>
          <p:cNvPr id="1048674" name="TeamName"/>
          <p:cNvSpPr txBox="1"/>
          <p:nvPr/>
        </p:nvSpPr>
        <p:spPr>
          <a:xfrm>
            <a:off x="1260567" y="5750000"/>
            <a:ext cx="15767866" cy="27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58"/>
              </a:lnSpc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Title 10487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48739" name="TextBox 1048738"/>
          <p:cNvSpPr txBox="1"/>
          <p:nvPr/>
        </p:nvSpPr>
        <p:spPr>
          <a:xfrm>
            <a:off x="6858000" y="4965700"/>
            <a:ext cx="4572000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GB" sz="2800">
              <a:solidFill>
                <a:srgbClr val="000000"/>
              </a:solidFill>
            </a:endParaRPr>
          </a:p>
        </p:txBody>
      </p:sp>
      <p:pic>
        <p:nvPicPr>
          <p:cNvPr id="2097153" name="Picture 2097152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1863334" y="4298"/>
            <a:ext cx="20151334" cy="103120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Title 104873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97154" name="Picture 2097153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1427758" y="-50031"/>
            <a:ext cx="19715758" cy="103270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9"/>
          <p:cNvGrpSpPr/>
          <p:nvPr/>
        </p:nvGrpSpPr>
        <p:grpSpPr>
          <a:xfrm>
            <a:off x="5692528" y="4908436"/>
            <a:ext cx="6902944" cy="3500592"/>
            <a:chOff x="0" y="0"/>
            <a:chExt cx="1069447" cy="542333"/>
          </a:xfrm>
        </p:grpSpPr>
        <p:sp>
          <p:nvSpPr>
            <p:cNvPr id="1048665" name="Freeform 50"/>
            <p:cNvSpPr/>
            <p:nvPr/>
          </p:nvSpPr>
          <p:spPr>
            <a:xfrm>
              <a:off x="0" y="0"/>
              <a:ext cx="1069447" cy="542333"/>
            </a:xfrm>
            <a:custGeom>
              <a:avLst/>
              <a:gdLst/>
              <a:ahLst/>
              <a:cxnLst/>
              <a:rect l="l" t="t" r="r" b="b"/>
              <a:pathLst>
                <a:path w="1069447" h="542333">
                  <a:moveTo>
                    <a:pt x="57198" y="0"/>
                  </a:moveTo>
                  <a:lnTo>
                    <a:pt x="1012248" y="0"/>
                  </a:lnTo>
                  <a:cubicBezTo>
                    <a:pt x="1027418" y="0"/>
                    <a:pt x="1041967" y="6026"/>
                    <a:pt x="1052694" y="16753"/>
                  </a:cubicBezTo>
                  <a:cubicBezTo>
                    <a:pt x="1063420" y="27480"/>
                    <a:pt x="1069447" y="42028"/>
                    <a:pt x="1069447" y="57198"/>
                  </a:cubicBezTo>
                  <a:lnTo>
                    <a:pt x="1069447" y="485135"/>
                  </a:lnTo>
                  <a:cubicBezTo>
                    <a:pt x="1069447" y="500305"/>
                    <a:pt x="1063420" y="514853"/>
                    <a:pt x="1052694" y="525580"/>
                  </a:cubicBezTo>
                  <a:cubicBezTo>
                    <a:pt x="1041967" y="536307"/>
                    <a:pt x="1027418" y="542333"/>
                    <a:pt x="1012248" y="542333"/>
                  </a:cubicBezTo>
                  <a:lnTo>
                    <a:pt x="57198" y="542333"/>
                  </a:lnTo>
                  <a:cubicBezTo>
                    <a:pt x="42028" y="542333"/>
                    <a:pt x="27480" y="536307"/>
                    <a:pt x="16753" y="525580"/>
                  </a:cubicBezTo>
                  <a:cubicBezTo>
                    <a:pt x="6026" y="514853"/>
                    <a:pt x="0" y="500305"/>
                    <a:pt x="0" y="485135"/>
                  </a:cubicBezTo>
                  <a:lnTo>
                    <a:pt x="0" y="57198"/>
                  </a:lnTo>
                  <a:cubicBezTo>
                    <a:pt x="0" y="42028"/>
                    <a:pt x="6026" y="27480"/>
                    <a:pt x="16753" y="16753"/>
                  </a:cubicBezTo>
                  <a:cubicBezTo>
                    <a:pt x="27480" y="6026"/>
                    <a:pt x="42028" y="0"/>
                    <a:pt x="57198" y="0"/>
                  </a:cubicBezTo>
                  <a:close/>
                </a:path>
              </a:pathLst>
            </a:custGeom>
            <a:blipFill>
              <a:blip r:embed="rId2"/>
              <a:stretch>
                <a:fillRect t="-6200" b="-6200"/>
              </a:stretch>
            </a:blipFill>
          </p:spPr>
        </p:sp>
      </p:grpSp>
      <p:sp>
        <p:nvSpPr>
          <p:cNvPr id="1048666" name="TextBox 65"/>
          <p:cNvSpPr txBox="1"/>
          <p:nvPr/>
        </p:nvSpPr>
        <p:spPr>
          <a:xfrm>
            <a:off x="4464976" y="2781623"/>
            <a:ext cx="9533855" cy="1185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331"/>
              </a:lnSpc>
            </a:pPr>
            <a:r>
              <a:rPr lang="en-US" sz="10368">
                <a:solidFill>
                  <a:srgbClr val="5CE1E6"/>
                </a:solidFill>
                <a:latin typeface="Bicubik"/>
                <a:ea typeface="Bicubik"/>
                <a:cs typeface="Bicubik"/>
                <a:sym typeface="Bicubik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510</Words>
  <Application>Microsoft Office PowerPoint</Application>
  <PresentationFormat>Custom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Calibri</vt:lpstr>
      <vt:lpstr>Bicubik</vt:lpstr>
      <vt:lpstr>Telegraf</vt:lpstr>
      <vt:lpstr>Arial</vt:lpstr>
      <vt:lpstr>Telegraf Bold</vt:lpstr>
      <vt:lpstr>Inter 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CyberQuest: Gamified Cybersecurity Learning</dc:title>
  <dc:creator>Abhilash</dc:creator>
  <cp:lastModifiedBy>4253 ABHIKASH</cp:lastModifiedBy>
  <cp:revision>1</cp:revision>
  <dcterms:created xsi:type="dcterms:W3CDTF">2006-08-15T02:00:00Z</dcterms:created>
  <dcterms:modified xsi:type="dcterms:W3CDTF">2026-04-27T06:13:03Z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22420800339d4a8ca6a01b2749eddbbc</vt:lpwstr>
  </property>
</Properties>
</file>