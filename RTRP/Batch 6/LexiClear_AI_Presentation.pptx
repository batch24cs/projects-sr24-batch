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229600" y="-914400"/>
            <a:ext cx="73152" cy="9144000"/>
          </a:xfrm>
          <a:prstGeom prst="rect">
            <a:avLst/>
          </a:prstGeom>
          <a:solidFill>
            <a:srgbClr val="1A2D6E"/>
          </a:solidFill>
          <a:ln w="12700">
            <a:solidFill>
              <a:srgbClr val="1A2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595360" y="-914400"/>
            <a:ext cx="73152" cy="9144000"/>
          </a:xfrm>
          <a:prstGeom prst="rect">
            <a:avLst/>
          </a:prstGeom>
          <a:solidFill>
            <a:srgbClr val="1A2D6E"/>
          </a:solidFill>
          <a:ln w="12700">
            <a:solidFill>
              <a:srgbClr val="1A2D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961120" y="-914400"/>
            <a:ext cx="73152" cy="9144000"/>
          </a:xfrm>
          <a:prstGeom prst="rect">
            <a:avLst/>
          </a:prstGeom>
          <a:solidFill>
            <a:srgbClr val="1A2D6E"/>
          </a:solidFill>
          <a:ln w="12700">
            <a:solidFill>
              <a:srgbClr val="1A2D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9326880" y="-914400"/>
            <a:ext cx="73152" cy="9144000"/>
          </a:xfrm>
          <a:prstGeom prst="rect">
            <a:avLst/>
          </a:prstGeom>
          <a:solidFill>
            <a:srgbClr val="1A2D6E"/>
          </a:solidFill>
          <a:ln w="12700">
            <a:solidFill>
              <a:srgbClr val="1A2D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9692640" y="-914400"/>
            <a:ext cx="73152" cy="9144000"/>
          </a:xfrm>
          <a:prstGeom prst="rect">
            <a:avLst/>
          </a:prstGeom>
          <a:solidFill>
            <a:srgbClr val="1A2D6E"/>
          </a:solidFill>
          <a:ln w="12700">
            <a:solidFill>
              <a:srgbClr val="1A2D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">
            <a:off x="10058400" y="-914400"/>
            <a:ext cx="73152" cy="9144000"/>
          </a:xfrm>
          <a:prstGeom prst="rect">
            <a:avLst/>
          </a:prstGeom>
          <a:solidFill>
            <a:srgbClr val="1A2D6E"/>
          </a:solidFill>
          <a:ln w="12700">
            <a:solidFill>
              <a:srgbClr val="1A2D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5276A"/>
          </a:solidFill>
          <a:ln w="12700">
            <a:solidFill>
              <a:srgbClr val="1527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78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Legal Document Simplification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Risk Analysis Platform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37160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impenetrable legal jargon into clear, actionable insight using AI.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Sathya Vamshi — 24N81A6227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Vinay Kanth — 24N81A6240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Amshul — 24N81A6247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Nishith — 24N81A6259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Anirudh — 24N81A6252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5303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
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A. Sandhya Rani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(AI &amp; ML)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Sphoorthy Engineering College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 Proposed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365760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Pipeline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7920" y="452628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526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4617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UI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394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1732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&amp; Metrics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539496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5394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86600" y="5486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Future Scope, Conclusion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MOTIVATION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documents are everywhere — yet almost no one truly reads them.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accept Terms &amp; Conditions without reading them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560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min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48056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read a typical EULA end-to-end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560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Lakhs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32104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every year from missed clauses in contracts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 we set out to fix: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jargon-heavy language locks ordinary users out of their own agreements.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clauses (auto-renewal, indemnity, arbitration) are buried, not flagged.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contract versions manually is slow, error-prone, and expensive.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speakers have almost no accessible tooling for legal review.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GOALS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73152" cy="1965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complex legal text into clear, plain-English summaries anyone can act 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8745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874520"/>
            <a:ext cx="73152" cy="1965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11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37744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 high-risk clauses with severity, explanation and suggested action.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8745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74520"/>
            <a:ext cx="73152" cy="196596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20116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37744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two contract versions and surface added, removed, and modified obligations.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69080"/>
            <a:ext cx="73152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57200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ask natural-language questions and get cited answers from their document.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4069080"/>
            <a:ext cx="73152" cy="19659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12+ Indian and global languages so legal clarity is not English-only.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406908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4069080"/>
            <a:ext cx="73152" cy="1965960"/>
          </a:xfrm>
          <a:prstGeom prst="rect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42062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6760" y="4572000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vault with row-level isolation — documents never leak across users.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COMPARISON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vs Proposed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82880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Approach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72200" y="18288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 (Proposed)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5577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514600"/>
            <a:ext cx="55778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1460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reading of 30+ page contracts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One-click plain-English summary in seconds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10896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0896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automated risk highlighting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10896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 heatmap with severity &amp; explanation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5577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703320"/>
            <a:ext cx="55778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0332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Lawyer required for clause Q&amp;A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Q&amp;A with citations from the document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429768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29768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diff of contract versions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29768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compare with semantic change detection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92040"/>
            <a:ext cx="55778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4892040"/>
            <a:ext cx="557784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89204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English-only legal tools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489204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Multilingual output in 12+ languages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48640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486400"/>
            <a:ext cx="5577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548640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Local files / email — insecure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548640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Encrypted vault with RLS per user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PRODUCT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Plain-English Rewriter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Section-by-section simplification preserving legal meaning.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8745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965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Heatmap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971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severity (High / Med / Low) with one-line rationale.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8745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65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📑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Clause Extractor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971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Auto-extracts obligations, penalties, termination, indemnity.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98280" y="18745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965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235440" y="2560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Q&amp;A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81160" y="29718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anything; answers cite the exact clause and page.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94360" y="4663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Compare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diff between two contract versions.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37560" y="3977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4069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3474720" y="4663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20440" y="5074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Hindi, Telugu, Tamil + 8 more languages.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977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069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355080" y="4663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Vault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5074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with row-level access control.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098280" y="397764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40690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235440" y="4663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Score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281160" y="50749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document fairness score from 0–100.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 w="1905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54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43200" y="219456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FEF3C7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Parser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54"/>
                </a:solidFill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0" y="219456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EDE9FE"/>
          </a:solidFill>
          <a:ln w="1905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54"/>
                </a:solidFill>
              </a:rPr>
              <a:t>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0" y="219456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Scorer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analysis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1832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E54"/>
                </a:solidFill>
              </a:rPr>
              <a:t>▶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0" y="2194560"/>
            <a:ext cx="2148840" cy="128016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UI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1200" y="28803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13716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40233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TanStack Start · Tailwind v4 · shadcn/ui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526280"/>
            <a:ext cx="13716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526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4526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Server Functions · Node.js · Edge runtime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029200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29200"/>
            <a:ext cx="1371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029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Layer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60320" y="5029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· OpenAI GPT · Prompt orchestration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532120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5532120"/>
            <a:ext cx="1371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532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560320" y="5532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· Row-Level Security · Object Storage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74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4688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24688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29718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68880" y="29718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29718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187452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874520"/>
            <a:ext cx="5486400" cy="457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874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24688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38160" y="24688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Server Fns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75520" y="24688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validation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9718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297180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RPC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31520" y="470916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709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Pro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68880" y="470916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4709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06240" y="470916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4709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prompts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1520" y="52120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212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OCR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468880" y="52120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5212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26480" y="411480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26480" y="4114800"/>
            <a:ext cx="54864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4114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Infra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0800" y="470916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4709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138160" y="470916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709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875520" y="470916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0" y="4709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400800" y="52120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5212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138160" y="5212080"/>
            <a:ext cx="1645920" cy="411480"/>
          </a:xfrm>
          <a:prstGeom prst="roundRect">
            <a:avLst>
              <a:gd name="adj" fmla="val 44444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5212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INTELLIGENCE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 Pipeline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4884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PDF / DOCX / scanned image; OCR fallback via Tesseract.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92024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14884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Pre-process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text, split into clauses, build section hierarchy.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92024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14884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88036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sentence embeddings for semantic search &amp; Q&amp;A.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Reason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Gemini / GPT for simplification, risk tags &amp; answers.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97680" y="40690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429768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26280" y="50292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LLM hybrid risk scoring per clause.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38160" y="40690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4297680"/>
            <a:ext cx="640080" cy="640080"/>
          </a:xfrm>
          <a:prstGeom prst="ellipse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66760" y="502920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structured JSON to React UI with citations.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EXPERIENCE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Workflow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54680" y="246888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54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Document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54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Analysis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15400" y="246888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54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98280" y="21031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2286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98280" y="2651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Plain-English View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Heatmap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154680" y="429768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54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337560" y="39319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44805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Questions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035040" y="429768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54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44805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Versions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915400" y="4297680"/>
            <a:ext cx="182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E54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098280" y="393192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4114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98280" y="44805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Report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Analysis Output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Score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06040"/>
            <a:ext cx="2286000" cy="2286000"/>
          </a:xfrm>
          <a:prstGeom prst="ellipse">
            <a:avLst/>
          </a:prstGeom>
          <a:solidFill>
            <a:srgbClr val="FEF3C7"/>
          </a:solidFill>
          <a:ln w="101600">
            <a:solidFill>
              <a:srgbClr val="FFD2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8346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11430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— review flagged clauses before signing.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874520"/>
            <a:ext cx="74523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011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Heatmap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2606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Cap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679192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2679192"/>
            <a:ext cx="3785616" cy="256032"/>
          </a:xfrm>
          <a:prstGeom prst="roundRect">
            <a:avLst>
              <a:gd name="adj" fmla="val 1785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0" y="260604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227832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3227832"/>
            <a:ext cx="2674620" cy="256032"/>
          </a:xfrm>
          <a:prstGeom prst="roundRect">
            <a:avLst>
              <a:gd name="adj" fmla="val 17857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81360" y="31546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3776472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3776472"/>
            <a:ext cx="3497580" cy="256032"/>
          </a:xfrm>
          <a:prstGeom prst="roundRect">
            <a:avLst>
              <a:gd name="adj" fmla="val 17857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1360" y="37033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4325112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4325112"/>
            <a:ext cx="2468880" cy="256032"/>
          </a:xfrm>
          <a:prstGeom prst="roundRect">
            <a:avLst>
              <a:gd name="adj" fmla="val 17857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1360" y="42519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4800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4873752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4873752"/>
            <a:ext cx="1234440" cy="256032"/>
          </a:xfrm>
          <a:prstGeom prst="roundRect">
            <a:avLst>
              <a:gd name="adj" fmla="val 1785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881360" y="48006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80560" y="5349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Law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5422392"/>
            <a:ext cx="411480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5422392"/>
            <a:ext cx="1028700" cy="256032"/>
          </a:xfrm>
          <a:prstGeom prst="roundRect">
            <a:avLst>
              <a:gd name="adj" fmla="val 1785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81360" y="534924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RESULTS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Metrics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 Accuracy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148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 s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48056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Analysis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148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32104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Types Supported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43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411480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4343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448056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Comprehension Lift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411480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3434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1%</a:t>
            </a:r>
            <a:endParaRPr lang="en-US" sz="5400" dirty="0"/>
          </a:p>
        </p:txBody>
      </p:sp>
      <p:sp>
        <p:nvSpPr>
          <p:cNvPr id="25" name="Text 23"/>
          <p:cNvSpPr/>
          <p:nvPr/>
        </p:nvSpPr>
        <p:spPr>
          <a:xfrm>
            <a:off x="8321040" y="5486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IMPACT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7452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73152" cy="13258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rental agreements, EULAs, insurance policies before signing.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7452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874520"/>
            <a:ext cx="73152" cy="1325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01168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Startups &amp; SMBs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vendor, SaaS, and NDA contracts without hiring counsel for every doc.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73152" cy="132588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Teams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84048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hundreds of contracts; focus expert time on the riskiest clauses.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333756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337560"/>
            <a:ext cx="73152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47472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384048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contract law with interactive, color-coded clause breakdowns.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80060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00600"/>
            <a:ext cx="73152" cy="1325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9377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Govt. &amp; NGOs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30352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public policies and citizen rights accessible in regional languages.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480060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800600"/>
            <a:ext cx="73152" cy="1325880"/>
          </a:xfrm>
          <a:prstGeom prst="rect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93776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E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5080" y="5303520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and tenants understand sale deeds and lease agreements clearly.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E5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LEXICLEAR AI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Legal Document Simplification &amp; 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73152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12471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 — ask legal questions in spoken Hindi / Telugu / English.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(Gemini Nano) for fully offline, privacy-first analysis.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Assistant — suggest counter-clauses with citations from precedent.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— auto-summarise any Terms &amp; Conditions page in one click.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DigiLocker &amp; e-Sign for end-to-end contract signing.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Marketplace — escalate high-risk contracts to verified human lawyers.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(iOS / Android) with camera-based scan-and-analyse.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 •  Final Year Project  •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2743200"/>
            <a:ext cx="6400800" cy="6400800"/>
          </a:xfrm>
          <a:prstGeom prst="ellipse">
            <a:avLst/>
          </a:prstGeom>
          <a:solidFill>
            <a:srgbClr val="15276A"/>
          </a:solidFill>
          <a:ln w="12700">
            <a:solidFill>
              <a:srgbClr val="1527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clarity, for everyone.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09728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demonstrates how modern LLMs, careful prompt engineering and a thoughtful UI can collapse what used to be hours of legal reading into seconds of clear, actionable insight — securely, in any language, for anyone.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5276A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577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Sathya Vamshi · M. Vinay Kanth · Amshul · Nishith · Anirudh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512064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5276A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5577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A. Sandhya Rani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(AI &amp; ML), Sphoorthy Engineering College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E54"/>
          </a:solidFill>
          <a:ln w="12700">
            <a:solidFill>
              <a:srgbClr val="0B1E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D23F"/>
                </a:solidFill>
              </a:rPr>
              <a:t>⚖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5632704" y="3931920"/>
            <a:ext cx="914400" cy="54864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D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LexiClear AI — Intelligent Legal Document Simplification &amp; Risk Analysis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LexiClear AI</dc:title>
  <dc:subject>PptxGenJS Presentation</dc:subject>
  <dc:creator>Team LexiClear</dc:creator>
  <cp:lastModifiedBy>Team LexiClear</cp:lastModifiedBy>
  <cp:revision>1</cp:revision>
  <dcterms:created xsi:type="dcterms:W3CDTF">2026-06-03T21:37:21Z</dcterms:created>
  <dcterms:modified xsi:type="dcterms:W3CDTF">2026-06-03T21:37:21Z</dcterms:modified>
</cp:coreProperties>
</file>