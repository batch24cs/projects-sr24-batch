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60" r:id="rId4"/>
  </p:sldMasterIdLst>
  <p:notesMasterIdLst>
    <p:notesMasterId r:id="rId14"/>
  </p:notesMasterIdLst>
  <p:handoutMasterIdLst>
    <p:handoutMasterId r:id="rId15"/>
  </p:handoutMasterIdLst>
  <p:sldIdLst>
    <p:sldId id="257" r:id="rId5"/>
    <p:sldId id="261" r:id="rId6"/>
    <p:sldId id="272" r:id="rId7"/>
    <p:sldId id="278" r:id="rId8"/>
    <p:sldId id="274" r:id="rId9"/>
    <p:sldId id="281" r:id="rId10"/>
    <p:sldId id="275" r:id="rId11"/>
    <p:sldId id="279" r:id="rId12"/>
    <p:sldId id="280"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28"/>
  </p:normalViewPr>
  <p:slideViewPr>
    <p:cSldViewPr snapToGrid="0" snapToObjects="1">
      <p:cViewPr varScale="1">
        <p:scale>
          <a:sx n="73" d="100"/>
          <a:sy n="73" d="100"/>
        </p:scale>
        <p:origin x="618" y="72"/>
      </p:cViewPr>
      <p:guideLst/>
    </p:cSldViewPr>
  </p:slideViewPr>
  <p:notesTextViewPr>
    <p:cViewPr>
      <p:scale>
        <a:sx n="1" d="1"/>
        <a:sy n="1" d="1"/>
      </p:scale>
      <p:origin x="0" y="0"/>
    </p:cViewPr>
  </p:notesTextViewPr>
  <p:notesViewPr>
    <p:cSldViewPr snapToGrid="0" snapToObjects="1">
      <p:cViewPr varScale="1">
        <p:scale>
          <a:sx n="68" d="100"/>
          <a:sy n="68" d="100"/>
        </p:scale>
        <p:origin x="3288" y="84"/>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E7939FE9-0B2E-4997-BA24-44FF9669BA9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xmlns="" id="{D0AE1028-7A43-40A3-A2EC-124FFB073D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3D3C9-ED3E-4430-A8CA-03711A676035}" type="datetimeFigureOut">
              <a:rPr lang="en-US" smtClean="0"/>
              <a:t>4/5/2026</a:t>
            </a:fld>
            <a:endParaRPr lang="en-US" dirty="0"/>
          </a:p>
        </p:txBody>
      </p:sp>
      <p:sp>
        <p:nvSpPr>
          <p:cNvPr id="4" name="Footer Placeholder 3">
            <a:extLst>
              <a:ext uri="{FF2B5EF4-FFF2-40B4-BE49-F238E27FC236}">
                <a16:creationId xmlns:a16="http://schemas.microsoft.com/office/drawing/2014/main" xmlns="" id="{8ACACB66-3B0A-415A-9449-9278044DA54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xmlns="" id="{F9B7EC22-6F70-469D-B720-84BF796C518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A94CC5C-2831-4FAC-8076-6410B257E0B7}" type="slidenum">
              <a:rPr lang="en-US" smtClean="0"/>
              <a:t>‹#›</a:t>
            </a:fld>
            <a:endParaRPr lang="en-US" dirty="0"/>
          </a:p>
        </p:txBody>
      </p:sp>
    </p:spTree>
    <p:extLst>
      <p:ext uri="{BB962C8B-B14F-4D97-AF65-F5344CB8AC3E}">
        <p14:creationId xmlns:p14="http://schemas.microsoft.com/office/powerpoint/2010/main" val="95098384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E67E2B-6215-4DB6-B113-75ACD1123374}" type="datetimeFigureOut">
              <a:rPr lang="en-US" smtClean="0"/>
              <a:t>4/5/2026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BC8106-034A-47C1-ADA6-0A1F9E0E7474}" type="slidenum">
              <a:rPr lang="en-US" smtClean="0"/>
              <a:t>‹#›</a:t>
            </a:fld>
            <a:endParaRPr lang="en-US" dirty="0"/>
          </a:p>
        </p:txBody>
      </p:sp>
    </p:spTree>
    <p:extLst>
      <p:ext uri="{BB962C8B-B14F-4D97-AF65-F5344CB8AC3E}">
        <p14:creationId xmlns:p14="http://schemas.microsoft.com/office/powerpoint/2010/main" val="28807878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BC8106-034A-47C1-ADA6-0A1F9E0E7474}" type="slidenum">
              <a:rPr lang="en-US" smtClean="0"/>
              <a:t>1</a:t>
            </a:fld>
            <a:endParaRPr lang="en-US" dirty="0"/>
          </a:p>
        </p:txBody>
      </p:sp>
    </p:spTree>
    <p:extLst>
      <p:ext uri="{BB962C8B-B14F-4D97-AF65-F5344CB8AC3E}">
        <p14:creationId xmlns:p14="http://schemas.microsoft.com/office/powerpoint/2010/main" val="30958595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BC8106-034A-47C1-ADA6-0A1F9E0E7474}" type="slidenum">
              <a:rPr lang="en-US" smtClean="0"/>
              <a:t>2</a:t>
            </a:fld>
            <a:endParaRPr lang="en-US" dirty="0"/>
          </a:p>
        </p:txBody>
      </p:sp>
    </p:spTree>
    <p:extLst>
      <p:ext uri="{BB962C8B-B14F-4D97-AF65-F5344CB8AC3E}">
        <p14:creationId xmlns:p14="http://schemas.microsoft.com/office/powerpoint/2010/main" val="3329823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BC8106-034A-47C1-ADA6-0A1F9E0E7474}" type="slidenum">
              <a:rPr lang="en-US" smtClean="0"/>
              <a:t>3</a:t>
            </a:fld>
            <a:endParaRPr lang="en-US" dirty="0"/>
          </a:p>
        </p:txBody>
      </p:sp>
    </p:spTree>
    <p:extLst>
      <p:ext uri="{BB962C8B-B14F-4D97-AF65-F5344CB8AC3E}">
        <p14:creationId xmlns:p14="http://schemas.microsoft.com/office/powerpoint/2010/main" val="36730683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BC8106-034A-47C1-ADA6-0A1F9E0E7474}" type="slidenum">
              <a:rPr lang="en-US" smtClean="0"/>
              <a:t>4</a:t>
            </a:fld>
            <a:endParaRPr lang="en-US" dirty="0"/>
          </a:p>
        </p:txBody>
      </p:sp>
    </p:spTree>
    <p:extLst>
      <p:ext uri="{BB962C8B-B14F-4D97-AF65-F5344CB8AC3E}">
        <p14:creationId xmlns:p14="http://schemas.microsoft.com/office/powerpoint/2010/main" val="27387395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BC8106-034A-47C1-ADA6-0A1F9E0E7474}" type="slidenum">
              <a:rPr lang="en-US" smtClean="0"/>
              <a:t>6</a:t>
            </a:fld>
            <a:endParaRPr lang="en-US" dirty="0"/>
          </a:p>
        </p:txBody>
      </p:sp>
    </p:spTree>
    <p:extLst>
      <p:ext uri="{BB962C8B-B14F-4D97-AF65-F5344CB8AC3E}">
        <p14:creationId xmlns:p14="http://schemas.microsoft.com/office/powerpoint/2010/main" val="12994644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6BC8106-034A-47C1-ADA6-0A1F9E0E7474}" type="slidenum">
              <a:rPr lang="en-US" smtClean="0"/>
              <a:t>8</a:t>
            </a:fld>
            <a:endParaRPr lang="en-US" dirty="0"/>
          </a:p>
        </p:txBody>
      </p:sp>
    </p:spTree>
    <p:extLst>
      <p:ext uri="{BB962C8B-B14F-4D97-AF65-F5344CB8AC3E}">
        <p14:creationId xmlns:p14="http://schemas.microsoft.com/office/powerpoint/2010/main" val="6400416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87DE6118-2437-4B30-8E3C-4D2BE6020583}" type="datetimeFigureOut">
              <a:rPr lang="en-US" smtClean="0"/>
              <a:pPr/>
              <a:t>4/5/2026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smtClean="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val="37796242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1504056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7DE6118-2437-4B30-8E3C-4D2BE6020583}" type="datetimeFigureOut">
              <a:rPr lang="en-US" smtClean="0"/>
              <a:pPr/>
              <a:t>4/5/2026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val="665941903"/>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7DE6118-2437-4B30-8E3C-4D2BE6020583}" type="datetimeFigureOut">
              <a:rPr lang="en-US" smtClean="0"/>
              <a:t>4/5/2026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3321953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7DE6118-2437-4B30-8E3C-4D2BE6020583}" type="datetimeFigureOut">
              <a:rPr lang="en-US" smtClean="0"/>
              <a:t>4/5/2026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12695969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7DE6118-2437-4B30-8E3C-4D2BE6020583}" type="datetimeFigureOut">
              <a:rPr lang="en-US" smtClean="0"/>
              <a:t>4/5/2026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5927912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7DE6118-2437-4B30-8E3C-4D2BE6020583}" type="datetimeFigureOut">
              <a:rPr lang="en-US" smtClean="0"/>
              <a:t>4/5/2026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809832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smtClean="0"/>
              <a:pPr/>
              <a:t>4/5/2026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684512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87DE6118-2437-4B30-8E3C-4D2BE6020583}" type="datetimeFigureOut">
              <a:rPr lang="en-US" smtClean="0"/>
              <a:pPr/>
              <a:t>4/5/2026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smtClean="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5639386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4051425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7DE6118-2437-4B30-8E3C-4D2BE6020583}" type="datetimeFigureOut">
              <a:rPr lang="en-US" smtClean="0"/>
              <a:t>4/5/2026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smtClean="0"/>
              <a:t>‹#›</a:t>
            </a:fld>
            <a:endParaRPr lang="en-US" dirty="0"/>
          </a:p>
        </p:txBody>
      </p:sp>
    </p:spTree>
    <p:extLst>
      <p:ext uri="{BB962C8B-B14F-4D97-AF65-F5344CB8AC3E}">
        <p14:creationId xmlns:p14="http://schemas.microsoft.com/office/powerpoint/2010/main" val="38454996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87DE6118-2437-4B30-8E3C-4D2BE6020583}" type="datetimeFigureOut">
              <a:rPr lang="en-US" smtClean="0"/>
              <a:pPr/>
              <a:t>4/5/2026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smtClean="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70151560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4.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5" name="Picture 24" descr="person with bookbag staring out over the mountains">
            <a:extLst>
              <a:ext uri="{FF2B5EF4-FFF2-40B4-BE49-F238E27FC236}">
                <a16:creationId xmlns:a16="http://schemas.microsoft.com/office/drawing/2014/main" xmlns="" id="{0461DC49-1338-C24E-A3BB-5919AD12F596}"/>
              </a:ext>
            </a:extLst>
          </p:cNvPr>
          <p:cNvPicPr>
            <a:picLocks noChangeAspect="1"/>
          </p:cNvPicPr>
          <p:nvPr/>
        </p:nvPicPr>
        <p:blipFill rotWithShape="1">
          <a:blip r:embed="rId3" cstate="hqprint">
            <a:extLst>
              <a:ext uri="{28A0092B-C50C-407E-A947-70E740481C1C}">
                <a14:useLocalDpi xmlns:a14="http://schemas.microsoft.com/office/drawing/2010/main"/>
              </a:ext>
            </a:extLst>
          </a:blip>
          <a:srcRect/>
          <a:stretch/>
        </p:blipFill>
        <p:spPr>
          <a:xfrm>
            <a:off x="0" y="10"/>
            <a:ext cx="12191999" cy="6859300"/>
          </a:xfrm>
          <a:prstGeom prst="rect">
            <a:avLst/>
          </a:prstGeom>
        </p:spPr>
      </p:pic>
      <p:sp>
        <p:nvSpPr>
          <p:cNvPr id="30" name="Rectangle 29">
            <a:extLst>
              <a:ext uri="{FF2B5EF4-FFF2-40B4-BE49-F238E27FC236}">
                <a16:creationId xmlns:a16="http://schemas.microsoft.com/office/drawing/2014/main" xmlns="" id="{310B1DD0-264A-47E3-A16A-C87AFA51E68A}"/>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ltGray">
          <a:xfrm>
            <a:off x="-258" y="0"/>
            <a:ext cx="12192000" cy="6858000"/>
          </a:xfrm>
          <a:prstGeom prst="rect">
            <a:avLst/>
          </a:prstGeom>
          <a:gradFill flip="none" rotWithShape="1">
            <a:gsLst>
              <a:gs pos="20000">
                <a:schemeClr val="tx2">
                  <a:alpha val="70000"/>
                </a:schemeClr>
              </a:gs>
              <a:gs pos="100000">
                <a:schemeClr val="tx2"/>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Freeform 6">
            <a:extLst>
              <a:ext uri="{FF2B5EF4-FFF2-40B4-BE49-F238E27FC236}">
                <a16:creationId xmlns:a16="http://schemas.microsoft.com/office/drawing/2014/main" xmlns="" id="{69C1BB7B-F21E-41A2-B30C-D8507B96028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bg2"/>
          </a:solidFill>
          <a:ln w="0">
            <a:noFill/>
            <a:prstDash val="solid"/>
            <a:round/>
            <a:headEnd/>
            <a:tailEnd/>
          </a:ln>
        </p:spPr>
      </p:sp>
      <p:sp>
        <p:nvSpPr>
          <p:cNvPr id="34" name="Freeform 6">
            <a:extLst>
              <a:ext uri="{FF2B5EF4-FFF2-40B4-BE49-F238E27FC236}">
                <a16:creationId xmlns:a16="http://schemas.microsoft.com/office/drawing/2014/main" xmlns="" id="{DF6D7DDE-F8A1-4105-9729-F9EB5F81A360}"/>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bg2"/>
          </a:solidFill>
          <a:ln w="0">
            <a:noFill/>
            <a:prstDash val="solid"/>
            <a:round/>
            <a:headEnd/>
            <a:tailEnd/>
          </a:ln>
        </p:spPr>
      </p:sp>
      <p:sp>
        <p:nvSpPr>
          <p:cNvPr id="2" name="Title 1">
            <a:extLst>
              <a:ext uri="{FF2B5EF4-FFF2-40B4-BE49-F238E27FC236}">
                <a16:creationId xmlns:a16="http://schemas.microsoft.com/office/drawing/2014/main" xmlns="" id="{A5C93519-6B29-1346-9FCB-0835B80531A4}"/>
              </a:ext>
            </a:extLst>
          </p:cNvPr>
          <p:cNvSpPr>
            <a:spLocks noGrp="1"/>
          </p:cNvSpPr>
          <p:nvPr>
            <p:ph type="ctrTitle"/>
          </p:nvPr>
        </p:nvSpPr>
        <p:spPr>
          <a:xfrm>
            <a:off x="1902203" y="1625946"/>
            <a:ext cx="7968342" cy="1803054"/>
          </a:xfrm>
        </p:spPr>
        <p:txBody>
          <a:bodyPr>
            <a:normAutofit/>
          </a:bodyPr>
          <a:lstStyle/>
          <a:p>
            <a:r>
              <a:rPr lang="en-US" sz="4800" b="1" dirty="0" smtClean="0">
                <a:solidFill>
                  <a:schemeClr val="bg2"/>
                </a:solidFill>
              </a:rPr>
              <a:t>🔐 </a:t>
            </a:r>
            <a:r>
              <a:rPr lang="en-US" sz="4800" b="1" dirty="0">
                <a:solidFill>
                  <a:schemeClr val="bg2"/>
                </a:solidFill>
              </a:rPr>
              <a:t>Phishing URL Detection using Machine Learning</a:t>
            </a:r>
            <a:r>
              <a:rPr lang="en-US" sz="4800" dirty="0">
                <a:solidFill>
                  <a:schemeClr val="bg2"/>
                </a:solidFill>
              </a:rPr>
              <a:t/>
            </a:r>
            <a:br>
              <a:rPr lang="en-US" sz="4800" dirty="0">
                <a:solidFill>
                  <a:schemeClr val="bg2"/>
                </a:solidFill>
              </a:rPr>
            </a:br>
            <a:r>
              <a:rPr lang="en-US" sz="2000" dirty="0">
                <a:solidFill>
                  <a:schemeClr val="bg2"/>
                </a:solidFill>
              </a:rPr>
              <a:t>Fake or Safe? Let AI Decide</a:t>
            </a:r>
            <a:endParaRPr lang="en-US" sz="2000" dirty="0">
              <a:solidFill>
                <a:schemeClr val="bg2"/>
              </a:solidFill>
            </a:endParaRPr>
          </a:p>
        </p:txBody>
      </p:sp>
      <p:sp>
        <p:nvSpPr>
          <p:cNvPr id="4" name="Subtitle 3">
            <a:extLst>
              <a:ext uri="{FF2B5EF4-FFF2-40B4-BE49-F238E27FC236}">
                <a16:creationId xmlns:a16="http://schemas.microsoft.com/office/drawing/2014/main" xmlns="" id="{6E661E49-0788-40C2-A5B6-638ADED71159}"/>
              </a:ext>
            </a:extLst>
          </p:cNvPr>
          <p:cNvSpPr>
            <a:spLocks noGrp="1"/>
          </p:cNvSpPr>
          <p:nvPr>
            <p:ph type="subTitle" idx="1"/>
          </p:nvPr>
        </p:nvSpPr>
        <p:spPr>
          <a:xfrm>
            <a:off x="7744221" y="4194917"/>
            <a:ext cx="4090493" cy="1793243"/>
          </a:xfrm>
        </p:spPr>
        <p:txBody>
          <a:bodyPr>
            <a:normAutofit/>
          </a:bodyPr>
          <a:lstStyle/>
          <a:p>
            <a:r>
              <a:rPr lang="pt-BR" dirty="0" smtClean="0">
                <a:solidFill>
                  <a:schemeClr val="bg2"/>
                </a:solidFill>
              </a:rPr>
              <a:t> </a:t>
            </a:r>
            <a:r>
              <a:rPr lang="pt-BR" sz="1600" dirty="0">
                <a:solidFill>
                  <a:schemeClr val="bg2"/>
                </a:solidFill>
              </a:rPr>
              <a:t>B. Aarthika - 24N81A6255 </a:t>
            </a:r>
          </a:p>
          <a:p>
            <a:r>
              <a:rPr lang="pt-BR" sz="1600" dirty="0" smtClean="0">
                <a:solidFill>
                  <a:schemeClr val="bg2"/>
                </a:solidFill>
              </a:rPr>
              <a:t> </a:t>
            </a:r>
            <a:r>
              <a:rPr lang="pt-BR" sz="1600" dirty="0">
                <a:solidFill>
                  <a:schemeClr val="bg2"/>
                </a:solidFill>
              </a:rPr>
              <a:t>Ch. </a:t>
            </a:r>
            <a:r>
              <a:rPr lang="pt-BR" sz="1600" dirty="0" smtClean="0">
                <a:solidFill>
                  <a:schemeClr val="bg2"/>
                </a:solidFill>
              </a:rPr>
              <a:t>Bhavana - </a:t>
            </a:r>
            <a:r>
              <a:rPr lang="pt-BR" sz="1600" dirty="0">
                <a:solidFill>
                  <a:schemeClr val="bg2"/>
                </a:solidFill>
              </a:rPr>
              <a:t>24N81A6216 </a:t>
            </a:r>
          </a:p>
          <a:p>
            <a:r>
              <a:rPr lang="pt-BR" sz="1600" dirty="0" smtClean="0">
                <a:solidFill>
                  <a:schemeClr val="bg2"/>
                </a:solidFill>
              </a:rPr>
              <a:t>B</a:t>
            </a:r>
            <a:r>
              <a:rPr lang="pt-BR" sz="1600" dirty="0">
                <a:solidFill>
                  <a:schemeClr val="bg2"/>
                </a:solidFill>
              </a:rPr>
              <a:t>. Bhavitha </a:t>
            </a:r>
            <a:r>
              <a:rPr lang="pt-BR" sz="1600" dirty="0" smtClean="0">
                <a:solidFill>
                  <a:schemeClr val="bg2"/>
                </a:solidFill>
              </a:rPr>
              <a:t>-24N81A6215 </a:t>
            </a:r>
            <a:endParaRPr lang="pt-BR" sz="1600" dirty="0">
              <a:solidFill>
                <a:schemeClr val="bg2"/>
              </a:solidFill>
            </a:endParaRPr>
          </a:p>
          <a:p>
            <a:r>
              <a:rPr lang="pt-BR" sz="1600" dirty="0" smtClean="0">
                <a:solidFill>
                  <a:schemeClr val="bg2"/>
                </a:solidFill>
              </a:rPr>
              <a:t>V</a:t>
            </a:r>
            <a:r>
              <a:rPr lang="pt-BR" sz="1600" dirty="0">
                <a:solidFill>
                  <a:schemeClr val="bg2"/>
                </a:solidFill>
              </a:rPr>
              <a:t>. </a:t>
            </a:r>
            <a:r>
              <a:rPr lang="pt-BR" sz="1600" dirty="0" smtClean="0">
                <a:solidFill>
                  <a:schemeClr val="bg2"/>
                </a:solidFill>
              </a:rPr>
              <a:t>Mounika - 24N81A6218</a:t>
            </a:r>
          </a:p>
          <a:p>
            <a:r>
              <a:rPr lang="pt-BR" sz="1600" dirty="0" smtClean="0">
                <a:solidFill>
                  <a:schemeClr val="bg2"/>
                </a:solidFill>
              </a:rPr>
              <a:t>V</a:t>
            </a:r>
            <a:r>
              <a:rPr lang="pt-BR" sz="1600" dirty="0">
                <a:solidFill>
                  <a:schemeClr val="bg2"/>
                </a:solidFill>
              </a:rPr>
              <a:t>. </a:t>
            </a:r>
            <a:r>
              <a:rPr lang="pt-BR" sz="1600" dirty="0" smtClean="0">
                <a:solidFill>
                  <a:schemeClr val="bg2"/>
                </a:solidFill>
              </a:rPr>
              <a:t>Likitha - </a:t>
            </a:r>
            <a:r>
              <a:rPr lang="pt-BR" sz="1600" dirty="0">
                <a:solidFill>
                  <a:schemeClr val="bg2"/>
                </a:solidFill>
              </a:rPr>
              <a:t>24N81A6241</a:t>
            </a:r>
            <a:endParaRPr lang="en-US" sz="1600" dirty="0">
              <a:solidFill>
                <a:schemeClr val="bg2"/>
              </a:solidFill>
            </a:endParaRPr>
          </a:p>
        </p:txBody>
      </p:sp>
    </p:spTree>
    <p:extLst>
      <p:ext uri="{BB962C8B-B14F-4D97-AF65-F5344CB8AC3E}">
        <p14:creationId xmlns:p14="http://schemas.microsoft.com/office/powerpoint/2010/main" val="1546580382"/>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xmlns="" id="{0E807223-DF88-4D6D-970E-08919E5E02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2" name="Rectangle 91">
            <a:extLst>
              <a:ext uri="{FF2B5EF4-FFF2-40B4-BE49-F238E27FC236}">
                <a16:creationId xmlns:a16="http://schemas.microsoft.com/office/drawing/2014/main" xmlns="" id="{83B91B61-BFCA-4647-957E-A8269BE46F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p:cNvSpPr>
            <a:spLocks noGrp="1"/>
          </p:cNvSpPr>
          <p:nvPr>
            <p:ph sz="half" idx="2"/>
          </p:nvPr>
        </p:nvSpPr>
        <p:spPr>
          <a:xfrm>
            <a:off x="4851640" y="182880"/>
            <a:ext cx="7140063" cy="6426925"/>
          </a:xfrm>
        </p:spPr>
        <p:txBody>
          <a:bodyPr>
            <a:normAutofit/>
          </a:bodyPr>
          <a:lstStyle/>
          <a:p>
            <a:pPr marL="0" indent="0">
              <a:buNone/>
            </a:pPr>
            <a:r>
              <a:rPr lang="en-US" sz="5400" b="1" dirty="0" smtClean="0"/>
              <a:t>Introduction:</a:t>
            </a:r>
          </a:p>
          <a:p>
            <a:pPr marL="0" indent="0">
              <a:buNone/>
            </a:pPr>
            <a:r>
              <a:rPr lang="en-US" sz="2400" dirty="0">
                <a:latin typeface="Bahnschrift Light Condensed" panose="020B0502040204020203" pitchFamily="34" charset="0"/>
              </a:rPr>
              <a:t>Phishing is one of the most common and dangerous </a:t>
            </a:r>
            <a:r>
              <a:rPr lang="en-US" sz="2400" dirty="0" err="1">
                <a:latin typeface="Bahnschrift Light Condensed" panose="020B0502040204020203" pitchFamily="34" charset="0"/>
              </a:rPr>
              <a:t>cyberattacks</a:t>
            </a:r>
            <a:r>
              <a:rPr lang="en-US" sz="2400" dirty="0">
                <a:latin typeface="Bahnschrift Light Condensed" panose="020B0502040204020203" pitchFamily="34" charset="0"/>
              </a:rPr>
              <a:t> used to steal sensitive information such as usernames, passwords, and financial details. Attackers create fake websites or URLs that look similar to legitimate ones to trick users into providing their personal data</a:t>
            </a:r>
            <a:r>
              <a:rPr lang="en-US" sz="2400" dirty="0" smtClean="0">
                <a:latin typeface="Bahnschrift Light Condensed" panose="020B0502040204020203" pitchFamily="34" charset="0"/>
              </a:rPr>
              <a:t>.</a:t>
            </a:r>
          </a:p>
          <a:p>
            <a:pPr marL="0" indent="0">
              <a:buNone/>
            </a:pPr>
            <a:r>
              <a:rPr lang="en-US" sz="2400" dirty="0" smtClean="0">
                <a:latin typeface="Bahnschrift Light Condensed" panose="020B0502040204020203" pitchFamily="34" charset="0"/>
              </a:rPr>
              <a:t>With </a:t>
            </a:r>
            <a:r>
              <a:rPr lang="en-US" sz="2400" dirty="0">
                <a:latin typeface="Bahnschrift Light Condensed" panose="020B0502040204020203" pitchFamily="34" charset="0"/>
              </a:rPr>
              <a:t>the rapid growth of internet usage, identifying such malicious links manually has become difficult and time-consuming. Therefore, there is a need for an automated system that can quickly and accurately detect phishing URLs</a:t>
            </a:r>
            <a:r>
              <a:rPr lang="en-US" sz="2400" dirty="0" smtClean="0">
                <a:latin typeface="Bahnschrift Light Condensed" panose="020B0502040204020203" pitchFamily="34" charset="0"/>
              </a:rPr>
              <a:t>.</a:t>
            </a:r>
          </a:p>
          <a:p>
            <a:pPr marL="0" indent="0">
              <a:buNone/>
            </a:pPr>
            <a:r>
              <a:rPr lang="en-US" sz="2400" dirty="0" smtClean="0">
                <a:latin typeface="Bahnschrift Light Condensed" panose="020B0502040204020203" pitchFamily="34" charset="0"/>
              </a:rPr>
              <a:t>This </a:t>
            </a:r>
            <a:r>
              <a:rPr lang="en-US" sz="2400" dirty="0">
                <a:latin typeface="Bahnschrift Light Condensed" panose="020B0502040204020203" pitchFamily="34" charset="0"/>
              </a:rPr>
              <a:t>project presents a solution using Machine Learning, where a model is trained to analyze different characteristics of a URL and classify it as either legitimate or phishing. By using intelligent algorithms, the system helps improve </a:t>
            </a:r>
            <a:r>
              <a:rPr lang="en-US" sz="2400" dirty="0" smtClean="0">
                <a:latin typeface="Bahnschrift Light Condensed" panose="020B0502040204020203" pitchFamily="34" charset="0"/>
              </a:rPr>
              <a:t>cyber security </a:t>
            </a:r>
            <a:r>
              <a:rPr lang="en-US" sz="2400" dirty="0">
                <a:latin typeface="Bahnschrift Light Condensed" panose="020B0502040204020203" pitchFamily="34" charset="0"/>
              </a:rPr>
              <a:t>and protects users from online threats.</a:t>
            </a:r>
            <a:endParaRPr lang="en-US" sz="2400" dirty="0" smtClean="0">
              <a:latin typeface="Bahnschrift Light Condensed" panose="020B0502040204020203" pitchFamily="34" charset="0"/>
            </a:endParaRPr>
          </a:p>
        </p:txBody>
      </p:sp>
      <p:pic>
        <p:nvPicPr>
          <p:cNvPr id="5" name="Picture 4"/>
          <p:cNvPicPr>
            <a:picLocks noChangeAspect="1"/>
          </p:cNvPicPr>
          <p:nvPr/>
        </p:nvPicPr>
        <p:blipFill>
          <a:blip r:embed="rId3"/>
          <a:stretch>
            <a:fillRect/>
          </a:stretch>
        </p:blipFill>
        <p:spPr>
          <a:xfrm>
            <a:off x="0" y="3331029"/>
            <a:ext cx="4807559" cy="3278776"/>
          </a:xfrm>
          <a:prstGeom prst="rect">
            <a:avLst/>
          </a:prstGeom>
        </p:spPr>
      </p:pic>
      <p:pic>
        <p:nvPicPr>
          <p:cNvPr id="1028" name="Picture 4" descr="Detect a Phishing URL Using Machine Learning in Python"/>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19" y="340271"/>
            <a:ext cx="4716119" cy="2834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679821"/>
      </p:ext>
    </p:extLst>
  </p:cSld>
  <p:clrMapOvr>
    <a:masterClrMapping/>
  </p:clrMapOvr>
  <p:transition spd="slow">
    <p:wipe/>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xmlns="" id="{59DB74EB-2A7D-443D-B969-8BF48F99315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xmlns="" id="{19036E77-5F7B-494E-A117-FEA947B357EE}"/>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7383661" y="0"/>
            <a:ext cx="228600" cy="6858000"/>
          </a:xfrm>
          <a:prstGeom prst="rect">
            <a:avLst/>
          </a:prstGeom>
          <a:solidFill>
            <a:schemeClr val="tx1">
              <a:lumMod val="50000"/>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Content Placeholder 3"/>
          <p:cNvSpPr>
            <a:spLocks noGrp="1"/>
          </p:cNvSpPr>
          <p:nvPr>
            <p:ph idx="1"/>
          </p:nvPr>
        </p:nvSpPr>
        <p:spPr>
          <a:xfrm>
            <a:off x="143691" y="130629"/>
            <a:ext cx="7040880" cy="6505302"/>
          </a:xfrm>
        </p:spPr>
        <p:txBody>
          <a:bodyPr/>
          <a:lstStyle/>
          <a:p>
            <a:pPr marL="0" indent="0">
              <a:buNone/>
            </a:pPr>
            <a:r>
              <a:rPr lang="en-US" sz="6600" b="1" dirty="0" smtClean="0"/>
              <a:t>Objective:</a:t>
            </a:r>
          </a:p>
          <a:p>
            <a:r>
              <a:rPr lang="en-US" sz="2800" dirty="0"/>
              <a:t>To develop a system that can detect phishing URLs </a:t>
            </a:r>
            <a:r>
              <a:rPr lang="en-US" sz="2800" dirty="0" smtClean="0"/>
              <a:t>automatically.</a:t>
            </a:r>
          </a:p>
          <a:p>
            <a:r>
              <a:rPr lang="en-US" sz="2800" dirty="0" smtClean="0"/>
              <a:t>To </a:t>
            </a:r>
            <a:r>
              <a:rPr lang="en-US" sz="2800" dirty="0"/>
              <a:t>classify URLs as Legitimate or Phishing using Machine </a:t>
            </a:r>
            <a:r>
              <a:rPr lang="en-US" sz="2800" dirty="0" smtClean="0"/>
              <a:t>Learning.</a:t>
            </a:r>
          </a:p>
          <a:p>
            <a:r>
              <a:rPr lang="en-US" sz="2800" dirty="0" smtClean="0"/>
              <a:t>To </a:t>
            </a:r>
            <a:r>
              <a:rPr lang="en-US" sz="2800" dirty="0"/>
              <a:t>reduce the risk of cyber attacks and online </a:t>
            </a:r>
            <a:r>
              <a:rPr lang="en-US" sz="2800" dirty="0" smtClean="0"/>
              <a:t>fraud.</a:t>
            </a:r>
          </a:p>
          <a:p>
            <a:r>
              <a:rPr lang="en-US" sz="2800" dirty="0" smtClean="0"/>
              <a:t>To </a:t>
            </a:r>
            <a:r>
              <a:rPr lang="en-US" sz="2800" dirty="0"/>
              <a:t>provide a fast and user-friendly interface for real-time </a:t>
            </a:r>
            <a:r>
              <a:rPr lang="en-US" sz="2800" dirty="0" smtClean="0"/>
              <a:t>detection.</a:t>
            </a:r>
          </a:p>
          <a:p>
            <a:r>
              <a:rPr lang="en-US" sz="2800" dirty="0" smtClean="0"/>
              <a:t>To </a:t>
            </a:r>
            <a:r>
              <a:rPr lang="en-US" sz="2800" dirty="0"/>
              <a:t>improve awareness and security for internet </a:t>
            </a:r>
            <a:r>
              <a:rPr lang="en-US" sz="2800" dirty="0" smtClean="0"/>
              <a:t>users.</a:t>
            </a:r>
            <a:endParaRPr lang="en-US" sz="2800" dirty="0"/>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12261" y="1728107"/>
            <a:ext cx="4579739" cy="3401786"/>
          </a:xfrm>
          <a:prstGeom prst="rect">
            <a:avLst/>
          </a:prstGeom>
        </p:spPr>
      </p:pic>
    </p:spTree>
    <p:extLst>
      <p:ext uri="{BB962C8B-B14F-4D97-AF65-F5344CB8AC3E}">
        <p14:creationId xmlns:p14="http://schemas.microsoft.com/office/powerpoint/2010/main" val="3745136551"/>
      </p:ext>
    </p:extLst>
  </p:cSld>
  <p:clrMapOvr>
    <a:overrideClrMapping bg1="dk1" tx1="lt1" bg2="dk2" tx2="lt2" accent1="accent1" accent2="accent2" accent3="accent3" accent4="accent4" accent5="accent5" accent6="accent6" hlink="hlink" folHlink="folHlink"/>
  </p:clrMapOvr>
  <p:transition spd="slow">
    <p:push dir="u"/>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xmlns="" id="{59DB74EB-2A7D-443D-B969-8BF48F99315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p:cNvSpPr>
            <a:spLocks noGrp="1"/>
          </p:cNvSpPr>
          <p:nvPr>
            <p:ph idx="1"/>
          </p:nvPr>
        </p:nvSpPr>
        <p:spPr>
          <a:xfrm>
            <a:off x="143690" y="130629"/>
            <a:ext cx="12048309" cy="6505302"/>
          </a:xfrm>
        </p:spPr>
        <p:txBody>
          <a:bodyPr>
            <a:normAutofit fontScale="70000" lnSpcReduction="20000"/>
          </a:bodyPr>
          <a:lstStyle/>
          <a:p>
            <a:pPr marL="0" indent="0">
              <a:buNone/>
            </a:pPr>
            <a:r>
              <a:rPr lang="en-US" sz="5700" b="1" dirty="0">
                <a:latin typeface="Arial Black" panose="020B0A04020102020204" pitchFamily="34" charset="0"/>
              </a:rPr>
              <a:t>Methodology</a:t>
            </a:r>
            <a:r>
              <a:rPr lang="en-US" sz="5700" b="1" dirty="0" smtClean="0">
                <a:latin typeface="Arial Black" panose="020B0A04020102020204" pitchFamily="34" charset="0"/>
              </a:rPr>
              <a:t>:</a:t>
            </a:r>
          </a:p>
          <a:p>
            <a:pPr marL="0" indent="0">
              <a:buNone/>
            </a:pPr>
            <a:r>
              <a:rPr lang="en-US" sz="3200" dirty="0">
                <a:latin typeface="Bahnschrift SemiLight" panose="020B0502040204020203" pitchFamily="34" charset="0"/>
              </a:rPr>
              <a:t>1. Data Collection</a:t>
            </a:r>
            <a:br>
              <a:rPr lang="en-US" sz="3200" dirty="0">
                <a:latin typeface="Bahnschrift SemiLight" panose="020B0502040204020203" pitchFamily="34" charset="0"/>
              </a:rPr>
            </a:br>
            <a:r>
              <a:rPr lang="en-US" sz="3200" dirty="0">
                <a:latin typeface="Bahnschrift SemiLight" panose="020B0502040204020203" pitchFamily="34" charset="0"/>
              </a:rPr>
              <a:t>        Collected phishing dataset containing URLs and </a:t>
            </a:r>
            <a:r>
              <a:rPr lang="en-US" sz="3200" dirty="0" smtClean="0">
                <a:latin typeface="Bahnschrift SemiLight" panose="020B0502040204020203" pitchFamily="34" charset="0"/>
              </a:rPr>
              <a:t>labels.</a:t>
            </a:r>
            <a:r>
              <a:rPr lang="en-US" sz="3200" dirty="0">
                <a:latin typeface="Bahnschrift SemiLight" panose="020B0502040204020203" pitchFamily="34" charset="0"/>
              </a:rPr>
              <a:t/>
            </a:r>
            <a:br>
              <a:rPr lang="en-US" sz="3200" dirty="0">
                <a:latin typeface="Bahnschrift SemiLight" panose="020B0502040204020203" pitchFamily="34" charset="0"/>
              </a:rPr>
            </a:br>
            <a:r>
              <a:rPr lang="en-US" sz="3200" dirty="0">
                <a:latin typeface="Bahnschrift SemiLight" panose="020B0502040204020203" pitchFamily="34" charset="0"/>
              </a:rPr>
              <a:t>2. Data Preprocessing</a:t>
            </a:r>
            <a:br>
              <a:rPr lang="en-US" sz="3200" dirty="0">
                <a:latin typeface="Bahnschrift SemiLight" panose="020B0502040204020203" pitchFamily="34" charset="0"/>
              </a:rPr>
            </a:br>
            <a:r>
              <a:rPr lang="en-US" sz="3200" dirty="0">
                <a:latin typeface="Bahnschrift SemiLight" panose="020B0502040204020203" pitchFamily="34" charset="0"/>
              </a:rPr>
              <a:t>        Converted text labels into numerical values</a:t>
            </a:r>
            <a:br>
              <a:rPr lang="en-US" sz="3200" dirty="0">
                <a:latin typeface="Bahnschrift SemiLight" panose="020B0502040204020203" pitchFamily="34" charset="0"/>
              </a:rPr>
            </a:br>
            <a:r>
              <a:rPr lang="en-US" sz="3200" dirty="0">
                <a:latin typeface="Bahnschrift SemiLight" panose="020B0502040204020203" pitchFamily="34" charset="0"/>
              </a:rPr>
              <a:t>        Removed missing or invalid data</a:t>
            </a:r>
            <a:br>
              <a:rPr lang="en-US" sz="3200" dirty="0">
                <a:latin typeface="Bahnschrift SemiLight" panose="020B0502040204020203" pitchFamily="34" charset="0"/>
              </a:rPr>
            </a:br>
            <a:r>
              <a:rPr lang="en-US" sz="3200" dirty="0">
                <a:latin typeface="Bahnschrift SemiLight" panose="020B0502040204020203" pitchFamily="34" charset="0"/>
              </a:rPr>
              <a:t>3. Feature Extraction</a:t>
            </a:r>
            <a:br>
              <a:rPr lang="en-US" sz="3200" dirty="0">
                <a:latin typeface="Bahnschrift SemiLight" panose="020B0502040204020203" pitchFamily="34" charset="0"/>
              </a:rPr>
            </a:br>
            <a:r>
              <a:rPr lang="en-US" sz="3200" dirty="0">
                <a:latin typeface="Bahnschrift SemiLight" panose="020B0502040204020203" pitchFamily="34" charset="0"/>
              </a:rPr>
              <a:t>        Extracted features like:</a:t>
            </a:r>
            <a:br>
              <a:rPr lang="en-US" sz="3200" dirty="0">
                <a:latin typeface="Bahnschrift SemiLight" panose="020B0502040204020203" pitchFamily="34" charset="0"/>
              </a:rPr>
            </a:br>
            <a:r>
              <a:rPr lang="en-US" sz="3200" dirty="0">
                <a:latin typeface="Bahnschrift SemiLight" panose="020B0502040204020203" pitchFamily="34" charset="0"/>
              </a:rPr>
              <a:t>              URL length</a:t>
            </a:r>
            <a:br>
              <a:rPr lang="en-US" sz="3200" dirty="0">
                <a:latin typeface="Bahnschrift SemiLight" panose="020B0502040204020203" pitchFamily="34" charset="0"/>
              </a:rPr>
            </a:br>
            <a:r>
              <a:rPr lang="en-US" sz="3200" dirty="0">
                <a:latin typeface="Bahnschrift SemiLight" panose="020B0502040204020203" pitchFamily="34" charset="0"/>
              </a:rPr>
              <a:t>              Number of dots</a:t>
            </a:r>
            <a:br>
              <a:rPr lang="en-US" sz="3200" dirty="0">
                <a:latin typeface="Bahnschrift SemiLight" panose="020B0502040204020203" pitchFamily="34" charset="0"/>
              </a:rPr>
            </a:br>
            <a:r>
              <a:rPr lang="en-US" sz="3200" dirty="0">
                <a:latin typeface="Bahnschrift SemiLight" panose="020B0502040204020203" pitchFamily="34" charset="0"/>
              </a:rPr>
              <a:t>              Presence of special symbols (@, -)</a:t>
            </a:r>
            <a:br>
              <a:rPr lang="en-US" sz="3200" dirty="0">
                <a:latin typeface="Bahnschrift SemiLight" panose="020B0502040204020203" pitchFamily="34" charset="0"/>
              </a:rPr>
            </a:br>
            <a:r>
              <a:rPr lang="en-US" sz="3200" dirty="0">
                <a:latin typeface="Bahnschrift SemiLight" panose="020B0502040204020203" pitchFamily="34" charset="0"/>
              </a:rPr>
              <a:t>              HTTPS usage</a:t>
            </a:r>
            <a:br>
              <a:rPr lang="en-US" sz="3200" dirty="0">
                <a:latin typeface="Bahnschrift SemiLight" panose="020B0502040204020203" pitchFamily="34" charset="0"/>
              </a:rPr>
            </a:br>
            <a:r>
              <a:rPr lang="en-US" sz="3200" dirty="0">
                <a:latin typeface="Bahnschrift SemiLight" panose="020B0502040204020203" pitchFamily="34" charset="0"/>
              </a:rPr>
              <a:t>4. Model Training</a:t>
            </a:r>
            <a:br>
              <a:rPr lang="en-US" sz="3200" dirty="0">
                <a:latin typeface="Bahnschrift SemiLight" panose="020B0502040204020203" pitchFamily="34" charset="0"/>
              </a:rPr>
            </a:br>
            <a:r>
              <a:rPr lang="en-US" sz="3200" dirty="0">
                <a:latin typeface="Bahnschrift SemiLight" panose="020B0502040204020203" pitchFamily="34" charset="0"/>
              </a:rPr>
              <a:t>        Used Random Forest algorithm</a:t>
            </a:r>
            <a:br>
              <a:rPr lang="en-US" sz="3200" dirty="0">
                <a:latin typeface="Bahnschrift SemiLight" panose="020B0502040204020203" pitchFamily="34" charset="0"/>
              </a:rPr>
            </a:br>
            <a:r>
              <a:rPr lang="en-US" sz="3200" dirty="0">
                <a:latin typeface="Bahnschrift SemiLight" panose="020B0502040204020203" pitchFamily="34" charset="0"/>
              </a:rPr>
              <a:t>        Trained model on dataset</a:t>
            </a:r>
            <a:br>
              <a:rPr lang="en-US" sz="3200" dirty="0">
                <a:latin typeface="Bahnschrift SemiLight" panose="020B0502040204020203" pitchFamily="34" charset="0"/>
              </a:rPr>
            </a:br>
            <a:r>
              <a:rPr lang="en-US" sz="3200" dirty="0">
                <a:latin typeface="Bahnschrift SemiLight" panose="020B0502040204020203" pitchFamily="34" charset="0"/>
              </a:rPr>
              <a:t>5. Model Evaluation</a:t>
            </a:r>
            <a:br>
              <a:rPr lang="en-US" sz="3200" dirty="0">
                <a:latin typeface="Bahnschrift SemiLight" panose="020B0502040204020203" pitchFamily="34" charset="0"/>
              </a:rPr>
            </a:br>
            <a:r>
              <a:rPr lang="en-US" sz="3200" dirty="0">
                <a:latin typeface="Bahnschrift SemiLight" panose="020B0502040204020203" pitchFamily="34" charset="0"/>
              </a:rPr>
              <a:t>         Tested accuracy using test data</a:t>
            </a:r>
            <a:br>
              <a:rPr lang="en-US" sz="3200" dirty="0">
                <a:latin typeface="Bahnschrift SemiLight" panose="020B0502040204020203" pitchFamily="34" charset="0"/>
              </a:rPr>
            </a:br>
            <a:r>
              <a:rPr lang="en-US" sz="3200" dirty="0">
                <a:latin typeface="Bahnschrift SemiLight" panose="020B0502040204020203" pitchFamily="34" charset="0"/>
              </a:rPr>
              <a:t>         Achieved ~96% accuracy</a:t>
            </a:r>
            <a:br>
              <a:rPr lang="en-US" sz="3200" dirty="0">
                <a:latin typeface="Bahnschrift SemiLight" panose="020B0502040204020203" pitchFamily="34" charset="0"/>
              </a:rPr>
            </a:br>
            <a:r>
              <a:rPr lang="en-US" sz="3200" dirty="0">
                <a:latin typeface="Bahnschrift SemiLight" panose="020B0502040204020203" pitchFamily="34" charset="0"/>
              </a:rPr>
              <a:t>6. User Interface Development</a:t>
            </a:r>
            <a:br>
              <a:rPr lang="en-US" sz="3200" dirty="0">
                <a:latin typeface="Bahnschrift SemiLight" panose="020B0502040204020203" pitchFamily="34" charset="0"/>
              </a:rPr>
            </a:br>
            <a:r>
              <a:rPr lang="en-US" sz="3200" dirty="0">
                <a:latin typeface="Bahnschrift SemiLight" panose="020B0502040204020203" pitchFamily="34" charset="0"/>
              </a:rPr>
              <a:t>         Built interface using </a:t>
            </a:r>
            <a:r>
              <a:rPr lang="en-US" sz="3200" dirty="0" err="1">
                <a:latin typeface="Bahnschrift SemiLight" panose="020B0502040204020203" pitchFamily="34" charset="0"/>
              </a:rPr>
              <a:t>Streamlit</a:t>
            </a:r>
            <a:r>
              <a:rPr lang="en-US" sz="3200" dirty="0">
                <a:latin typeface="Bahnschrift SemiLight" panose="020B0502040204020203" pitchFamily="34" charset="0"/>
              </a:rPr>
              <a:t/>
            </a:r>
            <a:br>
              <a:rPr lang="en-US" sz="3200" dirty="0">
                <a:latin typeface="Bahnschrift SemiLight" panose="020B0502040204020203" pitchFamily="34" charset="0"/>
              </a:rPr>
            </a:br>
            <a:r>
              <a:rPr lang="en-US" sz="3200" dirty="0">
                <a:latin typeface="Bahnschrift SemiLight" panose="020B0502040204020203" pitchFamily="34" charset="0"/>
              </a:rPr>
              <a:t>         Enabled real-time URL checking</a:t>
            </a:r>
            <a:br>
              <a:rPr lang="en-US" sz="3200" dirty="0">
                <a:latin typeface="Bahnschrift SemiLight" panose="020B0502040204020203" pitchFamily="34" charset="0"/>
              </a:rPr>
            </a:br>
            <a:endParaRPr lang="en-US" sz="3200" dirty="0" smtClean="0">
              <a:latin typeface="Bahnschrift SemiLight" panose="020B0502040204020203" pitchFamily="34" charset="0"/>
            </a:endParaRPr>
          </a:p>
        </p:txBody>
      </p:sp>
      <p:pic>
        <p:nvPicPr>
          <p:cNvPr id="9" name="Picture 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58885" y="1997694"/>
            <a:ext cx="4915251" cy="3632397"/>
          </a:xfrm>
          <a:prstGeom prst="rect">
            <a:avLst/>
          </a:prstGeom>
        </p:spPr>
      </p:pic>
    </p:spTree>
    <p:extLst>
      <p:ext uri="{BB962C8B-B14F-4D97-AF65-F5344CB8AC3E}">
        <p14:creationId xmlns:p14="http://schemas.microsoft.com/office/powerpoint/2010/main" val="311748066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5="http://schemas.microsoft.com/office/powerpoint/2012/main" Requires="p15">
      <p:transition xmlns:p14="http://schemas.microsoft.com/office/powerpoint/2010/main" spd="slow" p14:dur="1250">
        <p15:prstTrans prst="peelOff"/>
      </p:transition>
    </mc:Choice>
    <mc:Fallback>
      <p:transition spd="slow">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Algorithm </a:t>
            </a:r>
            <a:r>
              <a:rPr lang="en-US" dirty="0" smtClean="0"/>
              <a:t>Used</a:t>
            </a:r>
            <a:r>
              <a:rPr lang="en-US" b="1" dirty="0">
                <a:latin typeface="Arial Black" panose="020B0A04020102020204" pitchFamily="34" charset="0"/>
              </a:rPr>
              <a:t> :</a:t>
            </a:r>
            <a:endParaRPr lang="en-US" dirty="0"/>
          </a:p>
        </p:txBody>
      </p:sp>
      <p:sp>
        <p:nvSpPr>
          <p:cNvPr id="3" name="Content Placeholder 2"/>
          <p:cNvSpPr>
            <a:spLocks noGrp="1"/>
          </p:cNvSpPr>
          <p:nvPr>
            <p:ph idx="1"/>
          </p:nvPr>
        </p:nvSpPr>
        <p:spPr>
          <a:xfrm>
            <a:off x="1267097" y="1815736"/>
            <a:ext cx="6762206" cy="5042263"/>
          </a:xfrm>
        </p:spPr>
        <p:txBody>
          <a:bodyPr>
            <a:normAutofit/>
          </a:bodyPr>
          <a:lstStyle/>
          <a:p>
            <a:pPr marL="0" indent="0">
              <a:buNone/>
            </a:pPr>
            <a:r>
              <a:rPr lang="en-US" sz="3200" b="1" dirty="0">
                <a:latin typeface="Arial Black" panose="020B0A04020102020204" pitchFamily="34" charset="0"/>
              </a:rPr>
              <a:t>Algorithm: Random </a:t>
            </a:r>
            <a:r>
              <a:rPr lang="en-US" sz="3200" b="1" dirty="0" smtClean="0">
                <a:latin typeface="Arial Black" panose="020B0A04020102020204" pitchFamily="34" charset="0"/>
              </a:rPr>
              <a:t>Forest.</a:t>
            </a:r>
          </a:p>
          <a:p>
            <a:r>
              <a:rPr lang="en-US" sz="2400" dirty="0" smtClean="0"/>
              <a:t>The </a:t>
            </a:r>
            <a:r>
              <a:rPr lang="en-US" sz="2400" dirty="0"/>
              <a:t>project uses the Random Forest Algorithm, a powerful Machine Learning </a:t>
            </a:r>
            <a:r>
              <a:rPr lang="en-US" sz="2400" dirty="0" smtClean="0"/>
              <a:t>technique.</a:t>
            </a:r>
          </a:p>
          <a:p>
            <a:r>
              <a:rPr lang="en-US" sz="2400" dirty="0" smtClean="0"/>
              <a:t>It </a:t>
            </a:r>
            <a:r>
              <a:rPr lang="en-US" sz="2400" dirty="0"/>
              <a:t>is an ensemble learning method that combines multiple decision </a:t>
            </a:r>
            <a:r>
              <a:rPr lang="en-US" sz="2400" dirty="0" smtClean="0"/>
              <a:t>trees.</a:t>
            </a:r>
          </a:p>
          <a:p>
            <a:r>
              <a:rPr lang="en-US" sz="2400" dirty="0" smtClean="0"/>
              <a:t>Each </a:t>
            </a:r>
            <a:r>
              <a:rPr lang="en-US" sz="2400" dirty="0"/>
              <a:t>tree makes a prediction, and the final result is decided by majority </a:t>
            </a:r>
            <a:r>
              <a:rPr lang="en-US" sz="2400" dirty="0" smtClean="0"/>
              <a:t>voting.</a:t>
            </a:r>
          </a:p>
          <a:p>
            <a:r>
              <a:rPr lang="en-US" sz="2400" dirty="0" smtClean="0"/>
              <a:t>It </a:t>
            </a:r>
            <a:r>
              <a:rPr lang="en-US" sz="2400" dirty="0"/>
              <a:t>improves accuracy and reduces </a:t>
            </a:r>
            <a:r>
              <a:rPr lang="en-US" sz="2400" dirty="0" err="1"/>
              <a:t>overfitting</a:t>
            </a:r>
            <a:r>
              <a:rPr lang="en-US" sz="2400" dirty="0"/>
              <a:t> compared to a single decision </a:t>
            </a:r>
            <a:r>
              <a:rPr lang="en-US" sz="2400" dirty="0" smtClean="0"/>
              <a:t>tree.</a:t>
            </a:r>
            <a:endParaRPr lang="en-US" sz="24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3806" y="2351314"/>
            <a:ext cx="3927566" cy="2945674"/>
          </a:xfrm>
          <a:prstGeom prst="rect">
            <a:avLst/>
          </a:prstGeom>
        </p:spPr>
      </p:pic>
    </p:spTree>
    <p:extLst>
      <p:ext uri="{BB962C8B-B14F-4D97-AF65-F5344CB8AC3E}">
        <p14:creationId xmlns:p14="http://schemas.microsoft.com/office/powerpoint/2010/main" val="1931935795"/>
      </p:ext>
    </p:extLst>
  </p:cSld>
  <p:clrMapOvr>
    <a:masterClrMapping/>
  </p:clrMapOvr>
  <mc:AlternateContent xmlns:mc="http://schemas.openxmlformats.org/markup-compatibility/2006">
    <mc:Choice xmlns:p14="http://schemas.microsoft.com/office/powerpoint/2010/main" Requires="p14">
      <p:transition spd="slow" p14:dur="3400">
        <p14:reveal/>
      </p:transition>
    </mc:Choice>
    <mc:Fallback>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xmlns="" id="{59DB74EB-2A7D-443D-B969-8BF48F99315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Content Placeholder 3"/>
          <p:cNvSpPr>
            <a:spLocks noGrp="1"/>
          </p:cNvSpPr>
          <p:nvPr>
            <p:ph idx="1"/>
          </p:nvPr>
        </p:nvSpPr>
        <p:spPr>
          <a:xfrm>
            <a:off x="143690" y="130629"/>
            <a:ext cx="12048309" cy="6505302"/>
          </a:xfrm>
        </p:spPr>
        <p:txBody>
          <a:bodyPr/>
          <a:lstStyle/>
          <a:p>
            <a:pPr marL="0" indent="0">
              <a:buNone/>
            </a:pPr>
            <a:r>
              <a:rPr lang="en-US" sz="6000" b="1" dirty="0">
                <a:latin typeface="Arial Black" panose="020B0A04020102020204" pitchFamily="34" charset="0"/>
              </a:rPr>
              <a:t>System Architecture</a:t>
            </a:r>
            <a:r>
              <a:rPr lang="en-US" sz="6000" b="1" dirty="0" smtClean="0">
                <a:latin typeface="Arial Black" panose="020B0A04020102020204" pitchFamily="34" charset="0"/>
              </a:rPr>
              <a:t>:</a:t>
            </a:r>
          </a:p>
          <a:p>
            <a:pPr marL="0" indent="0">
              <a:buNone/>
            </a:pPr>
            <a:endParaRPr lang="en-US" sz="6600" b="1" dirty="0" smtClean="0"/>
          </a:p>
          <a:p>
            <a:pPr marL="0" indent="0">
              <a:buNone/>
            </a:pPr>
            <a:endParaRPr lang="en-US" sz="6600" b="1" dirty="0"/>
          </a:p>
          <a:p>
            <a:pPr marL="0" indent="0">
              <a:buNone/>
            </a:pPr>
            <a:endParaRPr lang="en-US" sz="6600" b="1" dirty="0" smtClean="0"/>
          </a:p>
          <a:p>
            <a:pPr marL="0" indent="0">
              <a:buNone/>
            </a:pPr>
            <a:endParaRPr lang="en-US" sz="3200" dirty="0" smtClean="0">
              <a:latin typeface="Bahnschrift SemiLight" panose="020B0502040204020203" pitchFamily="34" charset="0"/>
            </a:endParaRPr>
          </a:p>
          <a:p>
            <a:pPr marL="0" indent="0">
              <a:buNone/>
            </a:pPr>
            <a:r>
              <a:rPr lang="en-US" sz="3200" dirty="0" smtClean="0">
                <a:latin typeface="Bahnschrift SemiLight" panose="020B0502040204020203" pitchFamily="34" charset="0"/>
              </a:rPr>
              <a:t>User </a:t>
            </a:r>
            <a:r>
              <a:rPr lang="en-US" sz="3200" dirty="0">
                <a:latin typeface="Bahnschrift SemiLight" panose="020B0502040204020203" pitchFamily="34" charset="0"/>
              </a:rPr>
              <a:t>→ Input URL → Feature Extraction → ML Model → Output</a:t>
            </a:r>
            <a:endParaRPr lang="en-US" sz="3200" dirty="0" smtClean="0">
              <a:latin typeface="Bahnschrift SemiLight" panose="020B0502040204020203" pitchFamily="34" charset="0"/>
            </a:endParaRPr>
          </a:p>
        </p:txBody>
      </p:sp>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48393" y="1530122"/>
            <a:ext cx="8863149" cy="3237821"/>
          </a:xfrm>
          <a:prstGeom prst="rect">
            <a:avLst/>
          </a:prstGeom>
        </p:spPr>
      </p:pic>
    </p:spTree>
    <p:extLst>
      <p:ext uri="{BB962C8B-B14F-4D97-AF65-F5344CB8AC3E}">
        <p14:creationId xmlns:p14="http://schemas.microsoft.com/office/powerpoint/2010/main" val="72839120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spd="slow" p14:dur="1300">
        <p14:pan dir="u"/>
      </p:transition>
    </mc:Choice>
    <mc:Fallback>
      <p:transition spd="slow">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44928"/>
            <a:ext cx="9601200" cy="881743"/>
          </a:xfrm>
        </p:spPr>
        <p:txBody>
          <a:bodyPr>
            <a:noAutofit/>
          </a:bodyPr>
          <a:lstStyle/>
          <a:p>
            <a:r>
              <a:rPr lang="en-US" sz="6000" dirty="0"/>
              <a:t>Future </a:t>
            </a:r>
            <a:r>
              <a:rPr lang="en-US" sz="6000" dirty="0" smtClean="0"/>
              <a:t>Scope</a:t>
            </a:r>
            <a:r>
              <a:rPr lang="en-US" sz="6000" b="1" dirty="0"/>
              <a:t> :</a:t>
            </a:r>
            <a:endParaRPr lang="en-US" sz="6000" dirty="0"/>
          </a:p>
        </p:txBody>
      </p:sp>
      <p:sp>
        <p:nvSpPr>
          <p:cNvPr id="3" name="Content Placeholder 2"/>
          <p:cNvSpPr>
            <a:spLocks noGrp="1"/>
          </p:cNvSpPr>
          <p:nvPr>
            <p:ph idx="1"/>
          </p:nvPr>
        </p:nvSpPr>
        <p:spPr>
          <a:xfrm>
            <a:off x="1280160" y="1384664"/>
            <a:ext cx="9601200" cy="4299857"/>
          </a:xfrm>
        </p:spPr>
        <p:txBody>
          <a:bodyPr>
            <a:noAutofit/>
          </a:bodyPr>
          <a:lstStyle/>
          <a:p>
            <a:r>
              <a:rPr lang="en-US" sz="4000" dirty="0" smtClean="0"/>
              <a:t>Integrate </a:t>
            </a:r>
            <a:r>
              <a:rPr lang="en-US" sz="4000" dirty="0"/>
              <a:t>with real-time browser </a:t>
            </a:r>
            <a:r>
              <a:rPr lang="en-US" sz="4000" dirty="0" smtClean="0"/>
              <a:t>extensions.</a:t>
            </a:r>
          </a:p>
          <a:p>
            <a:r>
              <a:rPr lang="en-US" sz="4000" dirty="0" smtClean="0"/>
              <a:t>Use </a:t>
            </a:r>
            <a:r>
              <a:rPr lang="en-US" sz="4000" dirty="0"/>
              <a:t>advanced deep learning models for better </a:t>
            </a:r>
            <a:r>
              <a:rPr lang="en-US" sz="4000" dirty="0" smtClean="0"/>
              <a:t>accuracy.</a:t>
            </a:r>
          </a:p>
          <a:p>
            <a:r>
              <a:rPr lang="en-US" sz="4000" dirty="0" smtClean="0"/>
              <a:t>Add </a:t>
            </a:r>
            <a:r>
              <a:rPr lang="en-US" sz="4000" dirty="0"/>
              <a:t>live blacklist and threat intelligence </a:t>
            </a:r>
            <a:r>
              <a:rPr lang="en-US" sz="4000" dirty="0" smtClean="0"/>
              <a:t>APIs.</a:t>
            </a:r>
          </a:p>
          <a:p>
            <a:r>
              <a:rPr lang="en-US" sz="4000" dirty="0" smtClean="0"/>
              <a:t>Enhance </a:t>
            </a:r>
            <a:r>
              <a:rPr lang="en-US" sz="4000" dirty="0"/>
              <a:t>UI with more detailed </a:t>
            </a:r>
            <a:r>
              <a:rPr lang="en-US" sz="4000" dirty="0" smtClean="0"/>
              <a:t>explanations.</a:t>
            </a:r>
            <a:endParaRPr lang="en-US" sz="4000" dirty="0"/>
          </a:p>
        </p:txBody>
      </p:sp>
    </p:spTree>
    <p:extLst>
      <p:ext uri="{BB962C8B-B14F-4D97-AF65-F5344CB8AC3E}">
        <p14:creationId xmlns:p14="http://schemas.microsoft.com/office/powerpoint/2010/main" val="730013582"/>
      </p:ext>
    </p:extLst>
  </p:cSld>
  <p:clrMapOvr>
    <a:masterClrMapping/>
  </p:clrMapOvr>
  <p:transition spd="slow">
    <p:randomBar dir="vert"/>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0" name="Rectangle 89">
            <a:extLst>
              <a:ext uri="{FF2B5EF4-FFF2-40B4-BE49-F238E27FC236}">
                <a16:creationId xmlns:a16="http://schemas.microsoft.com/office/drawing/2014/main" xmlns="" id="{0E807223-DF88-4D6D-970E-08919E5E02EB}"/>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2" name="Rectangle 91">
            <a:extLst>
              <a:ext uri="{FF2B5EF4-FFF2-40B4-BE49-F238E27FC236}">
                <a16:creationId xmlns:a16="http://schemas.microsoft.com/office/drawing/2014/main" xmlns="" id="{83B91B61-BFCA-4647-957E-A8269BE46F39}"/>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4" name="Rectangle 93">
            <a:extLst>
              <a:ext uri="{FF2B5EF4-FFF2-40B4-BE49-F238E27FC236}">
                <a16:creationId xmlns:a16="http://schemas.microsoft.com/office/drawing/2014/main" xmlns="" id="{92D1D7C6-1C89-420C-8D35-483654167118}"/>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xmlns="" val="1"/>
              </p:ext>
            </p:extLst>
          </p:nvPr>
        </p:nvSpPr>
        <p:spPr>
          <a:xfrm>
            <a:off x="437354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Content Placeholder 2"/>
          <p:cNvSpPr>
            <a:spLocks noGrp="1"/>
          </p:cNvSpPr>
          <p:nvPr>
            <p:ph sz="half" idx="2"/>
          </p:nvPr>
        </p:nvSpPr>
        <p:spPr>
          <a:xfrm>
            <a:off x="4851640" y="182880"/>
            <a:ext cx="7140063" cy="6426925"/>
          </a:xfrm>
        </p:spPr>
        <p:txBody>
          <a:bodyPr>
            <a:normAutofit/>
          </a:bodyPr>
          <a:lstStyle/>
          <a:p>
            <a:pPr marL="0" indent="0">
              <a:buNone/>
            </a:pPr>
            <a:r>
              <a:rPr lang="en-US" sz="5400" b="1" dirty="0"/>
              <a:t>Conclusion </a:t>
            </a:r>
            <a:r>
              <a:rPr lang="en-US" sz="5400" b="1" dirty="0" smtClean="0"/>
              <a:t>:</a:t>
            </a:r>
          </a:p>
          <a:p>
            <a:pPr marL="0" indent="0">
              <a:buNone/>
            </a:pPr>
            <a:r>
              <a:rPr lang="en-US" sz="2600" dirty="0"/>
              <a:t>The project successfully developed a system to detect phishing URLs using Machine </a:t>
            </a:r>
            <a:r>
              <a:rPr lang="en-US" sz="2600" dirty="0" smtClean="0"/>
              <a:t>Learning.</a:t>
            </a:r>
          </a:p>
          <a:p>
            <a:pPr marL="0" indent="0">
              <a:buNone/>
            </a:pPr>
            <a:r>
              <a:rPr lang="en-US" sz="2600" dirty="0" smtClean="0"/>
              <a:t>The </a:t>
            </a:r>
            <a:r>
              <a:rPr lang="en-US" sz="2600" dirty="0"/>
              <a:t>Random Forest algorithm provided high accuracy (~96%) in </a:t>
            </a:r>
            <a:r>
              <a:rPr lang="en-US" sz="2600" dirty="0" smtClean="0"/>
              <a:t>classification.</a:t>
            </a:r>
          </a:p>
          <a:p>
            <a:pPr marL="0" indent="0">
              <a:buNone/>
            </a:pPr>
            <a:r>
              <a:rPr lang="en-US" sz="2600" dirty="0" smtClean="0"/>
              <a:t>The </a:t>
            </a:r>
            <a:r>
              <a:rPr lang="en-US" sz="2600" dirty="0"/>
              <a:t>system can quickly identify whether a URL is safe or </a:t>
            </a:r>
            <a:r>
              <a:rPr lang="en-US" sz="2600" dirty="0" smtClean="0"/>
              <a:t>phishing.</a:t>
            </a:r>
          </a:p>
          <a:p>
            <a:pPr marL="0" indent="0">
              <a:buNone/>
            </a:pPr>
            <a:r>
              <a:rPr lang="en-US" sz="2600" dirty="0" smtClean="0"/>
              <a:t>A </a:t>
            </a:r>
            <a:r>
              <a:rPr lang="en-US" sz="2600" dirty="0"/>
              <a:t>simple user interface was created using </a:t>
            </a:r>
            <a:r>
              <a:rPr lang="en-US" sz="2600" dirty="0" err="1"/>
              <a:t>Streamlit</a:t>
            </a:r>
            <a:r>
              <a:rPr lang="en-US" sz="2600" dirty="0"/>
              <a:t> for real-time </a:t>
            </a:r>
            <a:r>
              <a:rPr lang="en-US" sz="2600" dirty="0" smtClean="0"/>
              <a:t>detection.</a:t>
            </a:r>
          </a:p>
          <a:p>
            <a:pPr marL="0" indent="0">
              <a:buNone/>
            </a:pPr>
            <a:r>
              <a:rPr lang="en-US" sz="2600" dirty="0" smtClean="0"/>
              <a:t>This </a:t>
            </a:r>
            <a:r>
              <a:rPr lang="en-US" sz="2600" dirty="0"/>
              <a:t>project helps improve </a:t>
            </a:r>
            <a:r>
              <a:rPr lang="en-US" sz="2600" dirty="0" err="1"/>
              <a:t>cybersecurity</a:t>
            </a:r>
            <a:r>
              <a:rPr lang="en-US" sz="2600" dirty="0"/>
              <a:t> awareness and protection against online </a:t>
            </a:r>
            <a:r>
              <a:rPr lang="en-US" sz="2600" dirty="0" smtClean="0"/>
              <a:t>threats.</a:t>
            </a:r>
          </a:p>
        </p:txBody>
      </p:sp>
      <p:sp>
        <p:nvSpPr>
          <p:cNvPr id="2" name="Content Placeholder 1"/>
          <p:cNvSpPr>
            <a:spLocks noGrp="1"/>
          </p:cNvSpPr>
          <p:nvPr>
            <p:ph sz="half" idx="1"/>
          </p:nvPr>
        </p:nvSpPr>
        <p:spPr/>
        <p:txBody>
          <a:bodyPr/>
          <a:lstStyle/>
          <a:p>
            <a:endParaRPr lang="en-US"/>
          </a:p>
        </p:txBody>
      </p:sp>
      <p:pic>
        <p:nvPicPr>
          <p:cNvPr id="2050" name="Picture 2" descr="Bad news for the SSL good-guys • O'Brien Media Website Desig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4373545"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1783085"/>
      </p:ext>
    </p:extLst>
  </p:cSld>
  <p:clrMapOvr>
    <a:masterClrMapping/>
  </p:clrMapOvr>
  <mc:AlternateContent xmlns:mc="http://schemas.openxmlformats.org/markup-compatibility/2006">
    <mc:Choice xmlns:p14="http://schemas.microsoft.com/office/powerpoint/2010/main" Requires="p14">
      <p:transition spd="slow">
        <p14:flash/>
      </p:transition>
    </mc:Choice>
    <mc:Fallback>
      <p:transition spd="slow">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1772436663"/>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par>
    </p:tnLst>
  </p:timing>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b385d60f68dd989dca1fdc827799d853">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911b479caf7b199da365455750e4572"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Status xmlns="71af3243-3dd4-4a8d-8c0d-dd76da1f02a5">Not started</Status>
  </documentManagement>
</p:properties>
</file>

<file path=customXml/itemProps1.xml><?xml version="1.0" encoding="utf-8"?>
<ds:datastoreItem xmlns:ds="http://schemas.openxmlformats.org/officeDocument/2006/customXml" ds:itemID="{03199E8A-3253-45E5-B33A-F34129B7AA2B}">
  <ds:schemaRefs>
    <ds:schemaRef ds:uri="http://schemas.microsoft.com/sharepoint/v3/contenttype/forms"/>
  </ds:schemaRefs>
</ds:datastoreItem>
</file>

<file path=customXml/itemProps2.xml><?xml version="1.0" encoding="utf-8"?>
<ds:datastoreItem xmlns:ds="http://schemas.openxmlformats.org/officeDocument/2006/customXml" ds:itemID="{7FAD4C99-7793-446D-B40E-9C65086CB83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6722C5-B529-4491-808D-2D5A0D242BA3}">
  <ds:schemaRef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16c05727-aa75-4e4a-9b5f-8a80a1165891"/>
    <ds:schemaRef ds:uri="71af3243-3dd4-4a8d-8c0d-dd76da1f02a5"/>
    <ds:schemaRef ds:uri="http://www.w3.org/XML/1998/namespace"/>
    <ds:schemaRef ds:uri="http://purl.org/dc/dcmitype/"/>
  </ds:schemaRefs>
</ds:datastoreItem>
</file>

<file path=docProps/app.xml><?xml version="1.0" encoding="utf-8"?>
<Properties xmlns="http://schemas.openxmlformats.org/officeDocument/2006/extended-properties" xmlns:vt="http://schemas.openxmlformats.org/officeDocument/2006/docPropsVTypes">
  <Template>Travel design</Template>
  <TotalTime>0</TotalTime>
  <Words>412</Words>
  <Application>Microsoft Office PowerPoint</Application>
  <PresentationFormat>Widescreen</PresentationFormat>
  <Paragraphs>47</Paragraphs>
  <Slides>9</Slides>
  <Notes>6</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Arial</vt:lpstr>
      <vt:lpstr>Arial Black</vt:lpstr>
      <vt:lpstr>Bahnschrift Light Condensed</vt:lpstr>
      <vt:lpstr>Bahnschrift SemiLight</vt:lpstr>
      <vt:lpstr>Calibri</vt:lpstr>
      <vt:lpstr>Franklin Gothic Book</vt:lpstr>
      <vt:lpstr>Crop</vt:lpstr>
      <vt:lpstr>🔐 Phishing URL Detection using Machine Learning Fake or Safe? Let AI Decide</vt:lpstr>
      <vt:lpstr>PowerPoint Presentation</vt:lpstr>
      <vt:lpstr>PowerPoint Presentation</vt:lpstr>
      <vt:lpstr>PowerPoint Presentation</vt:lpstr>
      <vt:lpstr>Algorithm Used :</vt:lpstr>
      <vt:lpstr>PowerPoint Presentation</vt:lpstr>
      <vt:lpstr>Future Scope :</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2026-04-03T07:00:10Z</dcterms:created>
  <dcterms:modified xsi:type="dcterms:W3CDTF">2026-04-05T15:55:53Z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