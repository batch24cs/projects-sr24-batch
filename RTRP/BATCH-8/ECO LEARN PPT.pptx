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Puimek Font TH" panose="020B0604020202020204" charset="-34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10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422958" y="8684250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0" y="1402701"/>
                </a:moveTo>
                <a:lnTo>
                  <a:pt x="2191721" y="1402701"/>
                </a:lnTo>
                <a:lnTo>
                  <a:pt x="2191721" y="0"/>
                </a:lnTo>
                <a:lnTo>
                  <a:pt x="0" y="0"/>
                </a:lnTo>
                <a:lnTo>
                  <a:pt x="0" y="14027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73321" y="200049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2191721" y="0"/>
                </a:moveTo>
                <a:lnTo>
                  <a:pt x="0" y="0"/>
                </a:lnTo>
                <a:lnTo>
                  <a:pt x="0" y="1402701"/>
                </a:lnTo>
                <a:lnTo>
                  <a:pt x="2191721" y="1402701"/>
                </a:lnTo>
                <a:lnTo>
                  <a:pt x="219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67066" y="304800"/>
            <a:ext cx="8577196" cy="1120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84"/>
              </a:lnSpc>
            </a:pPr>
            <a:r>
              <a:rPr lang="en-US" sz="9400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Introduction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6400" y="1425098"/>
            <a:ext cx="14478000" cy="1648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587"/>
              </a:lnSpc>
              <a:spcBef>
                <a:spcPct val="0"/>
              </a:spcBef>
            </a:pPr>
            <a:r>
              <a:rPr lang="en-US" sz="9705" dirty="0" err="1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EcoLearn</a:t>
            </a:r>
            <a:r>
              <a:rPr lang="en-US" sz="9705" dirty="0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platform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2736DCC-16D3-6A2F-E2CD-8CD26328E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543300"/>
            <a:ext cx="13639800" cy="49598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                                    </a:t>
            </a:r>
            <a:r>
              <a:rPr lang="en-IN" sz="4400" b="1" dirty="0"/>
              <a:t>Real Time Research Project    </a:t>
            </a:r>
            <a:br>
              <a:rPr lang="en-IN" dirty="0"/>
            </a:b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Presented By:    Mohammed Arquam Khan (211)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Mohammed Waleed Ahmed(220)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Mohammed Anas Siddique(206)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Sandeep                                   (205)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G. Pavan                                  (LE-206)</a:t>
            </a:r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398298" y="8684250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0" y="1402701"/>
                </a:moveTo>
                <a:lnTo>
                  <a:pt x="2191721" y="1402701"/>
                </a:lnTo>
                <a:lnTo>
                  <a:pt x="2191721" y="0"/>
                </a:lnTo>
                <a:lnTo>
                  <a:pt x="0" y="0"/>
                </a:lnTo>
                <a:lnTo>
                  <a:pt x="0" y="14027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73321" y="200049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2191721" y="0"/>
                </a:moveTo>
                <a:lnTo>
                  <a:pt x="0" y="0"/>
                </a:lnTo>
                <a:lnTo>
                  <a:pt x="0" y="1402701"/>
                </a:lnTo>
                <a:lnTo>
                  <a:pt x="2191721" y="1402701"/>
                </a:lnTo>
                <a:lnTo>
                  <a:pt x="219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3369" y="634194"/>
            <a:ext cx="1179405" cy="723339"/>
          </a:xfrm>
          <a:custGeom>
            <a:avLst/>
            <a:gdLst/>
            <a:ahLst/>
            <a:cxnLst/>
            <a:rect l="l" t="t" r="r" b="b"/>
            <a:pathLst>
              <a:path w="1179405" h="723339">
                <a:moveTo>
                  <a:pt x="0" y="0"/>
                </a:moveTo>
                <a:lnTo>
                  <a:pt x="1179406" y="0"/>
                </a:lnTo>
                <a:lnTo>
                  <a:pt x="1179406" y="723339"/>
                </a:lnTo>
                <a:lnTo>
                  <a:pt x="0" y="723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63242" y="1602750"/>
            <a:ext cx="930917" cy="570939"/>
          </a:xfrm>
          <a:custGeom>
            <a:avLst/>
            <a:gdLst/>
            <a:ahLst/>
            <a:cxnLst/>
            <a:rect l="l" t="t" r="r" b="b"/>
            <a:pathLst>
              <a:path w="930917" h="570939">
                <a:moveTo>
                  <a:pt x="0" y="0"/>
                </a:moveTo>
                <a:lnTo>
                  <a:pt x="930916" y="0"/>
                </a:lnTo>
                <a:lnTo>
                  <a:pt x="930916" y="570939"/>
                </a:lnTo>
                <a:lnTo>
                  <a:pt x="0" y="570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732718" y="294501"/>
            <a:ext cx="6822563" cy="170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0"/>
              </a:lnSpc>
            </a:pPr>
            <a:r>
              <a:rPr lang="en-US" sz="7477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87691" y="2359320"/>
            <a:ext cx="17112617" cy="702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Environmental education is often limited to textbooks without real-life connection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Students do not learn about environmental issues in their own local communities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Lack of practical understanding of how daily actions impact the environment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Limited availability of engaging and interactive learning tools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Students struggle to develop eco-friendly habits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Difficulty in seeing the real impact of their choices on the environment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Low interest among youth in environmental protection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Minimal participation in local environmental projects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Traditional teaching methods fail to inspire long-term behavioral change</a:t>
            </a:r>
          </a:p>
          <a:p>
            <a:pPr marL="787383" lvl="1" indent="-393692" algn="l">
              <a:lnSpc>
                <a:spcPts val="5105"/>
              </a:lnSpc>
              <a:buFont typeface="Arial"/>
              <a:buChar char="•"/>
            </a:pPr>
            <a:r>
              <a:rPr lang="en-US" sz="3646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Lack of active involvement in solving real environmental problems</a:t>
            </a:r>
          </a:p>
          <a:p>
            <a:pPr algn="l">
              <a:lnSpc>
                <a:spcPts val="5105"/>
              </a:lnSpc>
              <a:spcBef>
                <a:spcPct val="0"/>
              </a:spcBef>
            </a:pPr>
            <a:endParaRPr lang="en-US" sz="3646">
              <a:solidFill>
                <a:srgbClr val="000000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422958" y="8684250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0" y="1402701"/>
                </a:moveTo>
                <a:lnTo>
                  <a:pt x="2191721" y="1402701"/>
                </a:lnTo>
                <a:lnTo>
                  <a:pt x="2191721" y="0"/>
                </a:lnTo>
                <a:lnTo>
                  <a:pt x="0" y="0"/>
                </a:lnTo>
                <a:lnTo>
                  <a:pt x="0" y="14027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73321" y="200049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2191721" y="0"/>
                </a:moveTo>
                <a:lnTo>
                  <a:pt x="0" y="0"/>
                </a:lnTo>
                <a:lnTo>
                  <a:pt x="0" y="1402701"/>
                </a:lnTo>
                <a:lnTo>
                  <a:pt x="2191721" y="1402701"/>
                </a:lnTo>
                <a:lnTo>
                  <a:pt x="219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3571" y="1754826"/>
            <a:ext cx="15595611" cy="8709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2"/>
              </a:lnSpc>
              <a:spcBef>
                <a:spcPct val="0"/>
              </a:spcBef>
            </a:pPr>
            <a:r>
              <a:rPr lang="en-US" sz="5494">
                <a:solidFill>
                  <a:srgbClr val="254976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🌱 </a:t>
            </a:r>
            <a:r>
              <a:rPr lang="en-US" sz="5494">
                <a:solidFill>
                  <a:srgbClr val="00BF63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Environment Game – Tech Stack Overview </a:t>
            </a:r>
          </a:p>
          <a:p>
            <a:pPr algn="ctr">
              <a:lnSpc>
                <a:spcPts val="7692"/>
              </a:lnSpc>
              <a:spcBef>
                <a:spcPct val="0"/>
              </a:spcBef>
            </a:pPr>
            <a:endParaRPr lang="en-US" sz="5494">
              <a:solidFill>
                <a:srgbClr val="00BF63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  <a:p>
            <a:pPr algn="ctr">
              <a:lnSpc>
                <a:spcPts val="7692"/>
              </a:lnSpc>
              <a:spcBef>
                <a:spcPct val="0"/>
              </a:spcBef>
            </a:pPr>
            <a:r>
              <a:rPr lang="en-US" sz="5494">
                <a:solidFill>
                  <a:srgbClr val="254976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  A gamified mobile/web platform designed to teach environmental concepts,  games, challenges, and real-world activities.</a:t>
            </a:r>
          </a:p>
          <a:p>
            <a:pPr algn="ctr">
              <a:lnSpc>
                <a:spcPts val="7692"/>
              </a:lnSpc>
              <a:spcBef>
                <a:spcPct val="0"/>
              </a:spcBef>
            </a:pPr>
            <a:r>
              <a:rPr lang="en-US" sz="5494">
                <a:solidFill>
                  <a:srgbClr val="254976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Focuses on interactive, engaging, and experiential learning instead of traditional rote memorization.</a:t>
            </a:r>
          </a:p>
          <a:p>
            <a:pPr algn="ctr">
              <a:lnSpc>
                <a:spcPts val="7692"/>
              </a:lnSpc>
              <a:spcBef>
                <a:spcPct val="0"/>
              </a:spcBef>
            </a:pPr>
            <a:endParaRPr lang="en-US" sz="5494">
              <a:solidFill>
                <a:srgbClr val="254976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  <a:p>
            <a:pPr algn="ctr">
              <a:lnSpc>
                <a:spcPts val="7692"/>
              </a:lnSpc>
              <a:spcBef>
                <a:spcPct val="0"/>
              </a:spcBef>
            </a:pPr>
            <a:endParaRPr lang="en-US" sz="5494">
              <a:solidFill>
                <a:srgbClr val="254976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0" y="3918167"/>
            <a:ext cx="1218633" cy="702126"/>
            <a:chOff x="0" y="0"/>
            <a:chExt cx="812800" cy="4683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468301"/>
            </a:xfrm>
            <a:custGeom>
              <a:avLst/>
              <a:gdLst/>
              <a:ahLst/>
              <a:cxnLst/>
              <a:rect l="l" t="t" r="r" b="b"/>
              <a:pathLst>
                <a:path w="812800" h="468301">
                  <a:moveTo>
                    <a:pt x="812800" y="23415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65101"/>
                  </a:lnTo>
                  <a:lnTo>
                    <a:pt x="406400" y="265101"/>
                  </a:lnTo>
                  <a:lnTo>
                    <a:pt x="406400" y="468301"/>
                  </a:lnTo>
                  <a:lnTo>
                    <a:pt x="812800" y="234151"/>
                  </a:lnTo>
                  <a:close/>
                </a:path>
              </a:pathLst>
            </a:custGeom>
            <a:solidFill>
              <a:srgbClr val="25497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165100"/>
              <a:ext cx="711200" cy="100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86285" y="314325"/>
            <a:ext cx="11251651" cy="114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9628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proposed solution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0" y="6773805"/>
            <a:ext cx="1218633" cy="702126"/>
            <a:chOff x="0" y="0"/>
            <a:chExt cx="812800" cy="4683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468301"/>
            </a:xfrm>
            <a:custGeom>
              <a:avLst/>
              <a:gdLst/>
              <a:ahLst/>
              <a:cxnLst/>
              <a:rect l="l" t="t" r="r" b="b"/>
              <a:pathLst>
                <a:path w="812800" h="468301">
                  <a:moveTo>
                    <a:pt x="812800" y="234151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65101"/>
                  </a:lnTo>
                  <a:lnTo>
                    <a:pt x="406400" y="265101"/>
                  </a:lnTo>
                  <a:lnTo>
                    <a:pt x="406400" y="468301"/>
                  </a:lnTo>
                  <a:lnTo>
                    <a:pt x="812800" y="234151"/>
                  </a:lnTo>
                  <a:close/>
                </a:path>
              </a:pathLst>
            </a:custGeom>
            <a:solidFill>
              <a:srgbClr val="25497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165100"/>
              <a:ext cx="711200" cy="100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49374"/>
            <a:ext cx="16794950" cy="8442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3"/>
              </a:lnSpc>
              <a:spcBef>
                <a:spcPct val="0"/>
              </a:spcBef>
            </a:pPr>
            <a:r>
              <a:rPr lang="en-US" sz="4381" u="sng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uimek Font TH"/>
                <a:ea typeface="Puimek Font TH"/>
                <a:cs typeface="Puimek Font TH"/>
                <a:sym typeface="Puimek Font TH"/>
              </a:rPr>
              <a:t>Encourages students to take practical eco-friendly actions such as:</a:t>
            </a:r>
          </a:p>
          <a:p>
            <a:pPr marL="945887" lvl="1" indent="-472943" algn="l">
              <a:lnSpc>
                <a:spcPts val="6133"/>
              </a:lnSpc>
              <a:buFont typeface="Arial"/>
              <a:buChar char="•"/>
            </a:pPr>
            <a:r>
              <a:rPr lang="en-US" sz="438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uimek Font TH"/>
                <a:ea typeface="Puimek Font TH"/>
                <a:cs typeface="Puimek Font TH"/>
                <a:sym typeface="Puimek Font TH"/>
              </a:rPr>
              <a:t>Tree planting</a:t>
            </a:r>
          </a:p>
          <a:p>
            <a:pPr marL="945887" lvl="1" indent="-472943" algn="l">
              <a:lnSpc>
                <a:spcPts val="6133"/>
              </a:lnSpc>
              <a:buFont typeface="Arial"/>
              <a:buChar char="•"/>
            </a:pPr>
            <a:r>
              <a:rPr lang="en-US" sz="438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uimek Font TH"/>
                <a:ea typeface="Puimek Font TH"/>
                <a:cs typeface="Puimek Font TH"/>
                <a:sym typeface="Puimek Font TH"/>
              </a:rPr>
              <a:t>Waste segregation</a:t>
            </a:r>
          </a:p>
          <a:p>
            <a:pPr marL="924297" lvl="1" indent="-462149" algn="l">
              <a:lnSpc>
                <a:spcPts val="5993"/>
              </a:lnSpc>
              <a:buFont typeface="Arial"/>
              <a:buChar char="•"/>
            </a:pPr>
            <a:r>
              <a:rPr lang="en-US" sz="4281">
                <a:gradFill>
                  <a:gsLst>
                    <a:gs pos="0">
                      <a:srgbClr val="5170FF">
                        <a:alpha val="100000"/>
                      </a:srgbClr>
                    </a:gs>
                    <a:gs pos="100000">
                      <a:srgbClr val="FF66C4">
                        <a:alpha val="100000"/>
                      </a:srgbClr>
                    </a:gs>
                  </a:gsLst>
                  <a:lin ang="0"/>
                </a:gradFill>
                <a:latin typeface="Puimek Font TH"/>
                <a:ea typeface="Puimek Font TH"/>
                <a:cs typeface="Puimek Font TH"/>
                <a:sym typeface="Puimek Font TH"/>
              </a:rPr>
              <a:t>Energy conservation</a:t>
            </a:r>
          </a:p>
          <a:p>
            <a:pPr algn="ctr">
              <a:lnSpc>
                <a:spcPts val="6133"/>
              </a:lnSpc>
              <a:spcBef>
                <a:spcPct val="0"/>
              </a:spcBef>
            </a:pPr>
            <a:r>
              <a:rPr lang="en-US" sz="4381" u="sng">
                <a:solidFill>
                  <a:srgbClr val="8C52FF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Integrates a tracking systemincluding:</a:t>
            </a:r>
          </a:p>
          <a:p>
            <a:pPr marL="945642" lvl="1" indent="-472821" algn="l">
              <a:lnSpc>
                <a:spcPts val="6131"/>
              </a:lnSpc>
              <a:buFont typeface="Arial"/>
              <a:buChar char="•"/>
            </a:pPr>
            <a:r>
              <a:rPr lang="en-US" sz="4380">
                <a:solidFill>
                  <a:srgbClr val="8C52FF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Eco-points</a:t>
            </a:r>
          </a:p>
          <a:p>
            <a:pPr marL="945887" lvl="1" indent="-472943" algn="l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8C52FF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Badges</a:t>
            </a:r>
          </a:p>
          <a:p>
            <a:pPr marL="945887" lvl="1" indent="-472943" algn="l">
              <a:lnSpc>
                <a:spcPts val="6133"/>
              </a:lnSpc>
              <a:buFont typeface="Arial"/>
              <a:buChar char="•"/>
            </a:pPr>
            <a:r>
              <a:rPr lang="en-US" sz="4381">
                <a:solidFill>
                  <a:srgbClr val="8C52FF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Rewards</a:t>
            </a:r>
          </a:p>
          <a:p>
            <a:pPr algn="ctr">
              <a:lnSpc>
                <a:spcPts val="6133"/>
              </a:lnSpc>
            </a:pPr>
            <a:r>
              <a:rPr lang="en-US" sz="4381">
                <a:solidFill>
                  <a:srgbClr val="8C52FF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</a:t>
            </a:r>
            <a:r>
              <a:rPr lang="en-US" sz="4381">
                <a:solidFill>
                  <a:srgbClr val="FFCC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To motivate continuous participation.</a:t>
            </a:r>
          </a:p>
          <a:p>
            <a:pPr algn="ctr">
              <a:lnSpc>
                <a:spcPts val="6133"/>
              </a:lnSpc>
            </a:pPr>
            <a:r>
              <a:rPr lang="en-US" sz="4381">
                <a:solidFill>
                  <a:srgbClr val="FFCC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Designed to create a ripple effect, where:Students influence families</a:t>
            </a:r>
          </a:p>
          <a:p>
            <a:pPr algn="ctr">
              <a:lnSpc>
                <a:spcPts val="6133"/>
              </a:lnSpc>
              <a:spcBef>
                <a:spcPct val="0"/>
              </a:spcBef>
            </a:pPr>
            <a:endParaRPr lang="en-US" sz="4381">
              <a:solidFill>
                <a:srgbClr val="FFCC00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87582" y="1436315"/>
            <a:ext cx="841118" cy="464793"/>
            <a:chOff x="0" y="0"/>
            <a:chExt cx="812800" cy="44914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449145"/>
            </a:xfrm>
            <a:custGeom>
              <a:avLst/>
              <a:gdLst/>
              <a:ahLst/>
              <a:cxnLst/>
              <a:rect l="l" t="t" r="r" b="b"/>
              <a:pathLst>
                <a:path w="812800" h="449145">
                  <a:moveTo>
                    <a:pt x="812800" y="22457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45945"/>
                  </a:lnTo>
                  <a:lnTo>
                    <a:pt x="406400" y="245945"/>
                  </a:lnTo>
                  <a:lnTo>
                    <a:pt x="406400" y="449145"/>
                  </a:lnTo>
                  <a:lnTo>
                    <a:pt x="812800" y="224572"/>
                  </a:lnTo>
                  <a:close/>
                </a:path>
              </a:pathLst>
            </a:custGeom>
            <a:solidFill>
              <a:srgbClr val="25497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165100"/>
              <a:ext cx="711200" cy="808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7582" y="4420419"/>
            <a:ext cx="841118" cy="464793"/>
            <a:chOff x="0" y="0"/>
            <a:chExt cx="812800" cy="4491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449145"/>
            </a:xfrm>
            <a:custGeom>
              <a:avLst/>
              <a:gdLst/>
              <a:ahLst/>
              <a:cxnLst/>
              <a:rect l="l" t="t" r="r" b="b"/>
              <a:pathLst>
                <a:path w="812800" h="449145">
                  <a:moveTo>
                    <a:pt x="812800" y="224572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245945"/>
                  </a:lnTo>
                  <a:lnTo>
                    <a:pt x="406400" y="245945"/>
                  </a:lnTo>
                  <a:lnTo>
                    <a:pt x="406400" y="449145"/>
                  </a:lnTo>
                  <a:lnTo>
                    <a:pt x="812800" y="224572"/>
                  </a:lnTo>
                  <a:close/>
                </a:path>
              </a:pathLst>
            </a:custGeom>
            <a:solidFill>
              <a:srgbClr val="25497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165100"/>
              <a:ext cx="711200" cy="808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518175" y="85935"/>
            <a:ext cx="11251651" cy="114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80"/>
              </a:lnSpc>
            </a:pPr>
            <a:r>
              <a:rPr lang="en-US" sz="9628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422958" y="8684250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0" y="1402701"/>
                </a:moveTo>
                <a:lnTo>
                  <a:pt x="2191721" y="1402701"/>
                </a:lnTo>
                <a:lnTo>
                  <a:pt x="2191721" y="0"/>
                </a:lnTo>
                <a:lnTo>
                  <a:pt x="0" y="0"/>
                </a:lnTo>
                <a:lnTo>
                  <a:pt x="0" y="14027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73321" y="200049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2191721" y="0"/>
                </a:moveTo>
                <a:lnTo>
                  <a:pt x="0" y="0"/>
                </a:lnTo>
                <a:lnTo>
                  <a:pt x="0" y="1402701"/>
                </a:lnTo>
                <a:lnTo>
                  <a:pt x="2191721" y="1402701"/>
                </a:lnTo>
                <a:lnTo>
                  <a:pt x="219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3369" y="634194"/>
            <a:ext cx="1179405" cy="723339"/>
          </a:xfrm>
          <a:custGeom>
            <a:avLst/>
            <a:gdLst/>
            <a:ahLst/>
            <a:cxnLst/>
            <a:rect l="l" t="t" r="r" b="b"/>
            <a:pathLst>
              <a:path w="1179405" h="723339">
                <a:moveTo>
                  <a:pt x="0" y="0"/>
                </a:moveTo>
                <a:lnTo>
                  <a:pt x="1179406" y="0"/>
                </a:lnTo>
                <a:lnTo>
                  <a:pt x="1179406" y="723339"/>
                </a:lnTo>
                <a:lnTo>
                  <a:pt x="0" y="723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425225" y="8929467"/>
            <a:ext cx="1179405" cy="723339"/>
          </a:xfrm>
          <a:custGeom>
            <a:avLst/>
            <a:gdLst/>
            <a:ahLst/>
            <a:cxnLst/>
            <a:rect l="l" t="t" r="r" b="b"/>
            <a:pathLst>
              <a:path w="1179405" h="723339">
                <a:moveTo>
                  <a:pt x="1179406" y="0"/>
                </a:moveTo>
                <a:lnTo>
                  <a:pt x="0" y="0"/>
                </a:lnTo>
                <a:lnTo>
                  <a:pt x="0" y="723339"/>
                </a:lnTo>
                <a:lnTo>
                  <a:pt x="1179406" y="723339"/>
                </a:lnTo>
                <a:lnTo>
                  <a:pt x="11794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3242" y="1602750"/>
            <a:ext cx="930917" cy="570939"/>
          </a:xfrm>
          <a:custGeom>
            <a:avLst/>
            <a:gdLst/>
            <a:ahLst/>
            <a:cxnLst/>
            <a:rect l="l" t="t" r="r" b="b"/>
            <a:pathLst>
              <a:path w="930917" h="570939">
                <a:moveTo>
                  <a:pt x="0" y="0"/>
                </a:moveTo>
                <a:lnTo>
                  <a:pt x="930916" y="0"/>
                </a:lnTo>
                <a:lnTo>
                  <a:pt x="930916" y="570939"/>
                </a:lnTo>
                <a:lnTo>
                  <a:pt x="0" y="570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93842" y="8113311"/>
            <a:ext cx="930917" cy="570939"/>
          </a:xfrm>
          <a:custGeom>
            <a:avLst/>
            <a:gdLst/>
            <a:ahLst/>
            <a:cxnLst/>
            <a:rect l="l" t="t" r="r" b="b"/>
            <a:pathLst>
              <a:path w="930917" h="570939">
                <a:moveTo>
                  <a:pt x="930916" y="0"/>
                </a:moveTo>
                <a:lnTo>
                  <a:pt x="0" y="0"/>
                </a:lnTo>
                <a:lnTo>
                  <a:pt x="0" y="570939"/>
                </a:lnTo>
                <a:lnTo>
                  <a:pt x="930916" y="570939"/>
                </a:lnTo>
                <a:lnTo>
                  <a:pt x="93091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63242" y="2345139"/>
            <a:ext cx="17442084" cy="555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5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6165"/>
              </a:lnSpc>
              <a:spcBef>
                <a:spcPct val="0"/>
              </a:spcBef>
            </a:pPr>
            <a:r>
              <a:rPr lang="en-US" sz="4404">
                <a:solidFill>
                  <a:srgbClr val="FF66C4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Digital learning ,Experiential learning, Skill-based education</a:t>
            </a:r>
          </a:p>
          <a:p>
            <a:pPr algn="ctr">
              <a:lnSpc>
                <a:spcPts val="5465"/>
              </a:lnSpc>
              <a:spcBef>
                <a:spcPct val="0"/>
              </a:spcBef>
            </a:pPr>
            <a:r>
              <a:rPr lang="en-US" sz="3904">
                <a:solidFill>
                  <a:srgbClr val="FFCC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Aligns with Sustainable Development Goals (SDGs):</a:t>
            </a:r>
          </a:p>
          <a:p>
            <a:pPr algn="ctr">
              <a:lnSpc>
                <a:spcPts val="5465"/>
              </a:lnSpc>
              <a:spcBef>
                <a:spcPct val="0"/>
              </a:spcBef>
            </a:pPr>
            <a:r>
              <a:rPr lang="en-US" sz="3904">
                <a:solidFill>
                  <a:srgbClr val="FFCC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Goal 13: Climate Action</a:t>
            </a:r>
          </a:p>
          <a:p>
            <a:pPr algn="ctr">
              <a:lnSpc>
                <a:spcPts val="5465"/>
              </a:lnSpc>
              <a:spcBef>
                <a:spcPct val="0"/>
              </a:spcBef>
            </a:pPr>
            <a:r>
              <a:rPr lang="en-US" sz="3904">
                <a:solidFill>
                  <a:srgbClr val="FFCC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Goal 15: Life on Land</a:t>
            </a:r>
          </a:p>
          <a:p>
            <a:pPr algn="ctr">
              <a:lnSpc>
                <a:spcPts val="5465"/>
              </a:lnSpc>
              <a:spcBef>
                <a:spcPct val="0"/>
              </a:spcBef>
            </a:pPr>
            <a:r>
              <a:rPr lang="en-US" sz="39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Bridges the gap between education and real-world action, creating responsible and eco-conscious citizens.</a:t>
            </a:r>
          </a:p>
          <a:p>
            <a:pPr algn="ctr">
              <a:lnSpc>
                <a:spcPts val="5465"/>
              </a:lnSpc>
              <a:spcBef>
                <a:spcPct val="0"/>
              </a:spcBef>
            </a:pPr>
            <a:r>
              <a:rPr lang="en-US" sz="39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Promotes a culture of green challenges among schools and colleges.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6427" y="352569"/>
            <a:ext cx="12155147" cy="1821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</a:pPr>
            <a:r>
              <a:rPr lang="en-US" sz="7968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Supports India’s NEP 2020 goals of: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94703"/>
          </a:xfrm>
          <a:custGeom>
            <a:avLst/>
            <a:gdLst/>
            <a:ahLst/>
            <a:cxnLst/>
            <a:rect l="l" t="t" r="r" b="b"/>
            <a:pathLst>
              <a:path w="18288000" h="10494703">
                <a:moveTo>
                  <a:pt x="0" y="0"/>
                </a:moveTo>
                <a:lnTo>
                  <a:pt x="18288000" y="0"/>
                </a:lnTo>
                <a:lnTo>
                  <a:pt x="18288000" y="10494703"/>
                </a:lnTo>
                <a:lnTo>
                  <a:pt x="0" y="10494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6" t="-18781" r="-783"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422958" y="8684250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0" y="1402701"/>
                </a:moveTo>
                <a:lnTo>
                  <a:pt x="2191721" y="1402701"/>
                </a:lnTo>
                <a:lnTo>
                  <a:pt x="2191721" y="0"/>
                </a:lnTo>
                <a:lnTo>
                  <a:pt x="0" y="0"/>
                </a:lnTo>
                <a:lnTo>
                  <a:pt x="0" y="14027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73321" y="200049"/>
            <a:ext cx="2191721" cy="1402701"/>
          </a:xfrm>
          <a:custGeom>
            <a:avLst/>
            <a:gdLst/>
            <a:ahLst/>
            <a:cxnLst/>
            <a:rect l="l" t="t" r="r" b="b"/>
            <a:pathLst>
              <a:path w="2191721" h="1402701">
                <a:moveTo>
                  <a:pt x="2191721" y="0"/>
                </a:moveTo>
                <a:lnTo>
                  <a:pt x="0" y="0"/>
                </a:lnTo>
                <a:lnTo>
                  <a:pt x="0" y="1402701"/>
                </a:lnTo>
                <a:lnTo>
                  <a:pt x="2191721" y="1402701"/>
                </a:lnTo>
                <a:lnTo>
                  <a:pt x="219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83369" y="634194"/>
            <a:ext cx="1179405" cy="723339"/>
          </a:xfrm>
          <a:custGeom>
            <a:avLst/>
            <a:gdLst/>
            <a:ahLst/>
            <a:cxnLst/>
            <a:rect l="l" t="t" r="r" b="b"/>
            <a:pathLst>
              <a:path w="1179405" h="723339">
                <a:moveTo>
                  <a:pt x="0" y="0"/>
                </a:moveTo>
                <a:lnTo>
                  <a:pt x="1179406" y="0"/>
                </a:lnTo>
                <a:lnTo>
                  <a:pt x="1179406" y="723339"/>
                </a:lnTo>
                <a:lnTo>
                  <a:pt x="0" y="7233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609533" y="8929467"/>
            <a:ext cx="1179405" cy="723339"/>
          </a:xfrm>
          <a:custGeom>
            <a:avLst/>
            <a:gdLst/>
            <a:ahLst/>
            <a:cxnLst/>
            <a:rect l="l" t="t" r="r" b="b"/>
            <a:pathLst>
              <a:path w="1179405" h="723339">
                <a:moveTo>
                  <a:pt x="1179406" y="0"/>
                </a:moveTo>
                <a:lnTo>
                  <a:pt x="0" y="0"/>
                </a:lnTo>
                <a:lnTo>
                  <a:pt x="0" y="723339"/>
                </a:lnTo>
                <a:lnTo>
                  <a:pt x="1179406" y="723339"/>
                </a:lnTo>
                <a:lnTo>
                  <a:pt x="117940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3242" y="1602750"/>
            <a:ext cx="930917" cy="570939"/>
          </a:xfrm>
          <a:custGeom>
            <a:avLst/>
            <a:gdLst/>
            <a:ahLst/>
            <a:cxnLst/>
            <a:rect l="l" t="t" r="r" b="b"/>
            <a:pathLst>
              <a:path w="930917" h="570939">
                <a:moveTo>
                  <a:pt x="0" y="0"/>
                </a:moveTo>
                <a:lnTo>
                  <a:pt x="930916" y="0"/>
                </a:lnTo>
                <a:lnTo>
                  <a:pt x="930916" y="570939"/>
                </a:lnTo>
                <a:lnTo>
                  <a:pt x="0" y="570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978150" y="8113311"/>
            <a:ext cx="930917" cy="570939"/>
          </a:xfrm>
          <a:custGeom>
            <a:avLst/>
            <a:gdLst/>
            <a:ahLst/>
            <a:cxnLst/>
            <a:rect l="l" t="t" r="r" b="b"/>
            <a:pathLst>
              <a:path w="930917" h="570939">
                <a:moveTo>
                  <a:pt x="930917" y="0"/>
                </a:moveTo>
                <a:lnTo>
                  <a:pt x="0" y="0"/>
                </a:lnTo>
                <a:lnTo>
                  <a:pt x="0" y="570939"/>
                </a:lnTo>
                <a:lnTo>
                  <a:pt x="930917" y="570939"/>
                </a:lnTo>
                <a:lnTo>
                  <a:pt x="9309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22958" y="2217191"/>
            <a:ext cx="17865042" cy="6168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• It encourages students to take real-life eco-friendly actions, not just learn theory.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Gamification through points, badges, and rewards keeps students motivated and engaged.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Helps build long-term awareness and responsible habits towards the environment.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Creates a positive ripple effect by influencing families and communities.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Supports NEP 2020 goals like digital and experiential learning.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Aligns with Sustainable Development Goals (SDGs) such as Climate Action and Life on Land.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Bridges the gap between education and real-world environmental impact.</a:t>
            </a:r>
          </a:p>
          <a:p>
            <a:pPr marL="756527" lvl="1" indent="-378263" algn="l">
              <a:lnSpc>
                <a:spcPts val="4905"/>
              </a:lnSpc>
              <a:buFont typeface="Arial"/>
              <a:buChar char="•"/>
            </a:pPr>
            <a:r>
              <a:rPr lang="en-US" sz="3504">
                <a:solidFill>
                  <a:srgbClr val="000000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 • Contributes to creating eco-conscious and responsible citizens for the future.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66427" y="352569"/>
            <a:ext cx="12155147" cy="954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</a:pPr>
            <a:r>
              <a:rPr lang="en-US" sz="7968" u="sng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Conclusion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3D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74865" y="5444929"/>
            <a:ext cx="7171925" cy="7264381"/>
          </a:xfrm>
          <a:custGeom>
            <a:avLst/>
            <a:gdLst/>
            <a:ahLst/>
            <a:cxnLst/>
            <a:rect l="l" t="t" r="r" b="b"/>
            <a:pathLst>
              <a:path w="7171925" h="7264381">
                <a:moveTo>
                  <a:pt x="0" y="0"/>
                </a:moveTo>
                <a:lnTo>
                  <a:pt x="7171925" y="0"/>
                </a:lnTo>
                <a:lnTo>
                  <a:pt x="7171925" y="7264381"/>
                </a:lnTo>
                <a:lnTo>
                  <a:pt x="0" y="7264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262336">
            <a:off x="12809626" y="-2467922"/>
            <a:ext cx="6964668" cy="6711407"/>
          </a:xfrm>
          <a:custGeom>
            <a:avLst/>
            <a:gdLst/>
            <a:ahLst/>
            <a:cxnLst/>
            <a:rect l="l" t="t" r="r" b="b"/>
            <a:pathLst>
              <a:path w="6964668" h="6711407">
                <a:moveTo>
                  <a:pt x="0" y="0"/>
                </a:moveTo>
                <a:lnTo>
                  <a:pt x="6964667" y="0"/>
                </a:lnTo>
                <a:lnTo>
                  <a:pt x="6964667" y="6711407"/>
                </a:lnTo>
                <a:lnTo>
                  <a:pt x="0" y="67114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10598">
            <a:off x="14409374" y="7319245"/>
            <a:ext cx="3259072" cy="2429490"/>
          </a:xfrm>
          <a:custGeom>
            <a:avLst/>
            <a:gdLst/>
            <a:ahLst/>
            <a:cxnLst/>
            <a:rect l="l" t="t" r="r" b="b"/>
            <a:pathLst>
              <a:path w="3259072" h="2429490">
                <a:moveTo>
                  <a:pt x="0" y="0"/>
                </a:moveTo>
                <a:lnTo>
                  <a:pt x="3259073" y="0"/>
                </a:lnTo>
                <a:lnTo>
                  <a:pt x="3259073" y="2429491"/>
                </a:lnTo>
                <a:lnTo>
                  <a:pt x="0" y="2429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797555" y="887782"/>
            <a:ext cx="2262730" cy="2262730"/>
          </a:xfrm>
          <a:custGeom>
            <a:avLst/>
            <a:gdLst/>
            <a:ahLst/>
            <a:cxnLst/>
            <a:rect l="l" t="t" r="r" b="b"/>
            <a:pathLst>
              <a:path w="2262730" h="2262730">
                <a:moveTo>
                  <a:pt x="0" y="0"/>
                </a:moveTo>
                <a:lnTo>
                  <a:pt x="2262730" y="0"/>
                </a:lnTo>
                <a:lnTo>
                  <a:pt x="2262730" y="2262730"/>
                </a:lnTo>
                <a:lnTo>
                  <a:pt x="0" y="22627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70231" y="8182103"/>
            <a:ext cx="2796926" cy="1790032"/>
          </a:xfrm>
          <a:custGeom>
            <a:avLst/>
            <a:gdLst/>
            <a:ahLst/>
            <a:cxnLst/>
            <a:rect l="l" t="t" r="r" b="b"/>
            <a:pathLst>
              <a:path w="2796926" h="1790032">
                <a:moveTo>
                  <a:pt x="0" y="0"/>
                </a:moveTo>
                <a:lnTo>
                  <a:pt x="2796925" y="0"/>
                </a:lnTo>
                <a:lnTo>
                  <a:pt x="2796925" y="1790032"/>
                </a:lnTo>
                <a:lnTo>
                  <a:pt x="0" y="17900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8867156" y="261893"/>
            <a:ext cx="2796926" cy="1790032"/>
          </a:xfrm>
          <a:custGeom>
            <a:avLst/>
            <a:gdLst/>
            <a:ahLst/>
            <a:cxnLst/>
            <a:rect l="l" t="t" r="r" b="b"/>
            <a:pathLst>
              <a:path w="2796926" h="1790032">
                <a:moveTo>
                  <a:pt x="2796926" y="1790033"/>
                </a:moveTo>
                <a:lnTo>
                  <a:pt x="0" y="1790033"/>
                </a:lnTo>
                <a:lnTo>
                  <a:pt x="0" y="0"/>
                </a:lnTo>
                <a:lnTo>
                  <a:pt x="2796926" y="0"/>
                </a:lnTo>
                <a:lnTo>
                  <a:pt x="2796926" y="179003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48605" y="2722571"/>
            <a:ext cx="9590789" cy="5637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24"/>
              </a:lnSpc>
            </a:pPr>
            <a:r>
              <a:rPr lang="en-US" sz="16772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Thank</a:t>
            </a:r>
          </a:p>
          <a:p>
            <a:pPr algn="ctr">
              <a:lnSpc>
                <a:spcPts val="14424"/>
              </a:lnSpc>
            </a:pPr>
            <a:r>
              <a:rPr lang="en-US" sz="16772">
                <a:solidFill>
                  <a:srgbClr val="FF3131"/>
                </a:solidFill>
                <a:latin typeface="Puimek Font TH"/>
                <a:ea typeface="Puimek Font TH"/>
                <a:cs typeface="Puimek Font TH"/>
                <a:sym typeface="Puimek Font TH"/>
              </a:rPr>
              <a:t>You</a:t>
            </a:r>
          </a:p>
          <a:p>
            <a:pPr algn="ctr">
              <a:lnSpc>
                <a:spcPts val="14424"/>
              </a:lnSpc>
            </a:pPr>
            <a:endParaRPr lang="en-US" sz="16772">
              <a:solidFill>
                <a:srgbClr val="FF3131"/>
              </a:solidFill>
              <a:latin typeface="Puimek Font TH"/>
              <a:ea typeface="Puimek Font TH"/>
              <a:cs typeface="Puimek Font TH"/>
              <a:sym typeface="Puimek Font TH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797555" y="3870378"/>
            <a:ext cx="1393566" cy="854685"/>
          </a:xfrm>
          <a:custGeom>
            <a:avLst/>
            <a:gdLst/>
            <a:ahLst/>
            <a:cxnLst/>
            <a:rect l="l" t="t" r="r" b="b"/>
            <a:pathLst>
              <a:path w="1393566" h="854685">
                <a:moveTo>
                  <a:pt x="0" y="0"/>
                </a:moveTo>
                <a:lnTo>
                  <a:pt x="1393566" y="0"/>
                </a:lnTo>
                <a:lnTo>
                  <a:pt x="1393566" y="854685"/>
                </a:lnTo>
                <a:lnTo>
                  <a:pt x="0" y="85468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6038910" y="5605978"/>
            <a:ext cx="1393566" cy="854685"/>
          </a:xfrm>
          <a:custGeom>
            <a:avLst/>
            <a:gdLst/>
            <a:ahLst/>
            <a:cxnLst/>
            <a:rect l="l" t="t" r="r" b="b"/>
            <a:pathLst>
              <a:path w="1393566" h="854685">
                <a:moveTo>
                  <a:pt x="1393567" y="0"/>
                </a:moveTo>
                <a:lnTo>
                  <a:pt x="0" y="0"/>
                </a:lnTo>
                <a:lnTo>
                  <a:pt x="0" y="854685"/>
                </a:lnTo>
                <a:lnTo>
                  <a:pt x="1393567" y="854685"/>
                </a:lnTo>
                <a:lnTo>
                  <a:pt x="139356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401</Words>
  <Application>Microsoft Office PowerPoint</Application>
  <PresentationFormat>Custom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Puimek Font 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Illustrated Climate Change and Environment Presentation</dc:title>
  <dc:creator>Mohammed Ifteqar</dc:creator>
  <cp:lastModifiedBy>Mohammed Ifteqar Siddique</cp:lastModifiedBy>
  <cp:revision>3</cp:revision>
  <dcterms:created xsi:type="dcterms:W3CDTF">2006-08-16T00:00:00Z</dcterms:created>
  <dcterms:modified xsi:type="dcterms:W3CDTF">2026-05-04T05:48:16Z</dcterms:modified>
  <dc:identifier>DAHFc7Te548</dc:identifier>
</cp:coreProperties>
</file>