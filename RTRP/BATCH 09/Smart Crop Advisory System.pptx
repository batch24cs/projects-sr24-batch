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30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00" b="1" i="0">
                <a:solidFill>
                  <a:srgbClr val="185E1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1" i="0">
                <a:solidFill>
                  <a:srgbClr val="185E1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79" y="6745868"/>
            <a:ext cx="204182" cy="34710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79" y="2780020"/>
            <a:ext cx="227741" cy="348680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644" y="2787873"/>
            <a:ext cx="212035" cy="347109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6673" y="1947584"/>
            <a:ext cx="18313578" cy="7853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1" i="0">
                <a:solidFill>
                  <a:srgbClr val="185E1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1" i="0">
                <a:solidFill>
                  <a:srgbClr val="185E1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5877" y="803374"/>
            <a:ext cx="18292344" cy="1858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00" b="1" i="0">
                <a:solidFill>
                  <a:srgbClr val="185E1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8204" y="4550078"/>
            <a:ext cx="15037435" cy="4258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3.jp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jpg"/><Relationship Id="rId4" Type="http://schemas.openxmlformats.org/officeDocument/2006/relationships/image" Target="../media/image14.png"/><Relationship Id="rId9" Type="http://schemas.openxmlformats.org/officeDocument/2006/relationships/image" Target="../media/image1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59125" y="2624654"/>
            <a:ext cx="10295890" cy="1478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0" b="0" spc="170" dirty="0">
                <a:solidFill>
                  <a:srgbClr val="215B21"/>
                </a:solidFill>
                <a:latin typeface="Times New Roman"/>
                <a:cs typeface="Times New Roman"/>
              </a:rPr>
              <a:t>Smart</a:t>
            </a:r>
            <a:r>
              <a:rPr sz="9500" b="0" spc="-240" dirty="0">
                <a:solidFill>
                  <a:srgbClr val="215B21"/>
                </a:solidFill>
                <a:latin typeface="Times New Roman"/>
                <a:cs typeface="Times New Roman"/>
              </a:rPr>
              <a:t> </a:t>
            </a:r>
            <a:r>
              <a:rPr sz="9500" b="0" spc="-185" dirty="0">
                <a:solidFill>
                  <a:srgbClr val="1C5D1F"/>
                </a:solidFill>
                <a:latin typeface="Times New Roman"/>
                <a:cs typeface="Times New Roman"/>
              </a:rPr>
              <a:t>Crop</a:t>
            </a:r>
            <a:r>
              <a:rPr sz="9500" b="0" spc="-375" dirty="0">
                <a:solidFill>
                  <a:srgbClr val="1C5D1F"/>
                </a:solidFill>
                <a:latin typeface="Times New Roman"/>
                <a:cs typeface="Times New Roman"/>
              </a:rPr>
              <a:t> </a:t>
            </a:r>
            <a:r>
              <a:rPr sz="9500" b="0" spc="-55" dirty="0">
                <a:solidFill>
                  <a:srgbClr val="1C5D23"/>
                </a:solidFill>
                <a:latin typeface="Times New Roman"/>
                <a:cs typeface="Times New Roman"/>
              </a:rPr>
              <a:t>Advisory</a:t>
            </a:r>
            <a:endParaRPr sz="9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01471" y="3764017"/>
            <a:ext cx="13276580" cy="31324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49530" algn="ctr">
              <a:lnSpc>
                <a:spcPct val="100000"/>
              </a:lnSpc>
              <a:spcBef>
                <a:spcPts val="105"/>
              </a:spcBef>
            </a:pPr>
            <a:r>
              <a:rPr sz="9400" spc="114" dirty="0">
                <a:solidFill>
                  <a:srgbClr val="1F5B21"/>
                </a:solidFill>
                <a:latin typeface="Times New Roman"/>
                <a:cs typeface="Times New Roman"/>
              </a:rPr>
              <a:t>System</a:t>
            </a:r>
            <a:endParaRPr sz="9400">
              <a:latin typeface="Times New Roman"/>
              <a:cs typeface="Times New Roman"/>
            </a:endParaRPr>
          </a:p>
          <a:p>
            <a:pPr marL="12700" marR="5080" algn="ctr">
              <a:lnSpc>
                <a:spcPct val="121800"/>
              </a:lnSpc>
              <a:spcBef>
                <a:spcPts val="1920"/>
              </a:spcBef>
            </a:pPr>
            <a:r>
              <a:rPr sz="3850" dirty="0">
                <a:solidFill>
                  <a:srgbClr val="2B7C31"/>
                </a:solidFill>
                <a:latin typeface="Calibri"/>
                <a:cs typeface="Calibri"/>
              </a:rPr>
              <a:t>Empowering</a:t>
            </a:r>
            <a:r>
              <a:rPr sz="3850" spc="370" dirty="0">
                <a:solidFill>
                  <a:srgbClr val="2B7C31"/>
                </a:solidFill>
                <a:latin typeface="Calibri"/>
                <a:cs typeface="Calibri"/>
              </a:rPr>
              <a:t> </a:t>
            </a:r>
            <a:r>
              <a:rPr sz="3850" dirty="0">
                <a:solidFill>
                  <a:srgbClr val="337431"/>
                </a:solidFill>
                <a:latin typeface="Calibri"/>
                <a:cs typeface="Calibri"/>
              </a:rPr>
              <a:t>Small</a:t>
            </a:r>
            <a:r>
              <a:rPr sz="3850" spc="85" dirty="0">
                <a:solidFill>
                  <a:srgbClr val="337431"/>
                </a:solidFill>
                <a:latin typeface="Calibri"/>
                <a:cs typeface="Calibri"/>
              </a:rPr>
              <a:t> </a:t>
            </a:r>
            <a:r>
              <a:rPr sz="3850" spc="75" dirty="0">
                <a:solidFill>
                  <a:srgbClr val="28792D"/>
                </a:solidFill>
                <a:latin typeface="Calibri"/>
                <a:cs typeface="Calibri"/>
              </a:rPr>
              <a:t>and</a:t>
            </a:r>
            <a:r>
              <a:rPr sz="3850" spc="-60" dirty="0">
                <a:solidFill>
                  <a:srgbClr val="28792D"/>
                </a:solidFill>
                <a:latin typeface="Calibri"/>
                <a:cs typeface="Calibri"/>
              </a:rPr>
              <a:t> </a:t>
            </a:r>
            <a:r>
              <a:rPr sz="3850" dirty="0">
                <a:solidFill>
                  <a:srgbClr val="287E2D"/>
                </a:solidFill>
                <a:latin typeface="Calibri"/>
                <a:cs typeface="Calibri"/>
              </a:rPr>
              <a:t>Marginal</a:t>
            </a:r>
            <a:r>
              <a:rPr sz="3850" spc="145" dirty="0">
                <a:solidFill>
                  <a:srgbClr val="287E2D"/>
                </a:solidFill>
                <a:latin typeface="Calibri"/>
                <a:cs typeface="Calibri"/>
              </a:rPr>
              <a:t> </a:t>
            </a:r>
            <a:r>
              <a:rPr sz="3850" dirty="0">
                <a:solidFill>
                  <a:srgbClr val="387C31"/>
                </a:solidFill>
                <a:latin typeface="Calibri"/>
                <a:cs typeface="Calibri"/>
              </a:rPr>
              <a:t>Farmers</a:t>
            </a:r>
            <a:r>
              <a:rPr sz="3850" spc="165" dirty="0">
                <a:solidFill>
                  <a:srgbClr val="387C31"/>
                </a:solidFill>
                <a:latin typeface="Calibri"/>
                <a:cs typeface="Calibri"/>
              </a:rPr>
              <a:t> </a:t>
            </a:r>
            <a:r>
              <a:rPr sz="3850" dirty="0">
                <a:solidFill>
                  <a:srgbClr val="1F7C2D"/>
                </a:solidFill>
                <a:latin typeface="Calibri"/>
                <a:cs typeface="Calibri"/>
              </a:rPr>
              <a:t>with</a:t>
            </a:r>
            <a:r>
              <a:rPr sz="3850" spc="45" dirty="0">
                <a:solidFill>
                  <a:srgbClr val="1F7C2D"/>
                </a:solidFill>
                <a:latin typeface="Calibri"/>
                <a:cs typeface="Calibri"/>
              </a:rPr>
              <a:t> </a:t>
            </a:r>
            <a:r>
              <a:rPr sz="3850" spc="-254" dirty="0">
                <a:solidFill>
                  <a:srgbClr val="1F701C"/>
                </a:solidFill>
                <a:latin typeface="Calibri"/>
                <a:cs typeface="Calibri"/>
              </a:rPr>
              <a:t>Al—</a:t>
            </a:r>
            <a:r>
              <a:rPr sz="3850" spc="-165" dirty="0">
                <a:solidFill>
                  <a:srgbClr val="1F701C"/>
                </a:solidFill>
                <a:latin typeface="Calibri"/>
                <a:cs typeface="Calibri"/>
              </a:rPr>
              <a:t>Driven</a:t>
            </a:r>
            <a:r>
              <a:rPr sz="3850" spc="135" dirty="0">
                <a:solidFill>
                  <a:srgbClr val="1F701C"/>
                </a:solidFill>
                <a:latin typeface="Calibri"/>
                <a:cs typeface="Calibri"/>
              </a:rPr>
              <a:t> </a:t>
            </a:r>
            <a:r>
              <a:rPr sz="3850" spc="50" dirty="0">
                <a:solidFill>
                  <a:srgbClr val="348736"/>
                </a:solidFill>
                <a:latin typeface="Calibri"/>
                <a:cs typeface="Calibri"/>
              </a:rPr>
              <a:t>Decision </a:t>
            </a:r>
            <a:r>
              <a:rPr sz="3850" spc="-10" dirty="0">
                <a:solidFill>
                  <a:srgbClr val="34702D"/>
                </a:solidFill>
                <a:latin typeface="Calibri"/>
                <a:cs typeface="Calibri"/>
              </a:rPr>
              <a:t>Support</a:t>
            </a:r>
            <a:endParaRPr sz="38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07472" y="7630391"/>
            <a:ext cx="787400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dirty="0">
                <a:solidFill>
                  <a:srgbClr val="566D79"/>
                </a:solidFill>
                <a:latin typeface="Calibri"/>
                <a:cs typeface="Calibri"/>
              </a:rPr>
              <a:t>Mini</a:t>
            </a:r>
            <a:r>
              <a:rPr sz="2700" spc="-55" dirty="0">
                <a:solidFill>
                  <a:srgbClr val="566D79"/>
                </a:solidFill>
                <a:latin typeface="Calibri"/>
                <a:cs typeface="Calibri"/>
              </a:rPr>
              <a:t> </a:t>
            </a:r>
            <a:r>
              <a:rPr sz="2700" spc="95" dirty="0">
                <a:solidFill>
                  <a:srgbClr val="5B5B5B"/>
                </a:solidFill>
                <a:latin typeface="Calibri"/>
                <a:cs typeface="Calibri"/>
              </a:rPr>
              <a:t>Project</a:t>
            </a:r>
            <a:r>
              <a:rPr sz="2700" spc="190" dirty="0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sz="2700" spc="110" dirty="0">
                <a:solidFill>
                  <a:srgbClr val="506E7E"/>
                </a:solidFill>
                <a:latin typeface="Calibri"/>
                <a:cs typeface="Calibri"/>
              </a:rPr>
              <a:t>Presentation</a:t>
            </a:r>
            <a:r>
              <a:rPr sz="2700" spc="-180" dirty="0">
                <a:solidFill>
                  <a:srgbClr val="506E7E"/>
                </a:solidFill>
                <a:latin typeface="Calibri"/>
                <a:cs typeface="Calibri"/>
              </a:rPr>
              <a:t> </a:t>
            </a:r>
            <a:r>
              <a:rPr sz="2700" spc="120" dirty="0">
                <a:solidFill>
                  <a:srgbClr val="64757C"/>
                </a:solidFill>
                <a:latin typeface="Calibri"/>
                <a:cs typeface="Calibri"/>
              </a:rPr>
              <a:t>|</a:t>
            </a:r>
            <a:r>
              <a:rPr sz="2700" spc="120" dirty="0">
                <a:solidFill>
                  <a:srgbClr val="576E77"/>
                </a:solidFill>
                <a:latin typeface="Calibri"/>
                <a:cs typeface="Calibri"/>
              </a:rPr>
              <a:t>Precision</a:t>
            </a:r>
            <a:r>
              <a:rPr sz="2700" spc="125" dirty="0">
                <a:solidFill>
                  <a:srgbClr val="576E77"/>
                </a:solidFill>
                <a:latin typeface="Calibri"/>
                <a:cs typeface="Calibri"/>
              </a:rPr>
              <a:t> </a:t>
            </a:r>
            <a:r>
              <a:rPr sz="2700" spc="95" dirty="0">
                <a:solidFill>
                  <a:srgbClr val="526975"/>
                </a:solidFill>
                <a:latin typeface="Calibri"/>
                <a:cs typeface="Calibri"/>
              </a:rPr>
              <a:t>Agriculture</a:t>
            </a:r>
            <a:r>
              <a:rPr sz="2700" spc="270" dirty="0">
                <a:solidFill>
                  <a:srgbClr val="526975"/>
                </a:solidFill>
                <a:latin typeface="Calibri"/>
                <a:cs typeface="Calibri"/>
              </a:rPr>
              <a:t> </a:t>
            </a:r>
            <a:r>
              <a:rPr sz="2700" spc="60" dirty="0">
                <a:solidFill>
                  <a:srgbClr val="50727B"/>
                </a:solidFill>
                <a:latin typeface="Calibri"/>
                <a:cs typeface="Calibri"/>
              </a:rPr>
              <a:t>4.0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5FD338-BE90-E840-334A-706184809299}"/>
              </a:ext>
            </a:extLst>
          </p:cNvPr>
          <p:cNvSpPr txBox="1"/>
          <p:nvPr/>
        </p:nvSpPr>
        <p:spPr>
          <a:xfrm>
            <a:off x="14471650" y="8397875"/>
            <a:ext cx="67106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3">
                    <a:lumMod val="50000"/>
                  </a:schemeClr>
                </a:solidFill>
              </a:rPr>
              <a:t>Team Name</a:t>
            </a:r>
            <a:br>
              <a:rPr lang="en-US" sz="3200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3200" dirty="0" err="1">
                <a:solidFill>
                  <a:schemeClr val="accent3">
                    <a:lumMod val="50000"/>
                  </a:schemeClr>
                </a:solidFill>
              </a:rPr>
              <a:t>A.Praneeth</a:t>
            </a:r>
            <a:r>
              <a:rPr lang="en-US" sz="3200" dirty="0">
                <a:solidFill>
                  <a:schemeClr val="accent3">
                    <a:lumMod val="50000"/>
                  </a:schemeClr>
                </a:solidFill>
              </a:rPr>
              <a:t> Kumar</a:t>
            </a:r>
            <a:br>
              <a:rPr lang="en-US" sz="3200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3200" dirty="0" err="1">
                <a:solidFill>
                  <a:schemeClr val="accent3">
                    <a:lumMod val="50000"/>
                  </a:schemeClr>
                </a:solidFill>
              </a:rPr>
              <a:t>G.Vijay</a:t>
            </a:r>
            <a:r>
              <a:rPr lang="en-US" sz="3200" dirty="0">
                <a:solidFill>
                  <a:schemeClr val="accent3">
                    <a:lumMod val="50000"/>
                  </a:schemeClr>
                </a:solidFill>
              </a:rPr>
              <a:t> Raj</a:t>
            </a:r>
            <a:br>
              <a:rPr lang="en-US" sz="3200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3200" dirty="0" err="1">
                <a:solidFill>
                  <a:schemeClr val="accent3">
                    <a:lumMod val="50000"/>
                  </a:schemeClr>
                </a:solidFill>
              </a:rPr>
              <a:t>M.Eshwar</a:t>
            </a:r>
            <a:r>
              <a:rPr lang="en-US" sz="32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accent3">
                    <a:lumMod val="50000"/>
                  </a:schemeClr>
                </a:solidFill>
              </a:rPr>
              <a:t>sai</a:t>
            </a:r>
            <a:r>
              <a:rPr lang="en-US" sz="3200" dirty="0">
                <a:solidFill>
                  <a:schemeClr val="accent3">
                    <a:lumMod val="50000"/>
                  </a:schemeClr>
                </a:solidFill>
              </a:rPr>
              <a:t> Charan</a:t>
            </a:r>
            <a:br>
              <a:rPr lang="en-US" sz="3200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sz="3200" dirty="0" err="1">
                <a:solidFill>
                  <a:schemeClr val="accent3">
                    <a:lumMod val="50000"/>
                  </a:schemeClr>
                </a:solidFill>
              </a:rPr>
              <a:t>P.Jayanth</a:t>
            </a:r>
            <a:endParaRPr lang="en-US" sz="32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23239" y="3950141"/>
            <a:ext cx="8638480" cy="539512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673" y="1947584"/>
            <a:ext cx="18313578" cy="7853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">
              <a:lnSpc>
                <a:spcPct val="100000"/>
              </a:lnSpc>
              <a:spcBef>
                <a:spcPts val="110"/>
              </a:spcBef>
            </a:pPr>
            <a:r>
              <a:rPr spc="-160" dirty="0">
                <a:solidFill>
                  <a:srgbClr val="18601F"/>
                </a:solidFill>
                <a:latin typeface="Cambria"/>
                <a:cs typeface="Cambria"/>
              </a:rPr>
              <a:t>Context</a:t>
            </a:r>
            <a:r>
              <a:rPr spc="-135" dirty="0">
                <a:solidFill>
                  <a:srgbClr val="18601F"/>
                </a:solidFill>
                <a:latin typeface="Cambria"/>
                <a:cs typeface="Cambria"/>
              </a:rPr>
              <a:t> </a:t>
            </a:r>
            <a:r>
              <a:rPr spc="-610" dirty="0">
                <a:solidFill>
                  <a:srgbClr val="1A5E1F"/>
                </a:solidFill>
                <a:latin typeface="Cambria"/>
                <a:cs typeface="Cambria"/>
              </a:rPr>
              <a:t>&amp;</a:t>
            </a:r>
            <a:r>
              <a:rPr spc="-55" dirty="0">
                <a:solidFill>
                  <a:srgbClr val="1A5E1F"/>
                </a:solidFill>
                <a:latin typeface="Cambria"/>
                <a:cs typeface="Cambria"/>
              </a:rPr>
              <a:t> </a:t>
            </a:r>
            <a:r>
              <a:rPr spc="-295" dirty="0">
                <a:solidFill>
                  <a:srgbClr val="26591F"/>
                </a:solidFill>
                <a:latin typeface="Cambria"/>
                <a:cs typeface="Cambria"/>
              </a:rPr>
              <a:t>Introduction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0606" y="3640330"/>
            <a:ext cx="8609330" cy="56800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15" marR="194310" indent="-6350">
              <a:lnSpc>
                <a:spcPct val="117800"/>
              </a:lnSpc>
              <a:spcBef>
                <a:spcPts val="90"/>
              </a:spcBef>
            </a:pPr>
            <a:r>
              <a:rPr sz="2800" b="1" spc="65" dirty="0">
                <a:solidFill>
                  <a:srgbClr val="2A2A2A"/>
                </a:solidFill>
                <a:latin typeface="Calibri"/>
                <a:cs typeface="Calibri"/>
              </a:rPr>
              <a:t>Backbone</a:t>
            </a:r>
            <a:r>
              <a:rPr sz="2800" b="1" spc="17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34445D"/>
                </a:solidFill>
                <a:latin typeface="Calibri"/>
                <a:cs typeface="Calibri"/>
              </a:rPr>
              <a:t>of</a:t>
            </a:r>
            <a:r>
              <a:rPr sz="2800" b="1" spc="-45" dirty="0">
                <a:solidFill>
                  <a:srgbClr val="34445D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A2A2A"/>
                </a:solidFill>
                <a:latin typeface="Calibri"/>
                <a:cs typeface="Calibri"/>
              </a:rPr>
              <a:t>Economy:</a:t>
            </a:r>
            <a:r>
              <a:rPr sz="2800" b="1" spc="114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800" spc="-45" dirty="0">
                <a:solidFill>
                  <a:srgbClr val="282828"/>
                </a:solidFill>
                <a:latin typeface="Calibri"/>
                <a:cs typeface="Calibri"/>
              </a:rPr>
              <a:t>Agriculture</a:t>
            </a:r>
            <a:r>
              <a:rPr sz="2800" spc="8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63636"/>
                </a:solidFill>
                <a:latin typeface="Calibri"/>
                <a:cs typeface="Calibri"/>
              </a:rPr>
              <a:t>remains</a:t>
            </a:r>
            <a:r>
              <a:rPr sz="2800" spc="17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62626"/>
                </a:solidFill>
                <a:latin typeface="Calibri"/>
                <a:cs typeface="Calibri"/>
              </a:rPr>
              <a:t>the</a:t>
            </a:r>
            <a:r>
              <a:rPr sz="2800" spc="-12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13131"/>
                </a:solidFill>
                <a:latin typeface="Calibri"/>
                <a:cs typeface="Calibri"/>
              </a:rPr>
              <a:t>primary </a:t>
            </a:r>
            <a:r>
              <a:rPr sz="2800" spc="-10" dirty="0">
                <a:solidFill>
                  <a:srgbClr val="2A2A2A"/>
                </a:solidFill>
                <a:latin typeface="Calibri"/>
                <a:cs typeface="Calibri"/>
              </a:rPr>
              <a:t>livelihood</a:t>
            </a:r>
            <a:r>
              <a:rPr sz="2800" spc="2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63636"/>
                </a:solidFill>
                <a:latin typeface="Calibri"/>
                <a:cs typeface="Calibri"/>
              </a:rPr>
              <a:t>for</a:t>
            </a:r>
            <a:r>
              <a:rPr sz="2800" spc="-9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A2A2A"/>
                </a:solidFill>
                <a:latin typeface="Calibri"/>
                <a:cs typeface="Calibri"/>
              </a:rPr>
              <a:t>over</a:t>
            </a:r>
            <a:r>
              <a:rPr sz="2800" spc="-2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82828"/>
                </a:solidFill>
                <a:latin typeface="Calibri"/>
                <a:cs typeface="Calibri"/>
              </a:rPr>
              <a:t>58%</a:t>
            </a:r>
            <a:r>
              <a:rPr sz="2800" spc="-3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13131"/>
                </a:solidFill>
                <a:latin typeface="Calibri"/>
                <a:cs typeface="Calibri"/>
              </a:rPr>
              <a:t>of</a:t>
            </a:r>
            <a:r>
              <a:rPr sz="2800" spc="-4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2D2D2D"/>
                </a:solidFill>
                <a:latin typeface="Calibri"/>
                <a:cs typeface="Calibri"/>
              </a:rPr>
              <a:t>India's</a:t>
            </a:r>
            <a:r>
              <a:rPr sz="2800" spc="-5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2F2F2F"/>
                </a:solidFill>
                <a:latin typeface="Calibri"/>
                <a:cs typeface="Calibri"/>
              </a:rPr>
              <a:t>population.</a:t>
            </a:r>
            <a:r>
              <a:rPr sz="2800" spc="-8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75" dirty="0">
                <a:solidFill>
                  <a:srgbClr val="2D2D2D"/>
                </a:solidFill>
                <a:latin typeface="Calibri"/>
                <a:cs typeface="Calibri"/>
              </a:rPr>
              <a:t>However,</a:t>
            </a:r>
            <a:r>
              <a:rPr sz="2800" spc="-4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A3A3A"/>
                </a:solidFill>
                <a:latin typeface="Calibri"/>
                <a:cs typeface="Calibri"/>
              </a:rPr>
              <a:t>it</a:t>
            </a:r>
            <a:r>
              <a:rPr sz="2800" spc="-16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800" spc="45" dirty="0">
                <a:solidFill>
                  <a:srgbClr val="2F2F2F"/>
                </a:solidFill>
                <a:latin typeface="Calibri"/>
                <a:cs typeface="Calibri"/>
              </a:rPr>
              <a:t>is </a:t>
            </a:r>
            <a:r>
              <a:rPr sz="2800" dirty="0">
                <a:solidFill>
                  <a:srgbClr val="282828"/>
                </a:solidFill>
                <a:latin typeface="Calibri"/>
                <a:cs typeface="Calibri"/>
              </a:rPr>
              <a:t>characterized</a:t>
            </a:r>
            <a:r>
              <a:rPr sz="2800" spc="4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800" spc="65" dirty="0">
                <a:solidFill>
                  <a:srgbClr val="2D2D2D"/>
                </a:solidFill>
                <a:latin typeface="Calibri"/>
                <a:cs typeface="Calibri"/>
              </a:rPr>
              <a:t>by</a:t>
            </a:r>
            <a:r>
              <a:rPr sz="2800" spc="-16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spc="-45" dirty="0">
                <a:solidFill>
                  <a:srgbClr val="2F2F2F"/>
                </a:solidFill>
                <a:latin typeface="Calibri"/>
                <a:cs typeface="Calibri"/>
              </a:rPr>
              <a:t>"Smallholder</a:t>
            </a:r>
            <a:r>
              <a:rPr sz="2800" spc="13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13131"/>
                </a:solidFill>
                <a:latin typeface="Calibri"/>
                <a:cs typeface="Calibri"/>
              </a:rPr>
              <a:t>Vulnerability."</a:t>
            </a:r>
            <a:endParaRPr sz="2800">
              <a:latin typeface="Calibri"/>
              <a:cs typeface="Calibri"/>
            </a:endParaRPr>
          </a:p>
          <a:p>
            <a:pPr marL="13970" marR="5080" indent="13335">
              <a:lnSpc>
                <a:spcPct val="118400"/>
              </a:lnSpc>
              <a:spcBef>
                <a:spcPts val="2390"/>
              </a:spcBef>
            </a:pPr>
            <a:r>
              <a:rPr sz="2800" b="1" dirty="0">
                <a:solidFill>
                  <a:srgbClr val="2D2D2D"/>
                </a:solidFill>
                <a:latin typeface="Calibri"/>
                <a:cs typeface="Calibri"/>
              </a:rPr>
              <a:t>Theoretical</a:t>
            </a:r>
            <a:r>
              <a:rPr sz="2800" b="1" spc="4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D3359"/>
                </a:solidFill>
                <a:latin typeface="Calibri"/>
                <a:cs typeface="Calibri"/>
              </a:rPr>
              <a:t>Detail:</a:t>
            </a:r>
            <a:r>
              <a:rPr sz="2800" b="1" spc="60" dirty="0">
                <a:solidFill>
                  <a:srgbClr val="2D335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The</a:t>
            </a:r>
            <a:r>
              <a:rPr sz="2800" spc="15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i="1" spc="-30" dirty="0">
                <a:solidFill>
                  <a:srgbClr val="262626"/>
                </a:solidFill>
                <a:latin typeface="Calibri"/>
                <a:cs typeface="Calibri"/>
              </a:rPr>
              <a:t>Smallholder</a:t>
            </a:r>
            <a:r>
              <a:rPr sz="2800" i="1" spc="2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800" i="1" spc="-20" dirty="0">
                <a:solidFill>
                  <a:srgbClr val="3B3B3B"/>
                </a:solidFill>
                <a:latin typeface="Calibri"/>
                <a:cs typeface="Calibri"/>
              </a:rPr>
              <a:t>Farmer</a:t>
            </a:r>
            <a:r>
              <a:rPr sz="2800" i="1" spc="1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343434"/>
                </a:solidFill>
                <a:latin typeface="Calibri"/>
                <a:cs typeface="Calibri"/>
              </a:rPr>
              <a:t>Theory </a:t>
            </a:r>
            <a:r>
              <a:rPr sz="2800" dirty="0">
                <a:solidFill>
                  <a:srgbClr val="2A2A2A"/>
                </a:solidFill>
                <a:latin typeface="Calibri"/>
                <a:cs typeface="Calibri"/>
              </a:rPr>
              <a:t>suggests</a:t>
            </a:r>
            <a:r>
              <a:rPr sz="2800" spc="114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64B5D"/>
                </a:solidFill>
                <a:latin typeface="Calibri"/>
                <a:cs typeface="Calibri"/>
              </a:rPr>
              <a:t>that</a:t>
            </a:r>
            <a:r>
              <a:rPr sz="2800" spc="5" dirty="0">
                <a:solidFill>
                  <a:srgbClr val="364B5D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2D2D2D"/>
                </a:solidFill>
                <a:latin typeface="Calibri"/>
                <a:cs typeface="Calibri"/>
              </a:rPr>
              <a:t>fragmentation</a:t>
            </a:r>
            <a:r>
              <a:rPr sz="2800" spc="17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28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D3D3D"/>
                </a:solidFill>
                <a:latin typeface="Calibri"/>
                <a:cs typeface="Calibri"/>
              </a:rPr>
              <a:t>land</a:t>
            </a:r>
            <a:r>
              <a:rPr sz="2800" spc="-8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F2F2F"/>
                </a:solidFill>
                <a:latin typeface="Calibri"/>
                <a:cs typeface="Calibri"/>
              </a:rPr>
              <a:t>prevents</a:t>
            </a:r>
            <a:r>
              <a:rPr sz="2800" spc="114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D2D2D"/>
                </a:solidFill>
                <a:latin typeface="Calibri"/>
                <a:cs typeface="Calibri"/>
              </a:rPr>
              <a:t>economies</a:t>
            </a:r>
            <a:r>
              <a:rPr sz="2800" spc="13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A3A3A"/>
                </a:solidFill>
                <a:latin typeface="Calibri"/>
                <a:cs typeface="Calibri"/>
              </a:rPr>
              <a:t>of </a:t>
            </a:r>
            <a:r>
              <a:rPr sz="2800" dirty="0">
                <a:solidFill>
                  <a:srgbClr val="2F2F2F"/>
                </a:solidFill>
                <a:latin typeface="Calibri"/>
                <a:cs typeface="Calibri"/>
              </a:rPr>
              <a:t>scale,</a:t>
            </a:r>
            <a:r>
              <a:rPr sz="2800" spc="-9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13131"/>
                </a:solidFill>
                <a:latin typeface="Calibri"/>
                <a:cs typeface="Calibri"/>
              </a:rPr>
              <a:t>making</a:t>
            </a:r>
            <a:r>
              <a:rPr sz="2800" spc="-5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technical</a:t>
            </a:r>
            <a:r>
              <a:rPr sz="2800" spc="-6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343434"/>
                </a:solidFill>
                <a:latin typeface="Calibri"/>
                <a:cs typeface="Calibri"/>
              </a:rPr>
              <a:t>knowledge</a:t>
            </a:r>
            <a:r>
              <a:rPr sz="2800" spc="4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80" dirty="0">
                <a:solidFill>
                  <a:srgbClr val="313131"/>
                </a:solidFill>
                <a:latin typeface="Calibri"/>
                <a:cs typeface="Calibri"/>
              </a:rPr>
              <a:t>access</a:t>
            </a:r>
            <a:r>
              <a:rPr sz="2800" spc="-2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the</a:t>
            </a:r>
            <a:r>
              <a:rPr sz="2800" spc="-11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13131"/>
                </a:solidFill>
                <a:latin typeface="Calibri"/>
                <a:cs typeface="Calibri"/>
              </a:rPr>
              <a:t>only </a:t>
            </a:r>
            <a:r>
              <a:rPr sz="2800" dirty="0">
                <a:solidFill>
                  <a:srgbClr val="2F2F2F"/>
                </a:solidFill>
                <a:latin typeface="Calibri"/>
                <a:cs typeface="Calibri"/>
              </a:rPr>
              <a:t>way</a:t>
            </a:r>
            <a:r>
              <a:rPr sz="2800" spc="-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14D60"/>
                </a:solidFill>
                <a:latin typeface="Calibri"/>
                <a:cs typeface="Calibri"/>
              </a:rPr>
              <a:t>to </a:t>
            </a:r>
            <a:r>
              <a:rPr sz="2800" dirty="0">
                <a:solidFill>
                  <a:srgbClr val="2F2F2F"/>
                </a:solidFill>
                <a:latin typeface="Calibri"/>
                <a:cs typeface="Calibri"/>
              </a:rPr>
              <a:t>increase </a:t>
            </a:r>
            <a:r>
              <a:rPr sz="2800" spc="-10" dirty="0">
                <a:solidFill>
                  <a:srgbClr val="1F1F1F"/>
                </a:solidFill>
                <a:latin typeface="Calibri"/>
                <a:cs typeface="Calibri"/>
              </a:rPr>
              <a:t>productivity.</a:t>
            </a:r>
            <a:endParaRPr sz="2800">
              <a:latin typeface="Calibri"/>
              <a:cs typeface="Calibri"/>
            </a:endParaRPr>
          </a:p>
          <a:p>
            <a:pPr marL="18415" marR="289560" indent="8255">
              <a:lnSpc>
                <a:spcPct val="117800"/>
              </a:lnSpc>
              <a:spcBef>
                <a:spcPts val="2475"/>
              </a:spcBef>
            </a:pPr>
            <a:r>
              <a:rPr sz="2800" spc="50" dirty="0">
                <a:solidFill>
                  <a:srgbClr val="2B4154"/>
                </a:solidFill>
                <a:latin typeface="Calibri"/>
                <a:cs typeface="Calibri"/>
              </a:rPr>
              <a:t>The</a:t>
            </a:r>
            <a:r>
              <a:rPr sz="2800" spc="-5" dirty="0">
                <a:solidFill>
                  <a:srgbClr val="2B4154"/>
                </a:solidFill>
                <a:latin typeface="Calibri"/>
                <a:cs typeface="Calibri"/>
              </a:rPr>
              <a:t> </a:t>
            </a:r>
            <a:r>
              <a:rPr sz="2800" spc="55" dirty="0">
                <a:solidFill>
                  <a:srgbClr val="2A2A2A"/>
                </a:solidFill>
                <a:latin typeface="Calibri"/>
                <a:cs typeface="Calibri"/>
              </a:rPr>
              <a:t>Opportunity:</a:t>
            </a:r>
            <a:r>
              <a:rPr sz="2800" spc="7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F2F2F"/>
                </a:solidFill>
                <a:latin typeface="Calibri"/>
                <a:cs typeface="Calibri"/>
              </a:rPr>
              <a:t>Digitalization</a:t>
            </a:r>
            <a:r>
              <a:rPr sz="2800" spc="-11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50" dirty="0">
                <a:solidFill>
                  <a:srgbClr val="2D2D2D"/>
                </a:solidFill>
                <a:latin typeface="Calibri"/>
                <a:cs typeface="Calibri"/>
              </a:rPr>
              <a:t>can</a:t>
            </a:r>
            <a:r>
              <a:rPr sz="2800" spc="-10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bridge</a:t>
            </a:r>
            <a:r>
              <a:rPr sz="2800" spc="12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13131"/>
                </a:solidFill>
                <a:latin typeface="Calibri"/>
                <a:cs typeface="Calibri"/>
              </a:rPr>
              <a:t>gap </a:t>
            </a:r>
            <a:r>
              <a:rPr sz="2800" spc="-10" dirty="0">
                <a:solidFill>
                  <a:srgbClr val="2D2D2D"/>
                </a:solidFill>
                <a:latin typeface="Calibri"/>
                <a:cs typeface="Calibri"/>
              </a:rPr>
              <a:t>between</a:t>
            </a:r>
            <a:r>
              <a:rPr sz="2800" spc="-4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F2F2F"/>
                </a:solidFill>
                <a:latin typeface="Calibri"/>
                <a:cs typeface="Calibri"/>
              </a:rPr>
              <a:t>scientific</a:t>
            </a:r>
            <a:r>
              <a:rPr sz="2800" spc="7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F2F2F"/>
                </a:solidFill>
                <a:latin typeface="Calibri"/>
                <a:cs typeface="Calibri"/>
              </a:rPr>
              <a:t>agronomy</a:t>
            </a:r>
            <a:r>
              <a:rPr sz="2800" spc="14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13131"/>
                </a:solidFill>
                <a:latin typeface="Calibri"/>
                <a:cs typeface="Calibri"/>
              </a:rPr>
              <a:t>and</a:t>
            </a:r>
            <a:r>
              <a:rPr sz="2800" spc="-5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F2F2F"/>
                </a:solidFill>
                <a:latin typeface="Calibri"/>
                <a:cs typeface="Calibri"/>
              </a:rPr>
              <a:t>field-</a:t>
            </a:r>
            <a:r>
              <a:rPr sz="2800" dirty="0">
                <a:solidFill>
                  <a:srgbClr val="2F2F2F"/>
                </a:solidFill>
                <a:latin typeface="Calibri"/>
                <a:cs typeface="Calibri"/>
              </a:rPr>
              <a:t>level</a:t>
            </a:r>
            <a:r>
              <a:rPr sz="2800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F2F2F"/>
                </a:solidFill>
                <a:latin typeface="Calibri"/>
                <a:cs typeface="Calibri"/>
              </a:rPr>
              <a:t>execution</a:t>
            </a:r>
            <a:r>
              <a:rPr sz="2800" spc="-9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63636"/>
                </a:solidFill>
                <a:latin typeface="Calibri"/>
                <a:cs typeface="Calibri"/>
              </a:rPr>
              <a:t>for </a:t>
            </a:r>
            <a:r>
              <a:rPr sz="2800" spc="-45" dirty="0">
                <a:solidFill>
                  <a:srgbClr val="3B3B3B"/>
                </a:solidFill>
                <a:latin typeface="Calibri"/>
                <a:cs typeface="Calibri"/>
              </a:rPr>
              <a:t>marginal</a:t>
            </a:r>
            <a:r>
              <a:rPr sz="2800" spc="-8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82828"/>
                </a:solidFill>
                <a:latin typeface="Calibri"/>
                <a:cs typeface="Calibri"/>
              </a:rPr>
              <a:t>households.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79" y="3581042"/>
            <a:ext cx="8638480" cy="576422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673" y="1947584"/>
            <a:ext cx="18313578" cy="7853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30"/>
              </a:spcBef>
            </a:pPr>
            <a:r>
              <a:rPr sz="6150" b="0" spc="125" dirty="0">
                <a:solidFill>
                  <a:srgbClr val="215B1F"/>
                </a:solidFill>
                <a:latin typeface="Cambria"/>
                <a:cs typeface="Cambria"/>
              </a:rPr>
              <a:t>The</a:t>
            </a:r>
            <a:r>
              <a:rPr sz="6150" b="0" spc="-310" dirty="0">
                <a:solidFill>
                  <a:srgbClr val="215B1F"/>
                </a:solidFill>
                <a:latin typeface="Cambria"/>
                <a:cs typeface="Cambria"/>
              </a:rPr>
              <a:t> </a:t>
            </a:r>
            <a:r>
              <a:rPr sz="6150" b="0" dirty="0">
                <a:solidFill>
                  <a:srgbClr val="285E24"/>
                </a:solidFill>
                <a:latin typeface="Cambria"/>
                <a:cs typeface="Cambria"/>
              </a:rPr>
              <a:t>Problem</a:t>
            </a:r>
            <a:r>
              <a:rPr sz="6150" b="0" spc="50" dirty="0">
                <a:solidFill>
                  <a:srgbClr val="285E24"/>
                </a:solidFill>
                <a:latin typeface="Cambria"/>
                <a:cs typeface="Cambria"/>
              </a:rPr>
              <a:t> </a:t>
            </a:r>
            <a:r>
              <a:rPr sz="6150" b="0" spc="40" dirty="0">
                <a:solidFill>
                  <a:srgbClr val="1C5D24"/>
                </a:solidFill>
                <a:latin typeface="Cambria"/>
                <a:cs typeface="Cambria"/>
              </a:rPr>
              <a:t>Statement</a:t>
            </a:r>
            <a:endParaRPr sz="61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07209" y="4032988"/>
            <a:ext cx="8573135" cy="45491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35"/>
              </a:spcBef>
            </a:pPr>
            <a:r>
              <a:rPr sz="2800" dirty="0">
                <a:solidFill>
                  <a:srgbClr val="235E31"/>
                </a:solidFill>
                <a:latin typeface="Times New Roman"/>
                <a:cs typeface="Times New Roman"/>
              </a:rPr>
              <a:t>Information</a:t>
            </a:r>
            <a:r>
              <a:rPr sz="2800" spc="530" dirty="0">
                <a:solidFill>
                  <a:srgbClr val="235E31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18622D"/>
                </a:solidFill>
                <a:latin typeface="Times New Roman"/>
                <a:cs typeface="Times New Roman"/>
              </a:rPr>
              <a:t>Asymmetry</a:t>
            </a:r>
            <a:endParaRPr sz="2800">
              <a:latin typeface="Times New Roman"/>
              <a:cs typeface="Times New Roman"/>
            </a:endParaRPr>
          </a:p>
          <a:p>
            <a:pPr marL="12700" marR="402590" indent="1905">
              <a:lnSpc>
                <a:spcPct val="118700"/>
              </a:lnSpc>
              <a:spcBef>
                <a:spcPts val="1945"/>
              </a:spcBef>
            </a:pPr>
            <a:r>
              <a:rPr sz="2800" spc="-30" dirty="0">
                <a:solidFill>
                  <a:srgbClr val="2B2B2B"/>
                </a:solidFill>
                <a:latin typeface="Calibri"/>
                <a:cs typeface="Calibri"/>
              </a:rPr>
              <a:t>Current</a:t>
            </a:r>
            <a:r>
              <a:rPr sz="2800" spc="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43434"/>
                </a:solidFill>
                <a:latin typeface="Calibri"/>
                <a:cs typeface="Calibri"/>
              </a:rPr>
              <a:t>farming</a:t>
            </a:r>
            <a:r>
              <a:rPr sz="2800" spc="-114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43434"/>
                </a:solidFill>
                <a:latin typeface="Calibri"/>
                <a:cs typeface="Calibri"/>
              </a:rPr>
              <a:t>relies</a:t>
            </a:r>
            <a:r>
              <a:rPr sz="2800" spc="-7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D2D2D"/>
                </a:solidFill>
                <a:latin typeface="Calibri"/>
                <a:cs typeface="Calibri"/>
              </a:rPr>
              <a:t>heavily</a:t>
            </a:r>
            <a:r>
              <a:rPr sz="2800" spc="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83838"/>
                </a:solidFill>
                <a:latin typeface="Calibri"/>
                <a:cs typeface="Calibri"/>
              </a:rPr>
              <a:t>on</a:t>
            </a:r>
            <a:r>
              <a:rPr sz="2800" spc="-16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ancestral</a:t>
            </a:r>
            <a:r>
              <a:rPr sz="2800" spc="-5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B2B2B"/>
                </a:solidFill>
                <a:latin typeface="Calibri"/>
                <a:cs typeface="Calibri"/>
              </a:rPr>
              <a:t>traditional </a:t>
            </a:r>
            <a:r>
              <a:rPr sz="2800" dirty="0">
                <a:solidFill>
                  <a:srgbClr val="2D2D2D"/>
                </a:solidFill>
                <a:latin typeface="Calibri"/>
                <a:cs typeface="Calibri"/>
              </a:rPr>
              <a:t>methods</a:t>
            </a:r>
            <a:r>
              <a:rPr sz="2800" spc="17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which</a:t>
            </a:r>
            <a:r>
              <a:rPr sz="2800" spc="-1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lack</a:t>
            </a:r>
            <a:r>
              <a:rPr sz="2800" spc="2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adaptation</a:t>
            </a:r>
            <a:r>
              <a:rPr sz="2800" spc="3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83838"/>
                </a:solidFill>
                <a:latin typeface="Calibri"/>
                <a:cs typeface="Calibri"/>
              </a:rPr>
              <a:t>to</a:t>
            </a:r>
            <a:r>
              <a:rPr sz="2800" spc="1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13131"/>
                </a:solidFill>
                <a:latin typeface="Calibri"/>
                <a:cs typeface="Calibri"/>
              </a:rPr>
              <a:t>changing</a:t>
            </a:r>
            <a:r>
              <a:rPr sz="2800" spc="12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B2B2B"/>
                </a:solidFill>
                <a:latin typeface="Calibri"/>
                <a:cs typeface="Calibri"/>
              </a:rPr>
              <a:t>climate</a:t>
            </a:r>
            <a:r>
              <a:rPr sz="2800" spc="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63636"/>
                </a:solidFill>
                <a:latin typeface="Calibri"/>
                <a:cs typeface="Calibri"/>
              </a:rPr>
              <a:t>and 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soil</a:t>
            </a:r>
            <a:r>
              <a:rPr sz="2800" spc="-16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health</a:t>
            </a:r>
            <a:r>
              <a:rPr sz="28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D2D2D"/>
                </a:solidFill>
                <a:latin typeface="Calibri"/>
                <a:cs typeface="Calibri"/>
              </a:rPr>
              <a:t>trends.</a:t>
            </a:r>
            <a:endParaRPr sz="2800">
              <a:latin typeface="Calibri"/>
              <a:cs typeface="Calibri"/>
            </a:endParaRPr>
          </a:p>
          <a:p>
            <a:pPr marL="15875" marR="5080" indent="-1270">
              <a:lnSpc>
                <a:spcPct val="117800"/>
              </a:lnSpc>
              <a:spcBef>
                <a:spcPts val="2475"/>
              </a:spcBef>
            </a:pPr>
            <a:r>
              <a:rPr sz="2800" spc="114" dirty="0">
                <a:solidFill>
                  <a:srgbClr val="2F2F2F"/>
                </a:solidFill>
                <a:latin typeface="Calibri"/>
                <a:cs typeface="Calibri"/>
              </a:rPr>
              <a:t>Core</a:t>
            </a:r>
            <a:r>
              <a:rPr sz="2800" spc="-7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80" dirty="0">
                <a:solidFill>
                  <a:srgbClr val="2F2F2F"/>
                </a:solidFill>
                <a:latin typeface="Calibri"/>
                <a:cs typeface="Calibri"/>
              </a:rPr>
              <a:t>Issue:</a:t>
            </a:r>
            <a:r>
              <a:rPr sz="2800" spc="-3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45" dirty="0">
                <a:solidFill>
                  <a:srgbClr val="343434"/>
                </a:solidFill>
                <a:latin typeface="Calibri"/>
                <a:cs typeface="Calibri"/>
              </a:rPr>
              <a:t>There</a:t>
            </a:r>
            <a:r>
              <a:rPr sz="2800" spc="-2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75" dirty="0">
                <a:solidFill>
                  <a:srgbClr val="383838"/>
                </a:solidFill>
                <a:latin typeface="Calibri"/>
                <a:cs typeface="Calibri"/>
              </a:rPr>
              <a:t>is</a:t>
            </a:r>
            <a:r>
              <a:rPr sz="280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105" dirty="0">
                <a:solidFill>
                  <a:srgbClr val="2D445D"/>
                </a:solidFill>
                <a:latin typeface="Calibri"/>
                <a:cs typeface="Calibri"/>
              </a:rPr>
              <a:t>a</a:t>
            </a:r>
            <a:r>
              <a:rPr sz="2800" spc="-100" dirty="0">
                <a:solidFill>
                  <a:srgbClr val="2D445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B2B2B"/>
                </a:solidFill>
                <a:latin typeface="Calibri"/>
                <a:cs typeface="Calibri"/>
              </a:rPr>
              <a:t>critical</a:t>
            </a:r>
            <a:r>
              <a:rPr sz="2800" spc="-14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lack</a:t>
            </a:r>
            <a:r>
              <a:rPr sz="2800" spc="4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A3A3A"/>
                </a:solidFill>
                <a:latin typeface="Calibri"/>
                <a:cs typeface="Calibri"/>
              </a:rPr>
              <a:t>of</a:t>
            </a:r>
            <a:r>
              <a:rPr sz="2800" spc="19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2F2F2F"/>
                </a:solidFill>
                <a:latin typeface="Calibri"/>
                <a:cs typeface="Calibri"/>
              </a:rPr>
              <a:t>Real-time</a:t>
            </a:r>
            <a:r>
              <a:rPr sz="2800" i="1" spc="17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262626"/>
                </a:solidFill>
                <a:latin typeface="Calibri"/>
                <a:cs typeface="Calibri"/>
              </a:rPr>
              <a:t>Scientiñc </a:t>
            </a:r>
            <a:r>
              <a:rPr sz="2800" i="1" dirty="0">
                <a:solidFill>
                  <a:srgbClr val="2D2D2D"/>
                </a:solidFill>
                <a:latin typeface="Calibri"/>
                <a:cs typeface="Calibri"/>
              </a:rPr>
              <a:t>Advisory.</a:t>
            </a:r>
            <a:r>
              <a:rPr sz="2800" i="1" spc="-9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Farmers</a:t>
            </a:r>
            <a:r>
              <a:rPr sz="2800" spc="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A2A2A"/>
                </a:solidFill>
                <a:latin typeface="Calibri"/>
                <a:cs typeface="Calibri"/>
              </a:rPr>
              <a:t>often</a:t>
            </a:r>
            <a:r>
              <a:rPr sz="2800" spc="-12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63636"/>
                </a:solidFill>
                <a:latin typeface="Calibri"/>
                <a:cs typeface="Calibri"/>
              </a:rPr>
              <a:t>make</a:t>
            </a:r>
            <a:r>
              <a:rPr sz="2800" spc="-1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A2A2A"/>
                </a:solidFill>
                <a:latin typeface="Calibri"/>
                <a:cs typeface="Calibri"/>
              </a:rPr>
              <a:t>decisions</a:t>
            </a:r>
            <a:r>
              <a:rPr sz="2800" spc="6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800" spc="60" dirty="0">
                <a:solidFill>
                  <a:srgbClr val="313131"/>
                </a:solidFill>
                <a:latin typeface="Calibri"/>
                <a:cs typeface="Calibri"/>
              </a:rPr>
              <a:t>based</a:t>
            </a:r>
            <a:r>
              <a:rPr sz="2800" spc="-2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83838"/>
                </a:solidFill>
                <a:latin typeface="Calibri"/>
                <a:cs typeface="Calibri"/>
              </a:rPr>
              <a:t>on</a:t>
            </a:r>
            <a:r>
              <a:rPr sz="2800" spc="-15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B2B2B"/>
                </a:solidFill>
                <a:latin typeface="Calibri"/>
                <a:cs typeface="Calibri"/>
              </a:rPr>
              <a:t>hearsay </a:t>
            </a:r>
            <a:r>
              <a:rPr sz="2800" dirty="0">
                <a:solidFill>
                  <a:srgbClr val="363636"/>
                </a:solidFill>
                <a:latin typeface="Calibri"/>
                <a:cs typeface="Calibri"/>
              </a:rPr>
              <a:t>or</a:t>
            </a:r>
            <a:r>
              <a:rPr sz="2800" spc="-4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generic</a:t>
            </a:r>
            <a:r>
              <a:rPr sz="2800" spc="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50" dirty="0">
                <a:solidFill>
                  <a:srgbClr val="3B3B3B"/>
                </a:solidFill>
                <a:latin typeface="Calibri"/>
                <a:cs typeface="Calibri"/>
              </a:rPr>
              <a:t>data</a:t>
            </a:r>
            <a:r>
              <a:rPr sz="2800" spc="-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D2D2D"/>
                </a:solidFill>
                <a:latin typeface="Calibri"/>
                <a:cs typeface="Calibri"/>
              </a:rPr>
              <a:t>that </a:t>
            </a:r>
            <a:r>
              <a:rPr sz="2800" dirty="0">
                <a:solidFill>
                  <a:srgbClr val="363636"/>
                </a:solidFill>
                <a:latin typeface="Calibri"/>
                <a:cs typeface="Calibri"/>
              </a:rPr>
              <a:t>does 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not </a:t>
            </a:r>
            <a:r>
              <a:rPr sz="2800" dirty="0">
                <a:solidFill>
                  <a:srgbClr val="2D2D2D"/>
                </a:solidFill>
                <a:latin typeface="Calibri"/>
                <a:cs typeface="Calibri"/>
              </a:rPr>
              <a:t>apply </a:t>
            </a:r>
            <a:r>
              <a:rPr sz="2800" dirty="0">
                <a:solidFill>
                  <a:srgbClr val="2A2A2A"/>
                </a:solidFill>
                <a:latin typeface="Calibri"/>
                <a:cs typeface="Calibri"/>
              </a:rPr>
              <a:t>to </a:t>
            </a:r>
            <a:r>
              <a:rPr sz="2800" dirty="0">
                <a:solidFill>
                  <a:srgbClr val="2D2D2D"/>
                </a:solidFill>
                <a:latin typeface="Calibri"/>
                <a:cs typeface="Calibri"/>
              </a:rPr>
              <a:t>their 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specific </a:t>
            </a:r>
            <a:r>
              <a:rPr sz="2800" spc="-204" dirty="0">
                <a:solidFill>
                  <a:srgbClr val="2A2A2A"/>
                </a:solidFill>
                <a:latin typeface="Calibri"/>
                <a:cs typeface="Calibri"/>
              </a:rPr>
              <a:t>micro—</a:t>
            </a:r>
            <a:r>
              <a:rPr sz="2800" dirty="0">
                <a:solidFill>
                  <a:srgbClr val="2D2D2D"/>
                </a:solidFill>
                <a:latin typeface="Calibri"/>
                <a:cs typeface="Calibri"/>
              </a:rPr>
              <a:t>climate</a:t>
            </a:r>
            <a:r>
              <a:rPr sz="2800" spc="-7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83838"/>
                </a:solidFill>
                <a:latin typeface="Calibri"/>
                <a:cs typeface="Calibri"/>
              </a:rPr>
              <a:t>or</a:t>
            </a:r>
            <a:r>
              <a:rPr sz="2800" spc="-7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13131"/>
                </a:solidFill>
                <a:latin typeface="Calibri"/>
                <a:cs typeface="Calibri"/>
              </a:rPr>
              <a:t>soil</a:t>
            </a:r>
            <a:r>
              <a:rPr sz="2800" spc="-16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63636"/>
                </a:solidFill>
                <a:latin typeface="Calibri"/>
                <a:cs typeface="Calibri"/>
              </a:rPr>
              <a:t>NPK</a:t>
            </a:r>
            <a:r>
              <a:rPr sz="2800" spc="3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43434"/>
                </a:solidFill>
                <a:latin typeface="Calibri"/>
                <a:cs typeface="Calibri"/>
              </a:rPr>
              <a:t>profile.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10"/>
              </a:spcBef>
            </a:pPr>
            <a:r>
              <a:rPr b="0" dirty="0">
                <a:solidFill>
                  <a:srgbClr val="18601D"/>
                </a:solidFill>
                <a:latin typeface="Cambria"/>
                <a:cs typeface="Cambria"/>
              </a:rPr>
              <a:t>Specific</a:t>
            </a:r>
            <a:r>
              <a:rPr b="0" spc="-60" dirty="0">
                <a:solidFill>
                  <a:srgbClr val="18601D"/>
                </a:solidFill>
                <a:latin typeface="Cambria"/>
                <a:cs typeface="Cambria"/>
              </a:rPr>
              <a:t> </a:t>
            </a:r>
            <a:r>
              <a:rPr b="0" spc="50" dirty="0">
                <a:solidFill>
                  <a:srgbClr val="1C5D1D"/>
                </a:solidFill>
                <a:latin typeface="Cambria"/>
                <a:cs typeface="Cambria"/>
              </a:rPr>
              <a:t>Challenges</a:t>
            </a:r>
            <a:r>
              <a:rPr b="0" spc="275" dirty="0">
                <a:solidFill>
                  <a:srgbClr val="1C5D1D"/>
                </a:solidFill>
                <a:latin typeface="Cambria"/>
                <a:cs typeface="Cambria"/>
              </a:rPr>
              <a:t> </a:t>
            </a:r>
            <a:r>
              <a:rPr b="0" spc="204" dirty="0">
                <a:solidFill>
                  <a:srgbClr val="23591D"/>
                </a:solidFill>
                <a:latin typeface="Cambria"/>
                <a:cs typeface="Cambria"/>
              </a:rPr>
              <a:t>in</a:t>
            </a:r>
            <a:r>
              <a:rPr b="0" spc="-170" dirty="0">
                <a:solidFill>
                  <a:srgbClr val="23591D"/>
                </a:solidFill>
                <a:latin typeface="Cambria"/>
                <a:cs typeface="Cambria"/>
              </a:rPr>
              <a:t> </a:t>
            </a:r>
            <a:r>
              <a:rPr b="0" dirty="0">
                <a:solidFill>
                  <a:srgbClr val="0C5913"/>
                </a:solidFill>
                <a:latin typeface="Cambria"/>
                <a:cs typeface="Cambria"/>
              </a:rPr>
              <a:t>Small-scale</a:t>
            </a:r>
            <a:r>
              <a:rPr b="0" spc="229" dirty="0">
                <a:solidFill>
                  <a:srgbClr val="0C5913"/>
                </a:solidFill>
                <a:latin typeface="Cambria"/>
                <a:cs typeface="Cambria"/>
              </a:rPr>
              <a:t> </a:t>
            </a:r>
            <a:r>
              <a:rPr b="0" spc="-10" dirty="0">
                <a:solidFill>
                  <a:srgbClr val="1F5B1C"/>
                </a:solidFill>
                <a:latin typeface="Cambria"/>
                <a:cs typeface="Cambria"/>
              </a:rPr>
              <a:t>Farming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17095" y="3190081"/>
            <a:ext cx="7800340" cy="2310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50" dirty="0">
                <a:solidFill>
                  <a:srgbClr val="1C641A"/>
                </a:solidFill>
                <a:latin typeface="Cambria"/>
                <a:cs typeface="Cambria"/>
              </a:rPr>
              <a:t>Low</a:t>
            </a:r>
            <a:r>
              <a:rPr sz="3350" spc="-15" dirty="0">
                <a:solidFill>
                  <a:srgbClr val="1C641A"/>
                </a:solidFill>
                <a:latin typeface="Cambria"/>
                <a:cs typeface="Cambria"/>
              </a:rPr>
              <a:t> </a:t>
            </a:r>
            <a:r>
              <a:rPr sz="3350" dirty="0">
                <a:solidFill>
                  <a:srgbClr val="21622B"/>
                </a:solidFill>
                <a:latin typeface="Cambria"/>
                <a:cs typeface="Cambria"/>
              </a:rPr>
              <a:t>Yield</a:t>
            </a:r>
            <a:r>
              <a:rPr sz="3350" spc="30" dirty="0">
                <a:solidFill>
                  <a:srgbClr val="21622B"/>
                </a:solidFill>
                <a:latin typeface="Cambria"/>
                <a:cs typeface="Cambria"/>
              </a:rPr>
              <a:t> </a:t>
            </a:r>
            <a:r>
              <a:rPr sz="3350" dirty="0">
                <a:solidFill>
                  <a:srgbClr val="2D641F"/>
                </a:solidFill>
                <a:latin typeface="Cambria"/>
                <a:cs typeface="Cambria"/>
              </a:rPr>
              <a:t>&amp;</a:t>
            </a:r>
            <a:r>
              <a:rPr sz="3350" spc="-50" dirty="0">
                <a:solidFill>
                  <a:srgbClr val="2D641F"/>
                </a:solidFill>
                <a:latin typeface="Cambria"/>
                <a:cs typeface="Cambria"/>
              </a:rPr>
              <a:t> </a:t>
            </a:r>
            <a:r>
              <a:rPr sz="3350" spc="-10" dirty="0">
                <a:solidFill>
                  <a:srgbClr val="1A5B18"/>
                </a:solidFill>
                <a:latin typeface="Cambria"/>
                <a:cs typeface="Cambria"/>
              </a:rPr>
              <a:t>Productivity</a:t>
            </a:r>
            <a:endParaRPr sz="3350">
              <a:latin typeface="Cambria"/>
              <a:cs typeface="Cambria"/>
            </a:endParaRPr>
          </a:p>
          <a:p>
            <a:pPr marL="19685" marR="5080" indent="-1270">
              <a:lnSpc>
                <a:spcPct val="122100"/>
              </a:lnSpc>
              <a:spcBef>
                <a:spcPts val="2095"/>
              </a:spcBef>
            </a:pPr>
            <a:r>
              <a:rPr sz="2700" spc="-55" dirty="0">
                <a:solidFill>
                  <a:srgbClr val="343434"/>
                </a:solidFill>
                <a:latin typeface="Cambria"/>
                <a:cs typeface="Cambria"/>
              </a:rPr>
              <a:t>Small </a:t>
            </a:r>
            <a:r>
              <a:rPr sz="2700" spc="-35" dirty="0">
                <a:solidFill>
                  <a:srgbClr val="333333"/>
                </a:solidFill>
                <a:latin typeface="Cambria"/>
                <a:cs typeface="Cambria"/>
              </a:rPr>
              <a:t>farmers</a:t>
            </a:r>
            <a:r>
              <a:rPr sz="2700" spc="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2A2A2A"/>
                </a:solidFill>
                <a:latin typeface="Cambria"/>
                <a:cs typeface="Cambria"/>
              </a:rPr>
              <a:t>often</a:t>
            </a:r>
            <a:r>
              <a:rPr sz="2700" spc="-15" dirty="0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13131"/>
                </a:solidFill>
                <a:latin typeface="Cambria"/>
                <a:cs typeface="Cambria"/>
              </a:rPr>
              <a:t>achieve</a:t>
            </a:r>
            <a:r>
              <a:rPr sz="2700" spc="10" dirty="0">
                <a:solidFill>
                  <a:srgbClr val="313131"/>
                </a:solidFill>
                <a:latin typeface="Cambria"/>
                <a:cs typeface="Cambria"/>
              </a:rPr>
              <a:t> </a:t>
            </a:r>
            <a:r>
              <a:rPr sz="2700" spc="-85" dirty="0">
                <a:solidFill>
                  <a:srgbClr val="2D2D2D"/>
                </a:solidFill>
                <a:latin typeface="Cambria"/>
                <a:cs typeface="Cambria"/>
              </a:rPr>
              <a:t>only</a:t>
            </a:r>
            <a:r>
              <a:rPr sz="2700" spc="5" dirty="0">
                <a:solidFill>
                  <a:srgbClr val="2D2D2D"/>
                </a:solidFill>
                <a:latin typeface="Cambria"/>
                <a:cs typeface="Cambria"/>
              </a:rPr>
              <a:t> </a:t>
            </a:r>
            <a:r>
              <a:rPr sz="2700" spc="-254" dirty="0">
                <a:solidFill>
                  <a:srgbClr val="2D2D2D"/>
                </a:solidFill>
                <a:latin typeface="Cambria"/>
                <a:cs typeface="Cambria"/>
              </a:rPr>
              <a:t>50—</a:t>
            </a:r>
            <a:r>
              <a:rPr sz="2700" spc="-155" dirty="0">
                <a:solidFill>
                  <a:srgbClr val="2D2D2D"/>
                </a:solidFill>
                <a:latin typeface="Cambria"/>
                <a:cs typeface="Cambria"/>
              </a:rPr>
              <a:t>60%</a:t>
            </a:r>
            <a:r>
              <a:rPr sz="2700" spc="105" dirty="0">
                <a:solidFill>
                  <a:srgbClr val="2D2D2D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63636"/>
                </a:solidFill>
                <a:latin typeface="Cambria"/>
                <a:cs typeface="Cambria"/>
              </a:rPr>
              <a:t>of</a:t>
            </a:r>
            <a:r>
              <a:rPr sz="2700" spc="204" dirty="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sz="2700" spc="-35" dirty="0">
                <a:solidFill>
                  <a:srgbClr val="2A2A2A"/>
                </a:solidFill>
                <a:latin typeface="Cambria"/>
                <a:cs typeface="Cambria"/>
              </a:rPr>
              <a:t>potential </a:t>
            </a:r>
            <a:r>
              <a:rPr sz="2700" spc="-45" dirty="0">
                <a:solidFill>
                  <a:srgbClr val="2A2A2A"/>
                </a:solidFill>
                <a:latin typeface="Cambria"/>
                <a:cs typeface="Cambria"/>
              </a:rPr>
              <a:t>yield</a:t>
            </a:r>
            <a:r>
              <a:rPr sz="2700" spc="55" dirty="0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33333"/>
                </a:solidFill>
                <a:latin typeface="Cambria"/>
                <a:cs typeface="Cambria"/>
              </a:rPr>
              <a:t>due</a:t>
            </a:r>
            <a:r>
              <a:rPr sz="2700" spc="-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282828"/>
                </a:solidFill>
                <a:latin typeface="Cambria"/>
                <a:cs typeface="Cambria"/>
              </a:rPr>
              <a:t>to</a:t>
            </a:r>
            <a:r>
              <a:rPr sz="2700" spc="-5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13131"/>
                </a:solidFill>
                <a:latin typeface="Cambria"/>
                <a:cs typeface="Cambria"/>
              </a:rPr>
              <a:t>poor</a:t>
            </a:r>
            <a:r>
              <a:rPr sz="2700" spc="-35" dirty="0">
                <a:solidFill>
                  <a:srgbClr val="313131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13131"/>
                </a:solidFill>
                <a:latin typeface="Cambria"/>
                <a:cs typeface="Cambria"/>
              </a:rPr>
              <a:t>crop</a:t>
            </a:r>
            <a:r>
              <a:rPr sz="2700" spc="15" dirty="0">
                <a:solidFill>
                  <a:srgbClr val="313131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13131"/>
                </a:solidFill>
                <a:latin typeface="Cambria"/>
                <a:cs typeface="Cambria"/>
              </a:rPr>
              <a:t>selection</a:t>
            </a:r>
            <a:r>
              <a:rPr sz="2700" spc="25" dirty="0">
                <a:solidFill>
                  <a:srgbClr val="313131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13131"/>
                </a:solidFill>
                <a:latin typeface="Cambria"/>
                <a:cs typeface="Cambria"/>
              </a:rPr>
              <a:t>and</a:t>
            </a:r>
            <a:r>
              <a:rPr sz="2700" spc="160" dirty="0">
                <a:solidFill>
                  <a:srgbClr val="313131"/>
                </a:solidFill>
                <a:latin typeface="Cambria"/>
                <a:cs typeface="Cambria"/>
              </a:rPr>
              <a:t> </a:t>
            </a:r>
            <a:r>
              <a:rPr sz="2700" spc="-65" dirty="0">
                <a:solidFill>
                  <a:srgbClr val="333333"/>
                </a:solidFill>
                <a:latin typeface="Cambria"/>
                <a:cs typeface="Cambria"/>
              </a:rPr>
              <a:t>lack</a:t>
            </a:r>
            <a:r>
              <a:rPr sz="2700" spc="-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2F2F2F"/>
                </a:solidFill>
                <a:latin typeface="Cambria"/>
                <a:cs typeface="Cambria"/>
              </a:rPr>
              <a:t>of</a:t>
            </a:r>
            <a:r>
              <a:rPr sz="2700" spc="114" dirty="0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2F2F2F"/>
                </a:solidFill>
                <a:latin typeface="Cambria"/>
                <a:cs typeface="Cambria"/>
              </a:rPr>
              <a:t>early </a:t>
            </a:r>
            <a:r>
              <a:rPr sz="2700" dirty="0">
                <a:solidFill>
                  <a:srgbClr val="343434"/>
                </a:solidFill>
                <a:latin typeface="Cambria"/>
                <a:cs typeface="Cambria"/>
              </a:rPr>
              <a:t>disease</a:t>
            </a:r>
            <a:r>
              <a:rPr sz="2700" spc="245" dirty="0">
                <a:solidFill>
                  <a:srgbClr val="343434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282828"/>
                </a:solidFill>
                <a:latin typeface="Cambria"/>
                <a:cs typeface="Cambria"/>
              </a:rPr>
              <a:t>detection.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5338" y="7131715"/>
            <a:ext cx="7590155" cy="23298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25"/>
              </a:spcBef>
            </a:pPr>
            <a:r>
              <a:rPr sz="3450" spc="-10" dirty="0">
                <a:solidFill>
                  <a:srgbClr val="266E24"/>
                </a:solidFill>
                <a:latin typeface="Cambria"/>
                <a:cs typeface="Cambria"/>
              </a:rPr>
              <a:t>Ecological</a:t>
            </a:r>
            <a:r>
              <a:rPr sz="3450" spc="-140" dirty="0">
                <a:solidFill>
                  <a:srgbClr val="266E24"/>
                </a:solidFill>
                <a:latin typeface="Cambria"/>
                <a:cs typeface="Cambria"/>
              </a:rPr>
              <a:t> </a:t>
            </a:r>
            <a:r>
              <a:rPr sz="3450" spc="-10" dirty="0">
                <a:solidFill>
                  <a:srgbClr val="265E2B"/>
                </a:solidFill>
                <a:latin typeface="Cambria"/>
                <a:cs typeface="Cambria"/>
              </a:rPr>
              <a:t>Degradation</a:t>
            </a:r>
            <a:endParaRPr sz="3450">
              <a:latin typeface="Cambria"/>
              <a:cs typeface="Cambria"/>
            </a:endParaRPr>
          </a:p>
          <a:p>
            <a:pPr marL="12700" marR="5080" indent="8890">
              <a:lnSpc>
                <a:spcPct val="117800"/>
              </a:lnSpc>
              <a:spcBef>
                <a:spcPts val="2095"/>
              </a:spcBef>
            </a:pPr>
            <a:r>
              <a:rPr sz="2800" dirty="0">
                <a:solidFill>
                  <a:srgbClr val="2D2D2D"/>
                </a:solidFill>
                <a:latin typeface="Calibri"/>
                <a:cs typeface="Calibri"/>
              </a:rPr>
              <a:t>Overuse</a:t>
            </a:r>
            <a:r>
              <a:rPr sz="2800" spc="8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63636"/>
                </a:solidFill>
                <a:latin typeface="Calibri"/>
                <a:cs typeface="Calibri"/>
              </a:rPr>
              <a:t>of</a:t>
            </a:r>
            <a:r>
              <a:rPr sz="2800" spc="7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F2F2F"/>
                </a:solidFill>
                <a:latin typeface="Calibri"/>
                <a:cs typeface="Calibri"/>
              </a:rPr>
              <a:t>chemicals</a:t>
            </a:r>
            <a:r>
              <a:rPr sz="2800" spc="9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13131"/>
                </a:solidFill>
                <a:latin typeface="Calibri"/>
                <a:cs typeface="Calibri"/>
              </a:rPr>
              <a:t>leading</a:t>
            </a:r>
            <a:r>
              <a:rPr sz="2800" spc="3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13131"/>
                </a:solidFill>
                <a:latin typeface="Calibri"/>
                <a:cs typeface="Calibri"/>
              </a:rPr>
              <a:t>to soil</a:t>
            </a:r>
            <a:r>
              <a:rPr sz="2800" spc="-114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B2B2B"/>
                </a:solidFill>
                <a:latin typeface="Calibri"/>
                <a:cs typeface="Calibri"/>
              </a:rPr>
              <a:t>toxicity</a:t>
            </a:r>
            <a:r>
              <a:rPr sz="2800" spc="1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83838"/>
                </a:solidFill>
                <a:latin typeface="Calibri"/>
                <a:cs typeface="Calibri"/>
              </a:rPr>
              <a:t>and</a:t>
            </a:r>
            <a:r>
              <a:rPr sz="2800" spc="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33333"/>
                </a:solidFill>
                <a:latin typeface="Calibri"/>
                <a:cs typeface="Calibri"/>
              </a:rPr>
              <a:t>the </a:t>
            </a:r>
            <a:r>
              <a:rPr sz="2800" i="1" dirty="0">
                <a:solidFill>
                  <a:srgbClr val="282828"/>
                </a:solidFill>
                <a:latin typeface="Calibri"/>
                <a:cs typeface="Calibri"/>
              </a:rPr>
              <a:t>Pesticide</a:t>
            </a:r>
            <a:r>
              <a:rPr sz="2800" i="1" spc="52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2B2B2B"/>
                </a:solidFill>
                <a:latin typeface="Calibri"/>
                <a:cs typeface="Calibri"/>
              </a:rPr>
              <a:t>Treadmilltheory</a:t>
            </a:r>
            <a:r>
              <a:rPr sz="2800" spc="1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800" spc="-60" dirty="0">
                <a:solidFill>
                  <a:srgbClr val="333333"/>
                </a:solidFill>
                <a:latin typeface="Calibri"/>
                <a:cs typeface="Calibri"/>
              </a:rPr>
              <a:t>where</a:t>
            </a:r>
            <a:r>
              <a:rPr sz="2800" spc="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65" dirty="0">
                <a:solidFill>
                  <a:srgbClr val="2B2B2B"/>
                </a:solidFill>
                <a:latin typeface="Calibri"/>
                <a:cs typeface="Calibri"/>
              </a:rPr>
              <a:t>pests</a:t>
            </a:r>
            <a:r>
              <a:rPr sz="2800" spc="1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13131"/>
                </a:solidFill>
                <a:latin typeface="Calibri"/>
                <a:cs typeface="Calibri"/>
              </a:rPr>
              <a:t>develop </a:t>
            </a:r>
            <a:r>
              <a:rPr sz="2800" spc="-10" dirty="0">
                <a:solidFill>
                  <a:srgbClr val="2D2D2D"/>
                </a:solidFill>
                <a:latin typeface="Calibri"/>
                <a:cs typeface="Calibri"/>
              </a:rPr>
              <a:t>resistance.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74777" y="3149507"/>
            <a:ext cx="6930390" cy="2350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5"/>
              </a:spcBef>
            </a:pPr>
            <a:r>
              <a:rPr sz="3600" dirty="0">
                <a:solidFill>
                  <a:srgbClr val="185D2B"/>
                </a:solidFill>
                <a:latin typeface="Times New Roman"/>
                <a:cs typeface="Times New Roman"/>
              </a:rPr>
              <a:t>High</a:t>
            </a:r>
            <a:r>
              <a:rPr sz="3600" spc="-70" dirty="0">
                <a:solidFill>
                  <a:srgbClr val="185D2B"/>
                </a:solidFill>
                <a:latin typeface="Times New Roman"/>
                <a:cs typeface="Times New Roman"/>
              </a:rPr>
              <a:t> </a:t>
            </a:r>
            <a:r>
              <a:rPr sz="3600" spc="55" dirty="0">
                <a:solidFill>
                  <a:srgbClr val="135D1D"/>
                </a:solidFill>
                <a:latin typeface="Times New Roman"/>
                <a:cs typeface="Times New Roman"/>
              </a:rPr>
              <a:t>Input</a:t>
            </a:r>
            <a:r>
              <a:rPr sz="3600" spc="-35" dirty="0">
                <a:solidFill>
                  <a:srgbClr val="135D1D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235E31"/>
                </a:solidFill>
                <a:latin typeface="Times New Roman"/>
                <a:cs typeface="Times New Roman"/>
              </a:rPr>
              <a:t>Costs</a:t>
            </a:r>
            <a:endParaRPr sz="3600">
              <a:latin typeface="Times New Roman"/>
              <a:cs typeface="Times New Roman"/>
            </a:endParaRPr>
          </a:p>
          <a:p>
            <a:pPr marL="12700" marR="5080">
              <a:lnSpc>
                <a:spcPct val="122100"/>
              </a:lnSpc>
              <a:spcBef>
                <a:spcPts val="2110"/>
              </a:spcBef>
            </a:pPr>
            <a:r>
              <a:rPr sz="2700" spc="-10" dirty="0">
                <a:solidFill>
                  <a:srgbClr val="313131"/>
                </a:solidFill>
                <a:latin typeface="Cambria"/>
                <a:cs typeface="Cambria"/>
              </a:rPr>
              <a:t>Economic</a:t>
            </a:r>
            <a:r>
              <a:rPr sz="2700" spc="170" dirty="0">
                <a:solidFill>
                  <a:srgbClr val="313131"/>
                </a:solidFill>
                <a:latin typeface="Cambria"/>
                <a:cs typeface="Cambria"/>
              </a:rPr>
              <a:t> </a:t>
            </a:r>
            <a:r>
              <a:rPr sz="2700" spc="-40" dirty="0">
                <a:solidFill>
                  <a:srgbClr val="343434"/>
                </a:solidFill>
                <a:latin typeface="Cambria"/>
                <a:cs typeface="Cambria"/>
              </a:rPr>
              <a:t>burden</a:t>
            </a:r>
            <a:r>
              <a:rPr sz="2700" spc="-25" dirty="0">
                <a:solidFill>
                  <a:srgbClr val="343434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A3A3A"/>
                </a:solidFill>
                <a:latin typeface="Cambria"/>
                <a:cs typeface="Cambria"/>
              </a:rPr>
              <a:t>due</a:t>
            </a:r>
            <a:r>
              <a:rPr sz="2700" spc="-50" dirty="0">
                <a:solidFill>
                  <a:srgbClr val="3A3A3A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63636"/>
                </a:solidFill>
                <a:latin typeface="Cambria"/>
                <a:cs typeface="Cambria"/>
              </a:rPr>
              <a:t>to</a:t>
            </a:r>
            <a:r>
              <a:rPr sz="2700" spc="-60" dirty="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sz="2700" spc="-40" dirty="0">
                <a:solidFill>
                  <a:srgbClr val="2A2A2A"/>
                </a:solidFill>
                <a:latin typeface="Cambria"/>
                <a:cs typeface="Cambria"/>
              </a:rPr>
              <a:t>wasteful</a:t>
            </a:r>
            <a:r>
              <a:rPr sz="2700" spc="40" dirty="0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282828"/>
                </a:solidFill>
                <a:latin typeface="Cambria"/>
                <a:cs typeface="Cambria"/>
              </a:rPr>
              <a:t>application</a:t>
            </a:r>
            <a:r>
              <a:rPr sz="2700" spc="30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2700" spc="-25" dirty="0">
                <a:solidFill>
                  <a:srgbClr val="383838"/>
                </a:solidFill>
                <a:latin typeface="Cambria"/>
                <a:cs typeface="Cambria"/>
              </a:rPr>
              <a:t>of </a:t>
            </a:r>
            <a:r>
              <a:rPr sz="2700" spc="-55" dirty="0">
                <a:solidFill>
                  <a:srgbClr val="2A2A2A"/>
                </a:solidFill>
                <a:latin typeface="Cambria"/>
                <a:cs typeface="Cambria"/>
              </a:rPr>
              <a:t>water</a:t>
            </a:r>
            <a:r>
              <a:rPr sz="2700" spc="-15" dirty="0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43434"/>
                </a:solidFill>
                <a:latin typeface="Cambria"/>
                <a:cs typeface="Cambria"/>
              </a:rPr>
              <a:t>and</a:t>
            </a:r>
            <a:r>
              <a:rPr sz="2700" spc="10" dirty="0">
                <a:solidFill>
                  <a:srgbClr val="343434"/>
                </a:solidFill>
                <a:latin typeface="Cambria"/>
                <a:cs typeface="Cambria"/>
              </a:rPr>
              <a:t> </a:t>
            </a:r>
            <a:r>
              <a:rPr sz="2700" spc="-75" dirty="0">
                <a:solidFill>
                  <a:srgbClr val="2A2A2A"/>
                </a:solidFill>
                <a:latin typeface="Cambria"/>
                <a:cs typeface="Cambria"/>
              </a:rPr>
              <a:t>fertilizers</a:t>
            </a:r>
            <a:r>
              <a:rPr sz="2700" spc="70" dirty="0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sz="2700" spc="-55" dirty="0">
                <a:solidFill>
                  <a:srgbClr val="282828"/>
                </a:solidFill>
                <a:latin typeface="Cambria"/>
                <a:cs typeface="Cambria"/>
              </a:rPr>
              <a:t>without</a:t>
            </a:r>
            <a:r>
              <a:rPr sz="2700" spc="120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313131"/>
                </a:solidFill>
                <a:latin typeface="Cambria"/>
                <a:cs typeface="Cambria"/>
              </a:rPr>
              <a:t>specific</a:t>
            </a:r>
            <a:r>
              <a:rPr sz="2700" spc="-5" dirty="0">
                <a:solidFill>
                  <a:srgbClr val="313131"/>
                </a:solidFill>
                <a:latin typeface="Cambria"/>
                <a:cs typeface="Cambria"/>
              </a:rPr>
              <a:t> </a:t>
            </a:r>
            <a:r>
              <a:rPr sz="2700" spc="-20" dirty="0">
                <a:solidFill>
                  <a:srgbClr val="343434"/>
                </a:solidFill>
                <a:latin typeface="Cambria"/>
                <a:cs typeface="Cambria"/>
              </a:rPr>
              <a:t>soil </a:t>
            </a:r>
            <a:r>
              <a:rPr sz="2700" spc="-10" dirty="0">
                <a:solidFill>
                  <a:srgbClr val="282828"/>
                </a:solidFill>
                <a:latin typeface="Cambria"/>
                <a:cs typeface="Cambria"/>
              </a:rPr>
              <a:t>requirements.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70442" y="7148076"/>
            <a:ext cx="7707630" cy="1811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3350" spc="50" dirty="0">
                <a:solidFill>
                  <a:srgbClr val="1C6928"/>
                </a:solidFill>
                <a:latin typeface="Cambria"/>
                <a:cs typeface="Cambria"/>
              </a:rPr>
              <a:t>Socio-</a:t>
            </a:r>
            <a:r>
              <a:rPr sz="3350" spc="55" dirty="0">
                <a:solidFill>
                  <a:srgbClr val="1C6928"/>
                </a:solidFill>
                <a:latin typeface="Cambria"/>
                <a:cs typeface="Cambria"/>
              </a:rPr>
              <a:t>Technical</a:t>
            </a:r>
            <a:r>
              <a:rPr sz="3350" spc="-180" dirty="0">
                <a:solidFill>
                  <a:srgbClr val="1C6928"/>
                </a:solidFill>
                <a:latin typeface="Cambria"/>
                <a:cs typeface="Cambria"/>
              </a:rPr>
              <a:t> </a:t>
            </a:r>
            <a:r>
              <a:rPr sz="3350" spc="-10" dirty="0">
                <a:solidFill>
                  <a:srgbClr val="185B2A"/>
                </a:solidFill>
                <a:latin typeface="Cambria"/>
                <a:cs typeface="Cambria"/>
              </a:rPr>
              <a:t>Barriers</a:t>
            </a:r>
            <a:endParaRPr sz="3350">
              <a:latin typeface="Cambria"/>
              <a:cs typeface="Cambria"/>
            </a:endParaRPr>
          </a:p>
          <a:p>
            <a:pPr marL="15875" marR="5080" indent="-3810">
              <a:lnSpc>
                <a:spcPct val="117800"/>
              </a:lnSpc>
              <a:spcBef>
                <a:spcPts val="2115"/>
              </a:spcBef>
            </a:pPr>
            <a:r>
              <a:rPr sz="2800" dirty="0">
                <a:solidFill>
                  <a:srgbClr val="242424"/>
                </a:solidFill>
                <a:latin typeface="Calibri"/>
                <a:cs typeface="Calibri"/>
              </a:rPr>
              <a:t>Complex</a:t>
            </a:r>
            <a:r>
              <a:rPr sz="2800" spc="16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F2F2F"/>
                </a:solidFill>
                <a:latin typeface="Calibri"/>
                <a:cs typeface="Calibri"/>
              </a:rPr>
              <a:t>scientific</a:t>
            </a:r>
            <a:r>
              <a:rPr sz="2800" spc="14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13131"/>
                </a:solidFill>
                <a:latin typeface="Calibri"/>
                <a:cs typeface="Calibri"/>
              </a:rPr>
              <a:t>reports</a:t>
            </a:r>
            <a:r>
              <a:rPr sz="2800" spc="13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13131"/>
                </a:solidFill>
                <a:latin typeface="Calibri"/>
                <a:cs typeface="Calibri"/>
              </a:rPr>
              <a:t>are</a:t>
            </a:r>
            <a:r>
              <a:rPr sz="2800" spc="-2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A2A2A"/>
                </a:solidFill>
                <a:latin typeface="Calibri"/>
                <a:cs typeface="Calibri"/>
              </a:rPr>
              <a:t>often</a:t>
            </a:r>
            <a:r>
              <a:rPr sz="2800" spc="-114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F2F2F"/>
                </a:solidFill>
                <a:latin typeface="Calibri"/>
                <a:cs typeface="Calibri"/>
              </a:rPr>
              <a:t>inaccessible</a:t>
            </a:r>
            <a:r>
              <a:rPr sz="2800" spc="14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33333"/>
                </a:solidFill>
                <a:latin typeface="Calibri"/>
                <a:cs typeface="Calibri"/>
              </a:rPr>
              <a:t>due </a:t>
            </a:r>
            <a:r>
              <a:rPr sz="2800" dirty="0">
                <a:solidFill>
                  <a:srgbClr val="2B2B2B"/>
                </a:solidFill>
                <a:latin typeface="Calibri"/>
                <a:cs typeface="Calibri"/>
              </a:rPr>
              <a:t>to</a:t>
            </a:r>
            <a:r>
              <a:rPr sz="2800" spc="-1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2F2F2F"/>
                </a:solidFill>
                <a:latin typeface="Calibri"/>
                <a:cs typeface="Calibri"/>
              </a:rPr>
              <a:t>language</a:t>
            </a:r>
            <a:r>
              <a:rPr sz="2800" spc="-3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13131"/>
                </a:solidFill>
                <a:latin typeface="Calibri"/>
                <a:cs typeface="Calibri"/>
              </a:rPr>
              <a:t>barriers</a:t>
            </a:r>
            <a:r>
              <a:rPr sz="2800" spc="6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2800" spc="-9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800" spc="-65" dirty="0">
                <a:solidFill>
                  <a:srgbClr val="313131"/>
                </a:solidFill>
                <a:latin typeface="Calibri"/>
                <a:cs typeface="Calibri"/>
              </a:rPr>
              <a:t>low </a:t>
            </a:r>
            <a:r>
              <a:rPr sz="2800" dirty="0">
                <a:solidFill>
                  <a:srgbClr val="2D2D2D"/>
                </a:solidFill>
                <a:latin typeface="Calibri"/>
                <a:cs typeface="Calibri"/>
              </a:rPr>
              <a:t>technical</a:t>
            </a:r>
            <a:r>
              <a:rPr sz="2800" spc="-4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B2B2B"/>
                </a:solidFill>
                <a:latin typeface="Calibri"/>
                <a:cs typeface="Calibri"/>
              </a:rPr>
              <a:t>literacy.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1032" y="4484156"/>
            <a:ext cx="3376860" cy="122509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673" y="1947584"/>
            <a:ext cx="18313578" cy="7853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10"/>
              </a:spcBef>
            </a:pPr>
            <a:r>
              <a:rPr b="0" spc="60" dirty="0">
                <a:solidFill>
                  <a:srgbClr val="215B1F"/>
                </a:solidFill>
                <a:latin typeface="Cambria"/>
                <a:cs typeface="Cambria"/>
              </a:rPr>
              <a:t>The</a:t>
            </a:r>
            <a:r>
              <a:rPr b="0" spc="-350" dirty="0">
                <a:solidFill>
                  <a:srgbClr val="215B1F"/>
                </a:solidFill>
                <a:latin typeface="Cambria"/>
                <a:cs typeface="Cambria"/>
              </a:rPr>
              <a:t> </a:t>
            </a:r>
            <a:r>
              <a:rPr b="0" dirty="0">
                <a:solidFill>
                  <a:srgbClr val="1C5D21"/>
                </a:solidFill>
                <a:latin typeface="Cambria"/>
                <a:cs typeface="Cambria"/>
              </a:rPr>
              <a:t>Gravity</a:t>
            </a:r>
            <a:r>
              <a:rPr b="0" spc="-85" dirty="0">
                <a:solidFill>
                  <a:srgbClr val="1C5D21"/>
                </a:solidFill>
                <a:latin typeface="Cambria"/>
                <a:cs typeface="Cambria"/>
              </a:rPr>
              <a:t> </a:t>
            </a:r>
            <a:r>
              <a:rPr b="0" dirty="0">
                <a:solidFill>
                  <a:srgbClr val="18601A"/>
                </a:solidFill>
                <a:latin typeface="Cambria"/>
                <a:cs typeface="Cambria"/>
              </a:rPr>
              <a:t>of</a:t>
            </a:r>
            <a:r>
              <a:rPr b="0" spc="110" dirty="0">
                <a:solidFill>
                  <a:srgbClr val="18601A"/>
                </a:solidFill>
                <a:latin typeface="Cambria"/>
                <a:cs typeface="Cambria"/>
              </a:rPr>
              <a:t> </a:t>
            </a:r>
            <a:r>
              <a:rPr b="0" dirty="0">
                <a:solidFill>
                  <a:srgbClr val="1C5E21"/>
                </a:solidFill>
                <a:latin typeface="Cambria"/>
                <a:cs typeface="Cambria"/>
              </a:rPr>
              <a:t>the</a:t>
            </a:r>
            <a:r>
              <a:rPr b="0" spc="-190" dirty="0">
                <a:solidFill>
                  <a:srgbClr val="1C5E21"/>
                </a:solidFill>
                <a:latin typeface="Cambria"/>
                <a:cs typeface="Cambria"/>
              </a:rPr>
              <a:t> </a:t>
            </a:r>
            <a:r>
              <a:rPr b="0" spc="-10" dirty="0">
                <a:solidFill>
                  <a:srgbClr val="1F5B23"/>
                </a:solidFill>
                <a:latin typeface="Cambria"/>
                <a:cs typeface="Cambria"/>
              </a:rPr>
              <a:t>Situation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37421" y="6040780"/>
            <a:ext cx="4457065" cy="53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50" dirty="0">
                <a:solidFill>
                  <a:srgbClr val="496469"/>
                </a:solidFill>
                <a:latin typeface="Calibri"/>
                <a:cs typeface="Calibri"/>
              </a:rPr>
              <a:t>Small</a:t>
            </a:r>
            <a:r>
              <a:rPr sz="3350" spc="-90" dirty="0">
                <a:solidFill>
                  <a:srgbClr val="496469"/>
                </a:solidFill>
                <a:latin typeface="Calibri"/>
                <a:cs typeface="Calibri"/>
              </a:rPr>
              <a:t> </a:t>
            </a:r>
            <a:r>
              <a:rPr sz="3350" dirty="0">
                <a:solidFill>
                  <a:srgbClr val="4D6E7C"/>
                </a:solidFill>
                <a:latin typeface="Calibri"/>
                <a:cs typeface="Calibri"/>
              </a:rPr>
              <a:t>&amp;</a:t>
            </a:r>
            <a:r>
              <a:rPr sz="3350" spc="-190" dirty="0">
                <a:solidFill>
                  <a:srgbClr val="4D6E7C"/>
                </a:solidFill>
                <a:latin typeface="Calibri"/>
                <a:cs typeface="Calibri"/>
              </a:rPr>
              <a:t> </a:t>
            </a:r>
            <a:r>
              <a:rPr sz="3350" spc="-20" dirty="0">
                <a:solidFill>
                  <a:srgbClr val="506B7C"/>
                </a:solidFill>
                <a:latin typeface="Calibri"/>
                <a:cs typeface="Calibri"/>
              </a:rPr>
              <a:t>Marginal</a:t>
            </a:r>
            <a:r>
              <a:rPr sz="3350" spc="25" dirty="0">
                <a:solidFill>
                  <a:srgbClr val="506B7C"/>
                </a:solidFill>
                <a:latin typeface="Calibri"/>
                <a:cs typeface="Calibri"/>
              </a:rPr>
              <a:t> </a:t>
            </a:r>
            <a:r>
              <a:rPr sz="3350" spc="-10" dirty="0">
                <a:solidFill>
                  <a:srgbClr val="526E75"/>
                </a:solidFill>
                <a:latin typeface="Calibri"/>
                <a:cs typeface="Calibri"/>
              </a:rPr>
              <a:t>Farmers</a:t>
            </a:r>
            <a:endParaRPr sz="33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14045" y="3800011"/>
            <a:ext cx="5509895" cy="278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0480" algn="ctr">
              <a:lnSpc>
                <a:spcPct val="100000"/>
              </a:lnSpc>
              <a:spcBef>
                <a:spcPts val="135"/>
              </a:spcBef>
            </a:pPr>
            <a:r>
              <a:rPr sz="14650" spc="480" dirty="0">
                <a:solidFill>
                  <a:srgbClr val="1C5D1F"/>
                </a:solidFill>
                <a:latin typeface="Calibri"/>
                <a:cs typeface="Calibri"/>
              </a:rPr>
              <a:t>75dk</a:t>
            </a:r>
            <a:endParaRPr sz="146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3350" spc="130" dirty="0">
                <a:solidFill>
                  <a:srgbClr val="627577"/>
                </a:solidFill>
                <a:latin typeface="Calibri"/>
                <a:cs typeface="Calibri"/>
              </a:rPr>
              <a:t>Cr</a:t>
            </a:r>
            <a:r>
              <a:rPr sz="3350" spc="-50" dirty="0">
                <a:solidFill>
                  <a:srgbClr val="627577"/>
                </a:solidFill>
                <a:latin typeface="Calibri"/>
                <a:cs typeface="Calibri"/>
              </a:rPr>
              <a:t> </a:t>
            </a:r>
            <a:r>
              <a:rPr sz="3350" spc="-20" dirty="0">
                <a:solidFill>
                  <a:srgbClr val="5B7280"/>
                </a:solidFill>
                <a:latin typeface="Calibri"/>
                <a:cs typeface="Calibri"/>
              </a:rPr>
              <a:t>Annual</a:t>
            </a:r>
            <a:r>
              <a:rPr sz="3350" spc="95" dirty="0">
                <a:solidFill>
                  <a:srgbClr val="5B7280"/>
                </a:solidFill>
                <a:latin typeface="Calibri"/>
                <a:cs typeface="Calibri"/>
              </a:rPr>
              <a:t> </a:t>
            </a:r>
            <a:r>
              <a:rPr sz="3350" spc="60" dirty="0">
                <a:solidFill>
                  <a:srgbClr val="62777E"/>
                </a:solidFill>
                <a:latin typeface="Calibri"/>
                <a:cs typeface="Calibri"/>
              </a:rPr>
              <a:t>Crop</a:t>
            </a:r>
            <a:r>
              <a:rPr sz="3350" spc="-75" dirty="0">
                <a:solidFill>
                  <a:srgbClr val="62777E"/>
                </a:solidFill>
                <a:latin typeface="Calibri"/>
                <a:cs typeface="Calibri"/>
              </a:rPr>
              <a:t> </a:t>
            </a:r>
            <a:r>
              <a:rPr sz="3350" spc="80" dirty="0">
                <a:solidFill>
                  <a:srgbClr val="646464"/>
                </a:solidFill>
                <a:latin typeface="Calibri"/>
                <a:cs typeface="Calibri"/>
              </a:rPr>
              <a:t>Loss</a:t>
            </a:r>
            <a:r>
              <a:rPr sz="3350" spc="-95" dirty="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sz="3350" spc="55" dirty="0">
                <a:solidFill>
                  <a:srgbClr val="4D6B7B"/>
                </a:solidFill>
                <a:latin typeface="Calibri"/>
                <a:cs typeface="Calibri"/>
              </a:rPr>
              <a:t>(Diseases)</a:t>
            </a:r>
            <a:endParaRPr sz="33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38079" y="3800011"/>
            <a:ext cx="4000500" cy="278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85850">
              <a:lnSpc>
                <a:spcPct val="100000"/>
              </a:lnSpc>
              <a:spcBef>
                <a:spcPts val="135"/>
              </a:spcBef>
            </a:pPr>
            <a:r>
              <a:rPr sz="14650" spc="250" dirty="0">
                <a:solidFill>
                  <a:srgbClr val="1C5D1F"/>
                </a:solidFill>
                <a:latin typeface="Calibri"/>
                <a:cs typeface="Calibri"/>
              </a:rPr>
              <a:t>#2</a:t>
            </a:r>
            <a:endParaRPr sz="14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350" spc="130" dirty="0">
                <a:solidFill>
                  <a:srgbClr val="56646B"/>
                </a:solidFill>
                <a:latin typeface="Calibri"/>
                <a:cs typeface="Calibri"/>
              </a:rPr>
              <a:t>SDG</a:t>
            </a:r>
            <a:r>
              <a:rPr sz="3350" spc="-175" dirty="0">
                <a:solidFill>
                  <a:srgbClr val="56646B"/>
                </a:solidFill>
                <a:latin typeface="Calibri"/>
                <a:cs typeface="Calibri"/>
              </a:rPr>
              <a:t> </a:t>
            </a:r>
            <a:r>
              <a:rPr sz="3350" spc="-25" dirty="0">
                <a:solidFill>
                  <a:srgbClr val="5D7077"/>
                </a:solidFill>
                <a:latin typeface="Calibri"/>
                <a:cs typeface="Calibri"/>
              </a:rPr>
              <a:t>Goal:</a:t>
            </a:r>
            <a:r>
              <a:rPr sz="3350" spc="-60" dirty="0">
                <a:solidFill>
                  <a:srgbClr val="5D7077"/>
                </a:solidFill>
                <a:latin typeface="Calibri"/>
                <a:cs typeface="Calibri"/>
              </a:rPr>
              <a:t> </a:t>
            </a:r>
            <a:r>
              <a:rPr sz="3350" dirty="0">
                <a:solidFill>
                  <a:srgbClr val="4D6B72"/>
                </a:solidFill>
                <a:latin typeface="Calibri"/>
                <a:cs typeface="Calibri"/>
              </a:rPr>
              <a:t>Zero</a:t>
            </a:r>
            <a:r>
              <a:rPr sz="3350" spc="-145" dirty="0">
                <a:solidFill>
                  <a:srgbClr val="4D6B72"/>
                </a:solidFill>
                <a:latin typeface="Calibri"/>
                <a:cs typeface="Calibri"/>
              </a:rPr>
              <a:t> </a:t>
            </a:r>
            <a:r>
              <a:rPr sz="3350" spc="-10" dirty="0">
                <a:solidFill>
                  <a:srgbClr val="606060"/>
                </a:solidFill>
                <a:latin typeface="Calibri"/>
                <a:cs typeface="Calibri"/>
              </a:rPr>
              <a:t>Hunger</a:t>
            </a:r>
            <a:endParaRPr sz="33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40204" y="7778947"/>
            <a:ext cx="12805410" cy="1015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36825" marR="5080" indent="-2524760">
              <a:lnSpc>
                <a:spcPct val="115900"/>
              </a:lnSpc>
              <a:spcBef>
                <a:spcPts val="95"/>
              </a:spcBef>
            </a:pPr>
            <a:r>
              <a:rPr sz="2800" dirty="0">
                <a:solidFill>
                  <a:srgbClr val="5B5B5B"/>
                </a:solidFill>
                <a:latin typeface="Calibri"/>
                <a:cs typeface="Calibri"/>
              </a:rPr>
              <a:t>Improving</a:t>
            </a:r>
            <a:r>
              <a:rPr sz="2800" spc="130" dirty="0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75757"/>
                </a:solidFill>
                <a:latin typeface="Calibri"/>
                <a:cs typeface="Calibri"/>
              </a:rPr>
              <a:t>the</a:t>
            </a:r>
            <a:r>
              <a:rPr sz="2800" spc="-65" dirty="0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95959"/>
                </a:solidFill>
                <a:latin typeface="Calibri"/>
                <a:cs typeface="Calibri"/>
              </a:rPr>
              <a:t>income</a:t>
            </a:r>
            <a:r>
              <a:rPr sz="2800" spc="-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77858C"/>
                </a:solidFill>
                <a:latin typeface="Calibri"/>
                <a:cs typeface="Calibri"/>
              </a:rPr>
              <a:t>of</a:t>
            </a:r>
            <a:r>
              <a:rPr sz="2800" spc="60" dirty="0">
                <a:solidFill>
                  <a:srgbClr val="77858C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D5D5D"/>
                </a:solidFill>
                <a:latin typeface="Calibri"/>
                <a:cs typeface="Calibri"/>
              </a:rPr>
              <a:t>these</a:t>
            </a:r>
            <a:r>
              <a:rPr sz="2800" spc="40" dirty="0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B5B5B"/>
                </a:solidFill>
                <a:latin typeface="Calibri"/>
                <a:cs typeface="Calibri"/>
              </a:rPr>
              <a:t>86%</a:t>
            </a:r>
            <a:r>
              <a:rPr sz="2800" spc="20" dirty="0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95959"/>
                </a:solidFill>
                <a:latin typeface="Calibri"/>
                <a:cs typeface="Calibri"/>
              </a:rPr>
              <a:t>is</a:t>
            </a:r>
            <a:r>
              <a:rPr sz="2800" spc="-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75757"/>
                </a:solidFill>
                <a:latin typeface="Calibri"/>
                <a:cs typeface="Calibri"/>
              </a:rPr>
              <a:t>not</a:t>
            </a:r>
            <a:r>
              <a:rPr sz="2800" spc="40" dirty="0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D5D5D"/>
                </a:solidFill>
                <a:latin typeface="Calibri"/>
                <a:cs typeface="Calibri"/>
              </a:rPr>
              <a:t>just</a:t>
            </a:r>
            <a:r>
              <a:rPr sz="2800" spc="25" dirty="0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646464"/>
                </a:solidFill>
                <a:latin typeface="Calibri"/>
                <a:cs typeface="Calibri"/>
              </a:rPr>
              <a:t>an</a:t>
            </a:r>
            <a:r>
              <a:rPr sz="2800" spc="-160" dirty="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sz="2800" spc="-40" dirty="0">
                <a:solidFill>
                  <a:srgbClr val="565656"/>
                </a:solidFill>
                <a:latin typeface="Calibri"/>
                <a:cs typeface="Calibri"/>
              </a:rPr>
              <a:t>agricultural</a:t>
            </a:r>
            <a:r>
              <a:rPr sz="2800" spc="145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2800" spc="-65" dirty="0">
                <a:solidFill>
                  <a:srgbClr val="626262"/>
                </a:solidFill>
                <a:latin typeface="Calibri"/>
                <a:cs typeface="Calibri"/>
              </a:rPr>
              <a:t>goal,</a:t>
            </a:r>
            <a:r>
              <a:rPr sz="2800" spc="-55" dirty="0">
                <a:solidFill>
                  <a:srgbClr val="62626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606060"/>
                </a:solidFill>
                <a:latin typeface="Calibri"/>
                <a:cs typeface="Calibri"/>
              </a:rPr>
              <a:t>but</a:t>
            </a:r>
            <a:r>
              <a:rPr sz="2800" spc="15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800" spc="105" dirty="0">
                <a:solidFill>
                  <a:srgbClr val="6B7E83"/>
                </a:solidFill>
                <a:latin typeface="Calibri"/>
                <a:cs typeface="Calibri"/>
              </a:rPr>
              <a:t>a</a:t>
            </a:r>
            <a:r>
              <a:rPr sz="2800" spc="-145" dirty="0">
                <a:solidFill>
                  <a:srgbClr val="6B7E83"/>
                </a:solidFill>
                <a:latin typeface="Calibri"/>
                <a:cs typeface="Calibri"/>
              </a:rPr>
              <a:t> </a:t>
            </a:r>
            <a:r>
              <a:rPr sz="2800" spc="-70" dirty="0">
                <a:solidFill>
                  <a:srgbClr val="4F4F4F"/>
                </a:solidFill>
                <a:latin typeface="Calibri"/>
                <a:cs typeface="Calibri"/>
              </a:rPr>
              <a:t>socio—</a:t>
            </a:r>
            <a:r>
              <a:rPr sz="2800" spc="-20" dirty="0">
                <a:solidFill>
                  <a:srgbClr val="4F4F4F"/>
                </a:solidFill>
                <a:latin typeface="Calibri"/>
                <a:cs typeface="Calibri"/>
              </a:rPr>
              <a:t>economic </a:t>
            </a:r>
            <a:r>
              <a:rPr sz="2800" dirty="0">
                <a:solidFill>
                  <a:srgbClr val="595959"/>
                </a:solidFill>
                <a:latin typeface="Calibri"/>
                <a:cs typeface="Calibri"/>
              </a:rPr>
              <a:t>necessity</a:t>
            </a:r>
            <a:r>
              <a:rPr sz="2800" spc="1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95959"/>
                </a:solidFill>
                <a:latin typeface="Calibri"/>
                <a:cs typeface="Calibri"/>
              </a:rPr>
              <a:t>for</a:t>
            </a:r>
            <a:r>
              <a:rPr sz="2800" spc="-4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606060"/>
                </a:solidFill>
                <a:latin typeface="Calibri"/>
                <a:cs typeface="Calibri"/>
              </a:rPr>
              <a:t>rural</a:t>
            </a:r>
            <a:r>
              <a:rPr sz="2800" spc="20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B5B5B"/>
                </a:solidFill>
                <a:latin typeface="Calibri"/>
                <a:cs typeface="Calibri"/>
              </a:rPr>
              <a:t>stability</a:t>
            </a:r>
            <a:r>
              <a:rPr sz="2800" spc="135" dirty="0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D5D5D"/>
                </a:solidFill>
                <a:latin typeface="Calibri"/>
                <a:cs typeface="Calibri"/>
              </a:rPr>
              <a:t>and</a:t>
            </a:r>
            <a:r>
              <a:rPr sz="2800" spc="-25" dirty="0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575757"/>
                </a:solidFill>
                <a:latin typeface="Calibri"/>
                <a:cs typeface="Calibri"/>
              </a:rPr>
              <a:t>national</a:t>
            </a:r>
            <a:r>
              <a:rPr sz="2800" spc="60" dirty="0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95959"/>
                </a:solidFill>
                <a:latin typeface="Calibri"/>
                <a:cs typeface="Calibri"/>
              </a:rPr>
              <a:t>food</a:t>
            </a:r>
            <a:r>
              <a:rPr sz="2800" spc="5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565656"/>
                </a:solidFill>
                <a:latin typeface="Calibri"/>
                <a:cs typeface="Calibri"/>
              </a:rPr>
              <a:t>security.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2050" y="0"/>
            <a:ext cx="10052050" cy="1130855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73792" y="2815359"/>
            <a:ext cx="8167370" cy="0"/>
          </a:xfrm>
          <a:custGeom>
            <a:avLst/>
            <a:gdLst/>
            <a:ahLst/>
            <a:cxnLst/>
            <a:rect l="l" t="t" r="r" b="b"/>
            <a:pathLst>
              <a:path w="8167370">
                <a:moveTo>
                  <a:pt x="0" y="0"/>
                </a:moveTo>
                <a:lnTo>
                  <a:pt x="8167291" y="0"/>
                </a:lnTo>
              </a:path>
            </a:pathLst>
          </a:custGeom>
          <a:ln w="39265">
            <a:solidFill>
              <a:srgbClr val="1C57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7055"/>
              </a:lnSpc>
              <a:spcBef>
                <a:spcPts val="110"/>
              </a:spcBef>
            </a:pPr>
            <a:r>
              <a:rPr b="0" spc="-40" dirty="0">
                <a:solidFill>
                  <a:srgbClr val="1F5B1F"/>
                </a:solidFill>
                <a:latin typeface="Cambria"/>
                <a:cs typeface="Cambria"/>
              </a:rPr>
              <a:t>Proposed</a:t>
            </a:r>
            <a:r>
              <a:rPr b="0" spc="-280" dirty="0">
                <a:solidFill>
                  <a:srgbClr val="1F5B1F"/>
                </a:solidFill>
                <a:latin typeface="Cambria"/>
                <a:cs typeface="Cambria"/>
              </a:rPr>
              <a:t> </a:t>
            </a:r>
            <a:r>
              <a:rPr b="0" spc="-10" dirty="0">
                <a:solidFill>
                  <a:srgbClr val="1C5D21"/>
                </a:solidFill>
                <a:latin typeface="Cambria"/>
                <a:cs typeface="Cambria"/>
              </a:rPr>
              <a:t>Solution:</a:t>
            </a:r>
          </a:p>
          <a:p>
            <a:pPr marL="46355">
              <a:lnSpc>
                <a:spcPts val="7355"/>
              </a:lnSpc>
            </a:pPr>
            <a:r>
              <a:rPr sz="6550" b="0" spc="140" dirty="0">
                <a:solidFill>
                  <a:srgbClr val="18601D"/>
                </a:solidFill>
                <a:latin typeface="Calibri"/>
                <a:cs typeface="Calibri"/>
              </a:rPr>
              <a:t>SCAS</a:t>
            </a:r>
            <a:endParaRPr sz="65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0817" y="3421095"/>
            <a:ext cx="8093709" cy="681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dirty="0">
                <a:solidFill>
                  <a:srgbClr val="1C5938"/>
                </a:solidFill>
                <a:latin typeface="Cambria"/>
                <a:cs typeface="Cambria"/>
              </a:rPr>
              <a:t>A</a:t>
            </a:r>
            <a:r>
              <a:rPr sz="2700" spc="-260" dirty="0">
                <a:solidFill>
                  <a:srgbClr val="1C5938"/>
                </a:solidFill>
                <a:latin typeface="Cambria"/>
                <a:cs typeface="Cambria"/>
              </a:rPr>
              <a:t> </a:t>
            </a:r>
            <a:r>
              <a:rPr sz="2700" spc="-25" dirty="0">
                <a:solidFill>
                  <a:srgbClr val="1A6424"/>
                </a:solidFill>
                <a:latin typeface="Cambria"/>
                <a:cs typeface="Cambria"/>
              </a:rPr>
              <a:t>Hybrid</a:t>
            </a:r>
            <a:r>
              <a:rPr sz="2700" spc="-60" dirty="0">
                <a:solidFill>
                  <a:srgbClr val="1A6424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1C602A"/>
                </a:solidFill>
                <a:latin typeface="Cambria"/>
                <a:cs typeface="Cambria"/>
              </a:rPr>
              <a:t>AI</a:t>
            </a:r>
            <a:r>
              <a:rPr sz="2700" spc="-320" dirty="0">
                <a:solidFill>
                  <a:srgbClr val="1C602A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1A6726"/>
                </a:solidFill>
                <a:latin typeface="Cambria"/>
                <a:cs typeface="Cambria"/>
              </a:rPr>
              <a:t>Decision</a:t>
            </a:r>
            <a:r>
              <a:rPr sz="2700" spc="10" dirty="0">
                <a:solidFill>
                  <a:srgbClr val="1A6726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135D34"/>
                </a:solidFill>
                <a:latin typeface="Cambria"/>
                <a:cs typeface="Cambria"/>
              </a:rPr>
              <a:t>System</a:t>
            </a:r>
            <a:endParaRPr sz="2700">
              <a:latin typeface="Cambria"/>
              <a:cs typeface="Cambria"/>
            </a:endParaRPr>
          </a:p>
          <a:p>
            <a:pPr marL="17780" marR="829944" indent="1270">
              <a:lnSpc>
                <a:spcPct val="117800"/>
              </a:lnSpc>
              <a:spcBef>
                <a:spcPts val="2060"/>
              </a:spcBef>
            </a:pPr>
            <a:r>
              <a:rPr sz="2800" spc="-40" dirty="0">
                <a:solidFill>
                  <a:srgbClr val="313131"/>
                </a:solidFill>
                <a:latin typeface="Calibri"/>
                <a:cs typeface="Calibri"/>
              </a:rPr>
              <a:t>Our</a:t>
            </a:r>
            <a:r>
              <a:rPr sz="2800" spc="-2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2D2D2D"/>
                </a:solidFill>
                <a:latin typeface="Calibri"/>
                <a:cs typeface="Calibri"/>
              </a:rPr>
              <a:t>solution</a:t>
            </a:r>
            <a:r>
              <a:rPr sz="2800" spc="-6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spc="75" dirty="0">
                <a:solidFill>
                  <a:srgbClr val="3A3A3A"/>
                </a:solidFill>
                <a:latin typeface="Calibri"/>
                <a:cs typeface="Calibri"/>
              </a:rPr>
              <a:t>is</a:t>
            </a:r>
            <a:r>
              <a:rPr sz="2800" spc="-6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800" spc="105" dirty="0">
                <a:solidFill>
                  <a:srgbClr val="284662"/>
                </a:solidFill>
                <a:latin typeface="Calibri"/>
                <a:cs typeface="Calibri"/>
              </a:rPr>
              <a:t>a</a:t>
            </a:r>
            <a:r>
              <a:rPr sz="2800" spc="-150" dirty="0">
                <a:solidFill>
                  <a:srgbClr val="284662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comprehensive</a:t>
            </a:r>
            <a:r>
              <a:rPr sz="2800" spc="12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55" dirty="0">
                <a:solidFill>
                  <a:srgbClr val="343434"/>
                </a:solidFill>
                <a:latin typeface="Calibri"/>
                <a:cs typeface="Calibri"/>
              </a:rPr>
              <a:t>Al—</a:t>
            </a:r>
            <a:r>
              <a:rPr sz="2800" spc="-10" dirty="0">
                <a:solidFill>
                  <a:srgbClr val="343434"/>
                </a:solidFill>
                <a:latin typeface="Calibri"/>
                <a:cs typeface="Calibri"/>
              </a:rPr>
              <a:t>based </a:t>
            </a:r>
            <a:r>
              <a:rPr sz="2800" dirty="0">
                <a:solidFill>
                  <a:srgbClr val="2B2B2B"/>
                </a:solidFill>
                <a:latin typeface="Calibri"/>
                <a:cs typeface="Calibri"/>
              </a:rPr>
              <a:t>mobile/chatbot</a:t>
            </a:r>
            <a:r>
              <a:rPr sz="2800" spc="-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13131"/>
                </a:solidFill>
                <a:latin typeface="Calibri"/>
                <a:cs typeface="Calibri"/>
              </a:rPr>
              <a:t>platform</a:t>
            </a:r>
            <a:r>
              <a:rPr sz="2800" spc="114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designed</a:t>
            </a:r>
            <a:r>
              <a:rPr sz="2800" spc="10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28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65" dirty="0">
                <a:solidFill>
                  <a:srgbClr val="313131"/>
                </a:solidFill>
                <a:latin typeface="Calibri"/>
                <a:cs typeface="Calibri"/>
              </a:rPr>
              <a:t>hyper—</a:t>
            </a:r>
            <a:r>
              <a:rPr sz="2800" spc="-75" dirty="0">
                <a:solidFill>
                  <a:srgbClr val="313131"/>
                </a:solidFill>
                <a:latin typeface="Calibri"/>
                <a:cs typeface="Calibri"/>
              </a:rPr>
              <a:t>local </a:t>
            </a:r>
            <a:r>
              <a:rPr sz="2800" spc="-10" dirty="0">
                <a:solidFill>
                  <a:srgbClr val="2A2A2A"/>
                </a:solidFill>
                <a:latin typeface="Calibri"/>
                <a:cs typeface="Calibri"/>
              </a:rPr>
              <a:t>advisory.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2800">
              <a:latin typeface="Calibri"/>
              <a:cs typeface="Calibri"/>
            </a:endParaRPr>
          </a:p>
          <a:p>
            <a:pPr marL="13335" marR="5080" indent="10795">
              <a:lnSpc>
                <a:spcPct val="117800"/>
              </a:lnSpc>
            </a:pPr>
            <a:r>
              <a:rPr sz="2800" spc="160" dirty="0">
                <a:solidFill>
                  <a:srgbClr val="363636"/>
                </a:solidFill>
                <a:latin typeface="Calibri"/>
                <a:cs typeface="Calibri"/>
              </a:rPr>
              <a:t>System</a:t>
            </a:r>
            <a:r>
              <a:rPr sz="2800" spc="1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75" dirty="0">
                <a:solidFill>
                  <a:srgbClr val="262626"/>
                </a:solidFill>
                <a:latin typeface="Calibri"/>
                <a:cs typeface="Calibri"/>
              </a:rPr>
              <a:t>Architecture:</a:t>
            </a:r>
            <a:r>
              <a:rPr sz="2800" spc="-2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F2F2F"/>
                </a:solidFill>
                <a:latin typeface="Calibri"/>
                <a:cs typeface="Calibri"/>
              </a:rPr>
              <a:t>It</a:t>
            </a:r>
            <a:r>
              <a:rPr sz="2800" spc="6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F2F2F"/>
                </a:solidFill>
                <a:latin typeface="Calibri"/>
                <a:cs typeface="Calibri"/>
              </a:rPr>
              <a:t>integrates</a:t>
            </a:r>
            <a:r>
              <a:rPr sz="2800" spc="2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2D2D2D"/>
                </a:solidFill>
                <a:latin typeface="Calibri"/>
                <a:cs typeface="Calibri"/>
              </a:rPr>
              <a:t>Predictive</a:t>
            </a:r>
            <a:r>
              <a:rPr sz="2800" i="1" spc="16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313131"/>
                </a:solidFill>
                <a:latin typeface="Calibri"/>
                <a:cs typeface="Calibri"/>
              </a:rPr>
              <a:t>Analytics </a:t>
            </a:r>
            <a:r>
              <a:rPr sz="2800" dirty="0">
                <a:solidFill>
                  <a:srgbClr val="2D2D2D"/>
                </a:solidFill>
                <a:latin typeface="Calibri"/>
                <a:cs typeface="Calibri"/>
              </a:rPr>
              <a:t>(for</a:t>
            </a:r>
            <a:r>
              <a:rPr sz="2800" spc="4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13131"/>
                </a:solidFill>
                <a:latin typeface="Calibri"/>
                <a:cs typeface="Calibri"/>
              </a:rPr>
              <a:t>crop</a:t>
            </a:r>
            <a:r>
              <a:rPr sz="2800" spc="19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82828"/>
                </a:solidFill>
                <a:latin typeface="Calibri"/>
                <a:cs typeface="Calibri"/>
              </a:rPr>
              <a:t>choice)</a:t>
            </a:r>
            <a:r>
              <a:rPr sz="2800" spc="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F2F2F"/>
                </a:solidFill>
                <a:latin typeface="Calibri"/>
                <a:cs typeface="Calibri"/>
              </a:rPr>
              <a:t>with</a:t>
            </a:r>
            <a:r>
              <a:rPr sz="2800" spc="30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2A2A2A"/>
                </a:solidFill>
                <a:latin typeface="Calibri"/>
                <a:cs typeface="Calibri"/>
              </a:rPr>
              <a:t>Generative</a:t>
            </a:r>
            <a:r>
              <a:rPr sz="2800" i="1" spc="4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AI(for</a:t>
            </a:r>
            <a:r>
              <a:rPr sz="2800" spc="10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82828"/>
                </a:solidFill>
                <a:latin typeface="Calibri"/>
                <a:cs typeface="Calibri"/>
              </a:rPr>
              <a:t>natural </a:t>
            </a:r>
            <a:r>
              <a:rPr sz="2800" spc="-30" dirty="0">
                <a:solidFill>
                  <a:srgbClr val="2F2F2F"/>
                </a:solidFill>
                <a:latin typeface="Calibri"/>
                <a:cs typeface="Calibri"/>
              </a:rPr>
              <a:t>language</a:t>
            </a:r>
            <a:r>
              <a:rPr sz="2800" spc="-6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82828"/>
                </a:solidFill>
                <a:latin typeface="Calibri"/>
                <a:cs typeface="Calibri"/>
              </a:rPr>
              <a:t>interaction)</a:t>
            </a:r>
            <a:r>
              <a:rPr sz="2800" spc="2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82828"/>
                </a:solidFill>
                <a:latin typeface="Calibri"/>
                <a:cs typeface="Calibri"/>
              </a:rPr>
              <a:t>to</a:t>
            </a:r>
            <a:r>
              <a:rPr sz="2800" spc="-9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13131"/>
                </a:solidFill>
                <a:latin typeface="Calibri"/>
                <a:cs typeface="Calibri"/>
              </a:rPr>
              <a:t>create</a:t>
            </a:r>
            <a:r>
              <a:rPr sz="2800" spc="-7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spc="105" dirty="0">
                <a:solidFill>
                  <a:srgbClr val="2D3D4F"/>
                </a:solidFill>
                <a:latin typeface="Calibri"/>
                <a:cs typeface="Calibri"/>
              </a:rPr>
              <a:t>a</a:t>
            </a:r>
            <a:r>
              <a:rPr sz="2800" spc="-235" dirty="0">
                <a:solidFill>
                  <a:srgbClr val="2D3D4F"/>
                </a:solidFill>
                <a:latin typeface="Calibri"/>
                <a:cs typeface="Calibri"/>
              </a:rPr>
              <a:t> </a:t>
            </a:r>
            <a:r>
              <a:rPr sz="2800" spc="-65" dirty="0">
                <a:solidFill>
                  <a:srgbClr val="282828"/>
                </a:solidFill>
                <a:latin typeface="Calibri"/>
                <a:cs typeface="Calibri"/>
              </a:rPr>
              <a:t>"Virtual</a:t>
            </a:r>
            <a:r>
              <a:rPr sz="2800" spc="1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800" spc="-40" dirty="0">
                <a:solidFill>
                  <a:srgbClr val="2A2A2A"/>
                </a:solidFill>
                <a:latin typeface="Calibri"/>
                <a:cs typeface="Calibri"/>
              </a:rPr>
              <a:t>Agronomist"</a:t>
            </a:r>
            <a:r>
              <a:rPr sz="2800" spc="1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B3B3B"/>
                </a:solidFill>
                <a:latin typeface="Calibri"/>
                <a:cs typeface="Calibri"/>
              </a:rPr>
              <a:t>in 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800" spc="-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343434"/>
                </a:solidFill>
                <a:latin typeface="Calibri"/>
                <a:cs typeface="Calibri"/>
              </a:rPr>
              <a:t>farmer's</a:t>
            </a:r>
            <a:r>
              <a:rPr sz="2800" spc="4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A2A2A"/>
                </a:solidFill>
                <a:latin typeface="Calibri"/>
                <a:cs typeface="Calibri"/>
              </a:rPr>
              <a:t>pocket.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2800">
              <a:latin typeface="Calibri"/>
              <a:cs typeface="Calibri"/>
            </a:endParaRPr>
          </a:p>
          <a:p>
            <a:pPr marL="19685" marR="544195" indent="-5715">
              <a:lnSpc>
                <a:spcPct val="116900"/>
              </a:lnSpc>
            </a:pPr>
            <a:r>
              <a:rPr sz="2800" dirty="0">
                <a:solidFill>
                  <a:srgbClr val="262626"/>
                </a:solidFill>
                <a:latin typeface="Calibri"/>
                <a:cs typeface="Calibri"/>
              </a:rPr>
              <a:t>Provides</a:t>
            </a:r>
            <a:r>
              <a:rPr sz="2800" spc="8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D2D2D"/>
                </a:solidFill>
                <a:latin typeface="Calibri"/>
                <a:cs typeface="Calibri"/>
              </a:rPr>
              <a:t>actionable</a:t>
            </a:r>
            <a:r>
              <a:rPr sz="2800" spc="5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2B2B2B"/>
                </a:solidFill>
                <a:latin typeface="Calibri"/>
                <a:cs typeface="Calibri"/>
              </a:rPr>
              <a:t>intelligence</a:t>
            </a:r>
            <a:r>
              <a:rPr sz="2800" spc="3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A2A2A"/>
                </a:solidFill>
                <a:latin typeface="Calibri"/>
                <a:cs typeface="Calibri"/>
              </a:rPr>
              <a:t>instead</a:t>
            </a:r>
            <a:r>
              <a:rPr sz="2800" spc="5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A2A2A"/>
                </a:solidFill>
                <a:latin typeface="Calibri"/>
                <a:cs typeface="Calibri"/>
              </a:rPr>
              <a:t>of</a:t>
            </a:r>
            <a:r>
              <a:rPr sz="2800" spc="1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800" spc="-45" dirty="0">
                <a:solidFill>
                  <a:srgbClr val="313131"/>
                </a:solidFill>
                <a:latin typeface="Calibri"/>
                <a:cs typeface="Calibri"/>
              </a:rPr>
              <a:t>raw</a:t>
            </a:r>
            <a:r>
              <a:rPr sz="2800" spc="-5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D2D2D"/>
                </a:solidFill>
                <a:latin typeface="Calibri"/>
                <a:cs typeface="Calibri"/>
              </a:rPr>
              <a:t>data, </a:t>
            </a:r>
            <a:r>
              <a:rPr sz="2800" spc="-30" dirty="0">
                <a:solidFill>
                  <a:srgbClr val="2B2B2B"/>
                </a:solidFill>
                <a:latin typeface="Calibri"/>
                <a:cs typeface="Calibri"/>
              </a:rPr>
              <a:t>ensuring</a:t>
            </a:r>
            <a:r>
              <a:rPr sz="2800" spc="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sz="2800" spc="-4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2F2F2F"/>
                </a:solidFill>
                <a:latin typeface="Calibri"/>
                <a:cs typeface="Calibri"/>
              </a:rPr>
              <a:t>farmer</a:t>
            </a:r>
            <a:r>
              <a:rPr sz="2800" spc="4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D2D2D"/>
                </a:solidFill>
                <a:latin typeface="Calibri"/>
                <a:cs typeface="Calibri"/>
              </a:rPr>
              <a:t>knows</a:t>
            </a:r>
            <a:r>
              <a:rPr sz="2800" spc="8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F2F2F"/>
                </a:solidFill>
                <a:latin typeface="Calibri"/>
                <a:cs typeface="Calibri"/>
              </a:rPr>
              <a:t>exactly</a:t>
            </a:r>
            <a:r>
              <a:rPr sz="2800" spc="9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63636"/>
                </a:solidFill>
                <a:latin typeface="Calibri"/>
                <a:cs typeface="Calibri"/>
              </a:rPr>
              <a:t>what</a:t>
            </a:r>
            <a:r>
              <a:rPr sz="2800" spc="8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13131"/>
                </a:solidFill>
                <a:latin typeface="Calibri"/>
                <a:cs typeface="Calibri"/>
              </a:rPr>
              <a:t>to</a:t>
            </a:r>
            <a:r>
              <a:rPr sz="2800" spc="-4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F2F2F"/>
                </a:solidFill>
                <a:latin typeface="Calibri"/>
                <a:cs typeface="Calibri"/>
              </a:rPr>
              <a:t>do</a:t>
            </a:r>
            <a:r>
              <a:rPr sz="2800" spc="-1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A3A3A"/>
                </a:solidFill>
                <a:latin typeface="Calibri"/>
                <a:cs typeface="Calibri"/>
              </a:rPr>
              <a:t>and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when.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673" y="1947584"/>
            <a:ext cx="18313578" cy="78531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62268" y="8618847"/>
            <a:ext cx="3997325" cy="0"/>
          </a:xfrm>
          <a:custGeom>
            <a:avLst/>
            <a:gdLst/>
            <a:ahLst/>
            <a:cxnLst/>
            <a:rect l="l" t="t" r="r" b="b"/>
            <a:pathLst>
              <a:path w="3997325">
                <a:moveTo>
                  <a:pt x="0" y="0"/>
                </a:moveTo>
                <a:lnTo>
                  <a:pt x="3997260" y="0"/>
                </a:lnTo>
              </a:path>
            </a:pathLst>
          </a:custGeom>
          <a:ln w="23559">
            <a:solidFill>
              <a:srgbClr val="1F57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95635" y="8618847"/>
            <a:ext cx="3997325" cy="0"/>
          </a:xfrm>
          <a:custGeom>
            <a:avLst/>
            <a:gdLst/>
            <a:ahLst/>
            <a:cxnLst/>
            <a:rect l="l" t="t" r="r" b="b"/>
            <a:pathLst>
              <a:path w="3997325">
                <a:moveTo>
                  <a:pt x="0" y="0"/>
                </a:moveTo>
                <a:lnTo>
                  <a:pt x="3997260" y="0"/>
                </a:lnTo>
              </a:path>
            </a:pathLst>
          </a:custGeom>
          <a:ln w="23559">
            <a:solidFill>
              <a:srgbClr val="1F57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397589" y="8610994"/>
            <a:ext cx="4044950" cy="0"/>
          </a:xfrm>
          <a:custGeom>
            <a:avLst/>
            <a:gdLst/>
            <a:ahLst/>
            <a:cxnLst/>
            <a:rect l="l" t="t" r="r" b="b"/>
            <a:pathLst>
              <a:path w="4044950">
                <a:moveTo>
                  <a:pt x="0" y="0"/>
                </a:moveTo>
                <a:lnTo>
                  <a:pt x="4044379" y="0"/>
                </a:lnTo>
              </a:path>
            </a:pathLst>
          </a:custGeom>
          <a:ln w="39265">
            <a:solidFill>
              <a:srgbClr val="1C5B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062368" y="8618847"/>
            <a:ext cx="3997325" cy="0"/>
          </a:xfrm>
          <a:custGeom>
            <a:avLst/>
            <a:gdLst/>
            <a:ahLst/>
            <a:cxnLst/>
            <a:rect l="l" t="t" r="r" b="b"/>
            <a:pathLst>
              <a:path w="3997325">
                <a:moveTo>
                  <a:pt x="0" y="0"/>
                </a:moveTo>
                <a:lnTo>
                  <a:pt x="3997260" y="0"/>
                </a:lnTo>
              </a:path>
            </a:pathLst>
          </a:custGeom>
          <a:ln w="23559">
            <a:solidFill>
              <a:srgbClr val="1F57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56323" y="4790430"/>
            <a:ext cx="965939" cy="76961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42480" y="8418591"/>
            <a:ext cx="4334946" cy="28271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42379" y="8434298"/>
            <a:ext cx="4319240" cy="26700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75746" y="8434298"/>
            <a:ext cx="4319240" cy="26700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209113" y="8434298"/>
            <a:ext cx="4319240" cy="26700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01488" y="4790430"/>
            <a:ext cx="801022" cy="76961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976075" y="4790430"/>
            <a:ext cx="785316" cy="76961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601588" y="4829695"/>
            <a:ext cx="793169" cy="683225"/>
          </a:xfrm>
          <a:prstGeom prst="rect">
            <a:avLst/>
          </a:prstGeom>
        </p:spPr>
      </p:pic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b="0" spc="-50" dirty="0">
                <a:solidFill>
                  <a:srgbClr val="18601F"/>
                </a:solidFill>
                <a:latin typeface="Cambria"/>
                <a:cs typeface="Cambria"/>
              </a:rPr>
              <a:t>Core</a:t>
            </a:r>
            <a:r>
              <a:rPr b="0" spc="-45" dirty="0">
                <a:solidFill>
                  <a:srgbClr val="18601F"/>
                </a:solidFill>
                <a:latin typeface="Cambria"/>
                <a:cs typeface="Cambria"/>
              </a:rPr>
              <a:t> </a:t>
            </a:r>
            <a:r>
              <a:rPr b="0" dirty="0">
                <a:solidFill>
                  <a:srgbClr val="18601A"/>
                </a:solidFill>
                <a:latin typeface="Cambria"/>
                <a:cs typeface="Cambria"/>
              </a:rPr>
              <a:t>System</a:t>
            </a:r>
            <a:r>
              <a:rPr b="0" spc="-270" dirty="0">
                <a:solidFill>
                  <a:srgbClr val="18601A"/>
                </a:solidFill>
                <a:latin typeface="Cambria"/>
                <a:cs typeface="Cambria"/>
              </a:rPr>
              <a:t> </a:t>
            </a:r>
            <a:r>
              <a:rPr b="0" spc="-80" dirty="0">
                <a:solidFill>
                  <a:srgbClr val="235B1D"/>
                </a:solidFill>
                <a:latin typeface="Cambria"/>
                <a:cs typeface="Cambria"/>
              </a:rPr>
              <a:t>Features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45571" y="5790788"/>
            <a:ext cx="2081530" cy="497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100" dirty="0">
                <a:solidFill>
                  <a:srgbClr val="16541C"/>
                </a:solidFill>
                <a:latin typeface="Cambria"/>
                <a:cs typeface="Cambria"/>
              </a:rPr>
              <a:t>Crop</a:t>
            </a:r>
            <a:r>
              <a:rPr sz="3100" spc="-50" dirty="0">
                <a:solidFill>
                  <a:srgbClr val="16541C"/>
                </a:solidFill>
                <a:latin typeface="Cambria"/>
                <a:cs typeface="Cambria"/>
              </a:rPr>
              <a:t> </a:t>
            </a:r>
            <a:r>
              <a:rPr sz="3100" spc="-10" dirty="0">
                <a:solidFill>
                  <a:srgbClr val="185B28"/>
                </a:solidFill>
                <a:latin typeface="Cambria"/>
                <a:cs typeface="Cambria"/>
              </a:rPr>
              <a:t>Advice</a:t>
            </a:r>
            <a:endParaRPr sz="31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23255" y="6650709"/>
            <a:ext cx="3338829" cy="12039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065" marR="5080" algn="ctr">
              <a:lnSpc>
                <a:spcPct val="113100"/>
              </a:lnSpc>
              <a:spcBef>
                <a:spcPts val="5"/>
              </a:spcBef>
            </a:pPr>
            <a:r>
              <a:rPr sz="2300" spc="-50" dirty="0">
                <a:solidFill>
                  <a:srgbClr val="2A2A2A"/>
                </a:solidFill>
                <a:latin typeface="Calibri"/>
                <a:cs typeface="Calibri"/>
              </a:rPr>
              <a:t>Recommending</a:t>
            </a:r>
            <a:r>
              <a:rPr sz="2300" spc="13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B2B2B"/>
                </a:solidFill>
                <a:latin typeface="Calibri"/>
                <a:cs typeface="Calibri"/>
              </a:rPr>
              <a:t>crops</a:t>
            </a:r>
            <a:r>
              <a:rPr sz="2300" spc="-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F2F2F"/>
                </a:solidFill>
                <a:latin typeface="Calibri"/>
                <a:cs typeface="Calibri"/>
              </a:rPr>
              <a:t>based </a:t>
            </a:r>
            <a:r>
              <a:rPr sz="2300" spc="-70" dirty="0">
                <a:solidFill>
                  <a:srgbClr val="2B4967"/>
                </a:solidFill>
                <a:latin typeface="Calibri"/>
                <a:cs typeface="Calibri"/>
              </a:rPr>
              <a:t>on</a:t>
            </a:r>
            <a:r>
              <a:rPr sz="2300" spc="-150" dirty="0">
                <a:solidFill>
                  <a:srgbClr val="2B4967"/>
                </a:solidFill>
                <a:latin typeface="Calibri"/>
                <a:cs typeface="Calibri"/>
              </a:rPr>
              <a:t> </a:t>
            </a:r>
            <a:r>
              <a:rPr sz="2300" spc="60" dirty="0">
                <a:solidFill>
                  <a:srgbClr val="1A1A1A"/>
                </a:solidFill>
                <a:latin typeface="Calibri"/>
                <a:cs typeface="Calibri"/>
              </a:rPr>
              <a:t>N-</a:t>
            </a:r>
            <a:r>
              <a:rPr sz="2300" spc="50" dirty="0">
                <a:solidFill>
                  <a:srgbClr val="1A1A1A"/>
                </a:solidFill>
                <a:latin typeface="Calibri"/>
                <a:cs typeface="Calibri"/>
              </a:rPr>
              <a:t>P-K,</a:t>
            </a:r>
            <a:r>
              <a:rPr sz="2300" spc="-10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300" spc="-55" dirty="0">
                <a:solidFill>
                  <a:srgbClr val="2A2A2A"/>
                </a:solidFill>
                <a:latin typeface="Calibri"/>
                <a:cs typeface="Calibri"/>
              </a:rPr>
              <a:t>pH, </a:t>
            </a:r>
            <a:r>
              <a:rPr sz="2300" spc="-35" dirty="0">
                <a:solidFill>
                  <a:srgbClr val="2F2F2F"/>
                </a:solidFill>
                <a:latin typeface="Calibri"/>
                <a:cs typeface="Calibri"/>
              </a:rPr>
              <a:t>and</a:t>
            </a:r>
            <a:r>
              <a:rPr sz="2300" spc="-5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F2F2F"/>
                </a:solidFill>
                <a:latin typeface="Calibri"/>
                <a:cs typeface="Calibri"/>
              </a:rPr>
              <a:t>local </a:t>
            </a:r>
            <a:r>
              <a:rPr sz="2300" spc="-10" dirty="0">
                <a:solidFill>
                  <a:srgbClr val="2A2A2A"/>
                </a:solidFill>
                <a:latin typeface="Calibri"/>
                <a:cs typeface="Calibri"/>
              </a:rPr>
              <a:t>season.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44844" y="5765919"/>
            <a:ext cx="2553970" cy="53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50" spc="-20" dirty="0">
                <a:solidFill>
                  <a:srgbClr val="166434"/>
                </a:solidFill>
                <a:latin typeface="Times New Roman"/>
                <a:cs typeface="Times New Roman"/>
              </a:rPr>
              <a:t>Weather</a:t>
            </a:r>
            <a:r>
              <a:rPr sz="3350" spc="-155" dirty="0">
                <a:solidFill>
                  <a:srgbClr val="166434"/>
                </a:solidFill>
                <a:latin typeface="Times New Roman"/>
                <a:cs typeface="Times New Roman"/>
              </a:rPr>
              <a:t> </a:t>
            </a:r>
            <a:r>
              <a:rPr sz="3350" spc="-25" dirty="0">
                <a:solidFill>
                  <a:srgbClr val="1F6218"/>
                </a:solidFill>
                <a:latin typeface="Times New Roman"/>
                <a:cs typeface="Times New Roman"/>
              </a:rPr>
              <a:t>Alerts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27336" y="6635003"/>
            <a:ext cx="2800350" cy="121920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 indent="-16510" algn="ctr">
              <a:lnSpc>
                <a:spcPct val="114300"/>
              </a:lnSpc>
              <a:spcBef>
                <a:spcPts val="30"/>
              </a:spcBef>
            </a:pPr>
            <a:r>
              <a:rPr sz="2300" spc="-20" dirty="0">
                <a:solidFill>
                  <a:srgbClr val="282828"/>
                </a:solidFill>
                <a:latin typeface="Calibri"/>
                <a:cs typeface="Calibri"/>
              </a:rPr>
              <a:t>Precision</a:t>
            </a:r>
            <a:r>
              <a:rPr sz="2300" spc="-7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313131"/>
                </a:solidFill>
                <a:latin typeface="Calibri"/>
                <a:cs typeface="Calibri"/>
              </a:rPr>
              <a:t>weather </a:t>
            </a:r>
            <a:r>
              <a:rPr sz="2300" spc="-30" dirty="0">
                <a:solidFill>
                  <a:srgbClr val="262626"/>
                </a:solidFill>
                <a:latin typeface="Calibri"/>
                <a:cs typeface="Calibri"/>
              </a:rPr>
              <a:t>forecasting</a:t>
            </a:r>
            <a:r>
              <a:rPr sz="2300" spc="4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300" spc="-85" dirty="0">
                <a:solidFill>
                  <a:srgbClr val="46607E"/>
                </a:solidFill>
                <a:latin typeface="Calibri"/>
                <a:cs typeface="Calibri"/>
              </a:rPr>
              <a:t>for</a:t>
            </a:r>
            <a:r>
              <a:rPr sz="2300" spc="-50" dirty="0">
                <a:solidFill>
                  <a:srgbClr val="46607E"/>
                </a:solidFill>
                <a:latin typeface="Calibri"/>
                <a:cs typeface="Calibri"/>
              </a:rPr>
              <a:t> </a:t>
            </a:r>
            <a:r>
              <a:rPr sz="2300" spc="-45" dirty="0">
                <a:solidFill>
                  <a:srgbClr val="232323"/>
                </a:solidFill>
                <a:latin typeface="Calibri"/>
                <a:cs typeface="Calibri"/>
              </a:rPr>
              <a:t>irrigation </a:t>
            </a:r>
            <a:r>
              <a:rPr sz="2300" spc="-10" dirty="0">
                <a:solidFill>
                  <a:srgbClr val="2A2A2A"/>
                </a:solidFill>
                <a:latin typeface="Calibri"/>
                <a:cs typeface="Calibri"/>
              </a:rPr>
              <a:t>scheduling.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107741" y="5798641"/>
            <a:ext cx="2493010" cy="497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100" dirty="0">
                <a:solidFill>
                  <a:srgbClr val="184F23"/>
                </a:solidFill>
                <a:latin typeface="Cambria"/>
                <a:cs typeface="Cambria"/>
              </a:rPr>
              <a:t>Pest</a:t>
            </a:r>
            <a:r>
              <a:rPr sz="3100" spc="30" dirty="0">
                <a:solidFill>
                  <a:srgbClr val="184F23"/>
                </a:solidFill>
                <a:latin typeface="Cambria"/>
                <a:cs typeface="Cambria"/>
              </a:rPr>
              <a:t> </a:t>
            </a:r>
            <a:r>
              <a:rPr sz="3100" spc="-10" dirty="0">
                <a:solidFill>
                  <a:srgbClr val="11480E"/>
                </a:solidFill>
                <a:latin typeface="Cambria"/>
                <a:cs typeface="Cambria"/>
              </a:rPr>
              <a:t>Detection</a:t>
            </a:r>
            <a:endParaRPr sz="31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705698" y="6635003"/>
            <a:ext cx="3291204" cy="810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4315" marR="5080" indent="-222250">
              <a:lnSpc>
                <a:spcPct val="112000"/>
              </a:lnSpc>
              <a:spcBef>
                <a:spcPts val="95"/>
              </a:spcBef>
            </a:pPr>
            <a:r>
              <a:rPr sz="2300" spc="-30" dirty="0">
                <a:solidFill>
                  <a:srgbClr val="2A2A2A"/>
                </a:solidFill>
                <a:latin typeface="Calibri"/>
                <a:cs typeface="Calibri"/>
              </a:rPr>
              <a:t>Image</a:t>
            </a:r>
            <a:r>
              <a:rPr sz="2300" spc="-10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82828"/>
                </a:solidFill>
                <a:latin typeface="Calibri"/>
                <a:cs typeface="Calibri"/>
              </a:rPr>
              <a:t>processing</a:t>
            </a:r>
            <a:r>
              <a:rPr sz="2300" spc="1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300" spc="-55" dirty="0">
                <a:solidFill>
                  <a:srgbClr val="343434"/>
                </a:solidFill>
                <a:latin typeface="Calibri"/>
                <a:cs typeface="Calibri"/>
              </a:rPr>
              <a:t>to</a:t>
            </a:r>
            <a:r>
              <a:rPr sz="2300" spc="-12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300" spc="-40" dirty="0">
                <a:solidFill>
                  <a:srgbClr val="2F2F2F"/>
                </a:solidFill>
                <a:latin typeface="Calibri"/>
                <a:cs typeface="Calibri"/>
              </a:rPr>
              <a:t>identify </a:t>
            </a:r>
            <a:r>
              <a:rPr sz="2300" spc="-10" dirty="0">
                <a:solidFill>
                  <a:srgbClr val="313131"/>
                </a:solidFill>
                <a:latin typeface="Calibri"/>
                <a:cs typeface="Calibri"/>
              </a:rPr>
              <a:t>38+</a:t>
            </a:r>
            <a:r>
              <a:rPr sz="2300" spc="-1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300" spc="-20" dirty="0">
                <a:solidFill>
                  <a:srgbClr val="333333"/>
                </a:solidFill>
                <a:latin typeface="Calibri"/>
                <a:cs typeface="Calibri"/>
              </a:rPr>
              <a:t>plant</a:t>
            </a:r>
            <a:r>
              <a:rPr sz="2300" spc="-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42424"/>
                </a:solidFill>
                <a:latin typeface="Calibri"/>
                <a:cs typeface="Calibri"/>
              </a:rPr>
              <a:t>diseases</a:t>
            </a:r>
            <a:r>
              <a:rPr sz="2300" spc="-1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82828"/>
                </a:solidFill>
                <a:latin typeface="Calibri"/>
                <a:cs typeface="Calibri"/>
              </a:rPr>
              <a:t>early.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293902" y="5758066"/>
            <a:ext cx="3380740" cy="53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50" dirty="0">
                <a:solidFill>
                  <a:srgbClr val="2D6E38"/>
                </a:solidFill>
                <a:latin typeface="Times New Roman"/>
                <a:cs typeface="Times New Roman"/>
              </a:rPr>
              <a:t>Market</a:t>
            </a:r>
            <a:r>
              <a:rPr sz="3350" spc="-40" dirty="0">
                <a:solidFill>
                  <a:srgbClr val="2D6E38"/>
                </a:solidFill>
                <a:latin typeface="Times New Roman"/>
                <a:cs typeface="Times New Roman"/>
              </a:rPr>
              <a:t> </a:t>
            </a:r>
            <a:r>
              <a:rPr sz="3350" spc="-10" dirty="0">
                <a:solidFill>
                  <a:srgbClr val="1A601F"/>
                </a:solidFill>
                <a:latin typeface="Times New Roman"/>
                <a:cs typeface="Times New Roman"/>
              </a:rPr>
              <a:t>Intelligence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472568" y="6635003"/>
            <a:ext cx="3058795" cy="810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5080" indent="-286385">
              <a:lnSpc>
                <a:spcPct val="112000"/>
              </a:lnSpc>
              <a:spcBef>
                <a:spcPts val="95"/>
              </a:spcBef>
            </a:pPr>
            <a:r>
              <a:rPr sz="2300" spc="-10" dirty="0">
                <a:solidFill>
                  <a:srgbClr val="282828"/>
                </a:solidFill>
                <a:latin typeface="Calibri"/>
                <a:cs typeface="Calibri"/>
              </a:rPr>
              <a:t>Real-</a:t>
            </a:r>
            <a:r>
              <a:rPr sz="2300" dirty="0">
                <a:solidFill>
                  <a:srgbClr val="282828"/>
                </a:solidFill>
                <a:latin typeface="Calibri"/>
                <a:cs typeface="Calibri"/>
              </a:rPr>
              <a:t>time</a:t>
            </a:r>
            <a:r>
              <a:rPr sz="2300" spc="4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300" spc="-100" dirty="0">
                <a:solidFill>
                  <a:srgbClr val="2D2D2D"/>
                </a:solidFill>
                <a:latin typeface="Calibri"/>
                <a:cs typeface="Calibri"/>
              </a:rPr>
              <a:t>Mandi</a:t>
            </a:r>
            <a:r>
              <a:rPr sz="2300" spc="4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313131"/>
                </a:solidFill>
                <a:latin typeface="Calibri"/>
                <a:cs typeface="Calibri"/>
              </a:rPr>
              <a:t>prices</a:t>
            </a:r>
            <a:r>
              <a:rPr sz="2300" spc="7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282828"/>
                </a:solidFill>
                <a:latin typeface="Calibri"/>
                <a:cs typeface="Calibri"/>
              </a:rPr>
              <a:t>to </a:t>
            </a:r>
            <a:r>
              <a:rPr sz="2300" spc="-50" dirty="0">
                <a:solidFill>
                  <a:srgbClr val="2B2B2B"/>
                </a:solidFill>
                <a:latin typeface="Calibri"/>
                <a:cs typeface="Calibri"/>
              </a:rPr>
              <a:t>avoid </a:t>
            </a:r>
            <a:r>
              <a:rPr sz="2300" dirty="0">
                <a:solidFill>
                  <a:srgbClr val="282828"/>
                </a:solidFill>
                <a:latin typeface="Calibri"/>
                <a:cs typeface="Calibri"/>
              </a:rPr>
              <a:t>distress</a:t>
            </a:r>
            <a:r>
              <a:rPr sz="2300" spc="5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2F2F2F"/>
                </a:solidFill>
                <a:latin typeface="Calibri"/>
                <a:cs typeface="Calibri"/>
              </a:rPr>
              <a:t>selling.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673" y="1947584"/>
            <a:ext cx="18313578" cy="785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89964" y="5387270"/>
            <a:ext cx="659665" cy="6596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44799" y="5387270"/>
            <a:ext cx="659665" cy="6596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999634" y="5387270"/>
            <a:ext cx="659665" cy="6596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54470" y="5387270"/>
            <a:ext cx="659665" cy="659665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110"/>
              </a:spcBef>
            </a:pPr>
            <a:r>
              <a:rPr spc="-215" dirty="0">
                <a:solidFill>
                  <a:srgbClr val="18601D"/>
                </a:solidFill>
                <a:latin typeface="Cambria"/>
                <a:cs typeface="Cambria"/>
              </a:rPr>
              <a:t>System</a:t>
            </a:r>
            <a:r>
              <a:rPr spc="-120" dirty="0">
                <a:solidFill>
                  <a:srgbClr val="18601D"/>
                </a:solidFill>
                <a:latin typeface="Cambria"/>
                <a:cs typeface="Cambria"/>
              </a:rPr>
              <a:t> </a:t>
            </a:r>
            <a:r>
              <a:rPr spc="-370" dirty="0">
                <a:solidFill>
                  <a:srgbClr val="1C5D21"/>
                </a:solidFill>
                <a:latin typeface="Cambria"/>
                <a:cs typeface="Cambria"/>
              </a:rPr>
              <a:t>Workflow</a:t>
            </a:r>
            <a:r>
              <a:rPr spc="315" dirty="0">
                <a:solidFill>
                  <a:srgbClr val="1C5D21"/>
                </a:solidFill>
                <a:latin typeface="Cambria"/>
                <a:cs typeface="Cambria"/>
              </a:rPr>
              <a:t> </a:t>
            </a:r>
            <a:r>
              <a:rPr spc="-610" dirty="0">
                <a:solidFill>
                  <a:srgbClr val="1F601D"/>
                </a:solidFill>
                <a:latin typeface="Cambria"/>
                <a:cs typeface="Cambria"/>
              </a:rPr>
              <a:t>&amp;</a:t>
            </a:r>
            <a:r>
              <a:rPr spc="-5" dirty="0">
                <a:solidFill>
                  <a:srgbClr val="1F601D"/>
                </a:solidFill>
                <a:latin typeface="Cambria"/>
                <a:cs typeface="Cambria"/>
              </a:rPr>
              <a:t> </a:t>
            </a:r>
            <a:r>
              <a:rPr spc="-295" dirty="0">
                <a:solidFill>
                  <a:srgbClr val="235B1D"/>
                </a:solidFill>
                <a:latin typeface="Cambria"/>
                <a:cs typeface="Cambria"/>
              </a:rPr>
              <a:t>Theory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41525" y="6323494"/>
            <a:ext cx="3740785" cy="1857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00"/>
              </a:spcBef>
            </a:pPr>
            <a:r>
              <a:rPr sz="3350" b="1" spc="-265" dirty="0">
                <a:solidFill>
                  <a:srgbClr val="216024"/>
                </a:solidFill>
                <a:latin typeface="Times New Roman"/>
                <a:cs typeface="Times New Roman"/>
              </a:rPr>
              <a:t>1.</a:t>
            </a:r>
            <a:r>
              <a:rPr sz="3350" b="1" spc="-40" dirty="0">
                <a:solidFill>
                  <a:srgbClr val="216024"/>
                </a:solidFill>
                <a:latin typeface="Times New Roman"/>
                <a:cs typeface="Times New Roman"/>
              </a:rPr>
              <a:t> </a:t>
            </a:r>
            <a:r>
              <a:rPr sz="3350" b="1" spc="-245" dirty="0">
                <a:solidFill>
                  <a:srgbClr val="2D6236"/>
                </a:solidFill>
                <a:latin typeface="Times New Roman"/>
                <a:cs typeface="Times New Roman"/>
              </a:rPr>
              <a:t>Data</a:t>
            </a:r>
            <a:r>
              <a:rPr sz="3350" b="1" spc="-190" dirty="0">
                <a:solidFill>
                  <a:srgbClr val="2D6236"/>
                </a:solidFill>
                <a:latin typeface="Times New Roman"/>
                <a:cs typeface="Times New Roman"/>
              </a:rPr>
              <a:t> </a:t>
            </a:r>
            <a:r>
              <a:rPr sz="3350" b="1" spc="-10" dirty="0">
                <a:solidFill>
                  <a:srgbClr val="116723"/>
                </a:solidFill>
                <a:latin typeface="Times New Roman"/>
                <a:cs typeface="Times New Roman"/>
              </a:rPr>
              <a:t>Acquisition</a:t>
            </a:r>
            <a:endParaRPr sz="3350">
              <a:latin typeface="Times New Roman"/>
              <a:cs typeface="Times New Roman"/>
            </a:endParaRPr>
          </a:p>
          <a:p>
            <a:pPr marL="12700" marR="5080" indent="-635" algn="ctr">
              <a:lnSpc>
                <a:spcPct val="112400"/>
              </a:lnSpc>
              <a:spcBef>
                <a:spcPts val="1500"/>
              </a:spcBef>
            </a:pPr>
            <a:r>
              <a:rPr sz="2200" dirty="0">
                <a:solidFill>
                  <a:srgbClr val="2A2A2A"/>
                </a:solidFill>
                <a:latin typeface="Calibri"/>
                <a:cs typeface="Calibri"/>
              </a:rPr>
              <a:t>User</a:t>
            </a:r>
            <a:r>
              <a:rPr sz="2200" spc="-10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82828"/>
                </a:solidFill>
                <a:latin typeface="Calibri"/>
                <a:cs typeface="Calibri"/>
              </a:rPr>
              <a:t>inputs</a:t>
            </a:r>
            <a:r>
              <a:rPr sz="2200" spc="-2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B2B2B"/>
                </a:solidFill>
                <a:latin typeface="Calibri"/>
                <a:cs typeface="Calibri"/>
              </a:rPr>
              <a:t>soil</a:t>
            </a:r>
            <a:r>
              <a:rPr sz="2200" spc="-1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200" spc="-30" dirty="0">
                <a:solidFill>
                  <a:srgbClr val="2D2D2D"/>
                </a:solidFill>
                <a:latin typeface="Calibri"/>
                <a:cs typeface="Calibri"/>
              </a:rPr>
              <a:t>parameters</a:t>
            </a:r>
            <a:r>
              <a:rPr sz="2200" spc="1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200" spc="-35" dirty="0">
                <a:solidFill>
                  <a:srgbClr val="3B3B3B"/>
                </a:solidFill>
                <a:latin typeface="Calibri"/>
                <a:cs typeface="Calibri"/>
              </a:rPr>
              <a:t>or </a:t>
            </a:r>
            <a:r>
              <a:rPr sz="2200" dirty="0">
                <a:solidFill>
                  <a:srgbClr val="2F2F2F"/>
                </a:solidFill>
                <a:latin typeface="Calibri"/>
                <a:cs typeface="Calibri"/>
              </a:rPr>
              <a:t>captures </a:t>
            </a:r>
            <a:r>
              <a:rPr sz="2200" spc="-25" dirty="0">
                <a:solidFill>
                  <a:srgbClr val="2A2A2A"/>
                </a:solidFill>
                <a:latin typeface="Calibri"/>
                <a:cs typeface="Calibri"/>
              </a:rPr>
              <a:t>images</a:t>
            </a:r>
            <a:r>
              <a:rPr sz="2200" spc="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D2D2D"/>
                </a:solidFill>
                <a:latin typeface="Calibri"/>
                <a:cs typeface="Calibri"/>
              </a:rPr>
              <a:t>of</a:t>
            </a:r>
            <a:r>
              <a:rPr sz="2200" spc="-8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A2A2A"/>
                </a:solidFill>
                <a:latin typeface="Calibri"/>
                <a:cs typeface="Calibri"/>
              </a:rPr>
              <a:t>leaves</a:t>
            </a:r>
            <a:r>
              <a:rPr sz="2200" spc="2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F2F2F"/>
                </a:solidFill>
                <a:latin typeface="Calibri"/>
                <a:cs typeface="Calibri"/>
              </a:rPr>
              <a:t>via</a:t>
            </a:r>
            <a:r>
              <a:rPr sz="2200" spc="-12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2F2F2F"/>
                </a:solidFill>
                <a:latin typeface="Calibri"/>
                <a:cs typeface="Calibri"/>
              </a:rPr>
              <a:t>the </a:t>
            </a:r>
            <a:r>
              <a:rPr sz="2200" spc="-60" dirty="0">
                <a:solidFill>
                  <a:srgbClr val="313131"/>
                </a:solidFill>
                <a:latin typeface="Calibri"/>
                <a:cs typeface="Calibri"/>
              </a:rPr>
              <a:t>mobile</a:t>
            </a:r>
            <a:r>
              <a:rPr sz="2200" spc="-6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B2B2B"/>
                </a:solidFill>
                <a:latin typeface="Calibri"/>
                <a:cs typeface="Calibri"/>
              </a:rPr>
              <a:t>app.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44566" y="6323494"/>
            <a:ext cx="3649345" cy="1857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2755">
              <a:lnSpc>
                <a:spcPct val="100000"/>
              </a:lnSpc>
              <a:spcBef>
                <a:spcPts val="100"/>
              </a:spcBef>
            </a:pPr>
            <a:r>
              <a:rPr sz="3350" b="1" spc="-95" dirty="0">
                <a:solidFill>
                  <a:srgbClr val="1C642D"/>
                </a:solidFill>
                <a:latin typeface="Times New Roman"/>
                <a:cs typeface="Times New Roman"/>
              </a:rPr>
              <a:t>2.</a:t>
            </a:r>
            <a:r>
              <a:rPr sz="3350" b="1" spc="-270" dirty="0">
                <a:solidFill>
                  <a:srgbClr val="1C642D"/>
                </a:solidFill>
                <a:latin typeface="Times New Roman"/>
                <a:cs typeface="Times New Roman"/>
              </a:rPr>
              <a:t> </a:t>
            </a:r>
            <a:r>
              <a:rPr sz="3350" b="1" spc="-360" dirty="0">
                <a:solidFill>
                  <a:srgbClr val="1A4F18"/>
                </a:solidFill>
                <a:latin typeface="Times New Roman"/>
                <a:cs typeface="Times New Roman"/>
              </a:rPr>
              <a:t>AI</a:t>
            </a:r>
            <a:r>
              <a:rPr sz="3350" b="1" spc="-40" dirty="0">
                <a:solidFill>
                  <a:srgbClr val="1A4F18"/>
                </a:solidFill>
                <a:latin typeface="Times New Roman"/>
                <a:cs typeface="Times New Roman"/>
              </a:rPr>
              <a:t> </a:t>
            </a:r>
            <a:r>
              <a:rPr sz="3350" b="1" spc="-10" dirty="0">
                <a:solidFill>
                  <a:srgbClr val="34643B"/>
                </a:solidFill>
                <a:latin typeface="Times New Roman"/>
                <a:cs typeface="Times New Roman"/>
              </a:rPr>
              <a:t>Processing</a:t>
            </a:r>
            <a:endParaRPr sz="3350">
              <a:latin typeface="Times New Roman"/>
              <a:cs typeface="Times New Roman"/>
            </a:endParaRPr>
          </a:p>
          <a:p>
            <a:pPr marL="12700" marR="5080" indent="-10795" algn="ctr">
              <a:lnSpc>
                <a:spcPct val="112400"/>
              </a:lnSpc>
              <a:spcBef>
                <a:spcPts val="1500"/>
              </a:spcBef>
            </a:pPr>
            <a:r>
              <a:rPr sz="2200" spc="-95" dirty="0">
                <a:solidFill>
                  <a:srgbClr val="383838"/>
                </a:solidFill>
                <a:latin typeface="Calibri"/>
                <a:cs typeface="Calibri"/>
              </a:rPr>
              <a:t>ML</a:t>
            </a:r>
            <a:r>
              <a:rPr sz="2200" spc="-3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200" spc="-40" dirty="0">
                <a:solidFill>
                  <a:srgbClr val="2A2A2A"/>
                </a:solidFill>
                <a:latin typeface="Calibri"/>
                <a:cs typeface="Calibri"/>
              </a:rPr>
              <a:t>models</a:t>
            </a:r>
            <a:r>
              <a:rPr sz="2200" spc="-8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200" spc="-45" dirty="0">
                <a:solidFill>
                  <a:srgbClr val="282828"/>
                </a:solidFill>
                <a:latin typeface="Calibri"/>
                <a:cs typeface="Calibri"/>
              </a:rPr>
              <a:t>analyze</a:t>
            </a:r>
            <a:r>
              <a:rPr sz="220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282828"/>
                </a:solidFill>
                <a:latin typeface="Calibri"/>
                <a:cs typeface="Calibri"/>
              </a:rPr>
              <a:t>data</a:t>
            </a:r>
            <a:r>
              <a:rPr sz="2200" spc="-10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F2F2F"/>
                </a:solidFill>
                <a:latin typeface="Calibri"/>
                <a:cs typeface="Calibri"/>
              </a:rPr>
              <a:t>against </a:t>
            </a:r>
            <a:r>
              <a:rPr sz="2200" dirty="0">
                <a:solidFill>
                  <a:srgbClr val="2A2A2A"/>
                </a:solidFill>
                <a:latin typeface="Calibri"/>
                <a:cs typeface="Calibri"/>
              </a:rPr>
              <a:t>8,000+</a:t>
            </a:r>
            <a:r>
              <a:rPr sz="2200" spc="-6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B2B2B"/>
                </a:solidFill>
                <a:latin typeface="Calibri"/>
                <a:cs typeface="Calibri"/>
              </a:rPr>
              <a:t>crop</a:t>
            </a:r>
            <a:r>
              <a:rPr sz="2200" spc="-1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200" spc="-40" dirty="0">
                <a:solidFill>
                  <a:srgbClr val="2F2F2F"/>
                </a:solidFill>
                <a:latin typeface="Calibri"/>
                <a:cs typeface="Calibri"/>
              </a:rPr>
              <a:t>profiles</a:t>
            </a:r>
            <a:r>
              <a:rPr sz="2200" spc="10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2200" spc="-1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82828"/>
                </a:solidFill>
                <a:latin typeface="Calibri"/>
                <a:cs typeface="Calibri"/>
              </a:rPr>
              <a:t>disease </a:t>
            </a:r>
            <a:r>
              <a:rPr sz="2200" spc="-10" dirty="0">
                <a:solidFill>
                  <a:srgbClr val="2B2B2B"/>
                </a:solidFill>
                <a:latin typeface="Calibri"/>
                <a:cs typeface="Calibri"/>
              </a:rPr>
              <a:t>datasets.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74025" y="6364069"/>
            <a:ext cx="3500754" cy="18167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27355">
              <a:lnSpc>
                <a:spcPct val="100000"/>
              </a:lnSpc>
              <a:spcBef>
                <a:spcPts val="90"/>
              </a:spcBef>
            </a:pPr>
            <a:r>
              <a:rPr sz="3100" b="1" spc="-20" dirty="0">
                <a:solidFill>
                  <a:srgbClr val="155B23"/>
                </a:solidFill>
                <a:latin typeface="Cambria"/>
                <a:cs typeface="Cambria"/>
              </a:rPr>
              <a:t>3.</a:t>
            </a:r>
            <a:r>
              <a:rPr sz="3100" b="1" spc="-155" dirty="0">
                <a:solidFill>
                  <a:srgbClr val="155B23"/>
                </a:solidFill>
                <a:latin typeface="Cambria"/>
                <a:cs typeface="Cambria"/>
              </a:rPr>
              <a:t> </a:t>
            </a:r>
            <a:r>
              <a:rPr sz="3100" b="1" spc="-20" dirty="0">
                <a:solidFill>
                  <a:srgbClr val="3A6738"/>
                </a:solidFill>
                <a:latin typeface="Cambria"/>
                <a:cs typeface="Cambria"/>
              </a:rPr>
              <a:t>Logic</a:t>
            </a:r>
            <a:r>
              <a:rPr sz="3100" b="1" spc="-114" dirty="0">
                <a:solidFill>
                  <a:srgbClr val="3A6738"/>
                </a:solidFill>
                <a:latin typeface="Cambria"/>
                <a:cs typeface="Cambria"/>
              </a:rPr>
              <a:t> </a:t>
            </a:r>
            <a:r>
              <a:rPr sz="3100" b="1" spc="-10" dirty="0">
                <a:solidFill>
                  <a:srgbClr val="285B1C"/>
                </a:solidFill>
                <a:latin typeface="Cambria"/>
                <a:cs typeface="Cambria"/>
              </a:rPr>
              <a:t>Engine</a:t>
            </a:r>
            <a:endParaRPr sz="3100">
              <a:latin typeface="Cambria"/>
              <a:cs typeface="Cambria"/>
            </a:endParaRPr>
          </a:p>
          <a:p>
            <a:pPr marL="12700" marR="5080" indent="-15875" algn="ctr">
              <a:lnSpc>
                <a:spcPct val="112400"/>
              </a:lnSpc>
              <a:spcBef>
                <a:spcPts val="1490"/>
              </a:spcBef>
            </a:pPr>
            <a:r>
              <a:rPr sz="2200" spc="-155" dirty="0">
                <a:solidFill>
                  <a:srgbClr val="2A2A2A"/>
                </a:solidFill>
                <a:latin typeface="Calibri"/>
                <a:cs typeface="Calibri"/>
              </a:rPr>
              <a:t>Rule—</a:t>
            </a:r>
            <a:r>
              <a:rPr sz="2200" spc="-120" dirty="0">
                <a:solidFill>
                  <a:srgbClr val="2A2A2A"/>
                </a:solidFill>
                <a:latin typeface="Calibri"/>
                <a:cs typeface="Calibri"/>
              </a:rPr>
              <a:t>based</a:t>
            </a:r>
            <a:r>
              <a:rPr sz="2200" spc="-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D2D2D"/>
                </a:solidFill>
                <a:latin typeface="Calibri"/>
                <a:cs typeface="Calibri"/>
              </a:rPr>
              <a:t>engines</a:t>
            </a:r>
            <a:r>
              <a:rPr sz="2200" spc="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D2D2D"/>
                </a:solidFill>
                <a:latin typeface="Calibri"/>
                <a:cs typeface="Calibri"/>
              </a:rPr>
              <a:t>combine </a:t>
            </a:r>
            <a:r>
              <a:rPr sz="2200" spc="-70" dirty="0">
                <a:solidFill>
                  <a:srgbClr val="2B2B2B"/>
                </a:solidFill>
                <a:latin typeface="Calibri"/>
                <a:cs typeface="Calibri"/>
              </a:rPr>
              <a:t>weather,</a:t>
            </a:r>
            <a:r>
              <a:rPr sz="2200" spc="-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F2F2F"/>
                </a:solidFill>
                <a:latin typeface="Calibri"/>
                <a:cs typeface="Calibri"/>
              </a:rPr>
              <a:t>price,</a:t>
            </a:r>
            <a:r>
              <a:rPr sz="2200" spc="-8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82828"/>
                </a:solidFill>
                <a:latin typeface="Calibri"/>
                <a:cs typeface="Calibri"/>
              </a:rPr>
              <a:t>and</a:t>
            </a:r>
            <a:r>
              <a:rPr sz="2200" spc="-11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B2B2B"/>
                </a:solidFill>
                <a:latin typeface="Calibri"/>
                <a:cs typeface="Calibri"/>
              </a:rPr>
              <a:t>soil</a:t>
            </a:r>
            <a:r>
              <a:rPr sz="2200" spc="-1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2F2F2F"/>
                </a:solidFill>
                <a:latin typeface="Calibri"/>
                <a:cs typeface="Calibri"/>
              </a:rPr>
              <a:t>data</a:t>
            </a:r>
            <a:r>
              <a:rPr sz="2200" spc="-10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B3B3B"/>
                </a:solidFill>
                <a:latin typeface="Calibri"/>
                <a:cs typeface="Calibri"/>
              </a:rPr>
              <a:t>for </a:t>
            </a:r>
            <a:r>
              <a:rPr sz="2200" spc="-25" dirty="0">
                <a:solidFill>
                  <a:srgbClr val="282828"/>
                </a:solidFill>
                <a:latin typeface="Calibri"/>
                <a:cs typeface="Calibri"/>
              </a:rPr>
              <a:t>personalized</a:t>
            </a:r>
            <a:r>
              <a:rPr sz="2200" spc="-6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B2B2B"/>
                </a:solidFill>
                <a:latin typeface="Calibri"/>
                <a:cs typeface="Calibri"/>
              </a:rPr>
              <a:t>advice.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743599" y="6339855"/>
            <a:ext cx="4275455" cy="14643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51815">
              <a:lnSpc>
                <a:spcPct val="100000"/>
              </a:lnSpc>
              <a:spcBef>
                <a:spcPts val="120"/>
              </a:spcBef>
            </a:pPr>
            <a:r>
              <a:rPr sz="3200" b="1" spc="-95" dirty="0">
                <a:solidFill>
                  <a:srgbClr val="21591C"/>
                </a:solidFill>
                <a:latin typeface="Cambria"/>
                <a:cs typeface="Cambria"/>
              </a:rPr>
              <a:t>4.</a:t>
            </a:r>
            <a:r>
              <a:rPr sz="3200" b="1" spc="-90" dirty="0">
                <a:solidFill>
                  <a:srgbClr val="21591C"/>
                </a:solidFill>
                <a:latin typeface="Cambria"/>
                <a:cs typeface="Cambria"/>
              </a:rPr>
              <a:t> </a:t>
            </a:r>
            <a:r>
              <a:rPr sz="3200" b="1" spc="-210" dirty="0">
                <a:solidFill>
                  <a:srgbClr val="285223"/>
                </a:solidFill>
                <a:latin typeface="Cambria"/>
                <a:cs typeface="Cambria"/>
              </a:rPr>
              <a:t>Human</a:t>
            </a:r>
            <a:r>
              <a:rPr sz="3200" b="1" spc="65" dirty="0">
                <a:solidFill>
                  <a:srgbClr val="285223"/>
                </a:solidFill>
                <a:latin typeface="Cambria"/>
                <a:cs typeface="Cambria"/>
              </a:rPr>
              <a:t> </a:t>
            </a:r>
            <a:r>
              <a:rPr sz="3200" b="1" spc="-50" dirty="0">
                <a:solidFill>
                  <a:srgbClr val="16521A"/>
                </a:solidFill>
                <a:latin typeface="Cambria"/>
                <a:cs typeface="Cambria"/>
              </a:rPr>
              <a:t>Delivery</a:t>
            </a:r>
            <a:endParaRPr sz="3200">
              <a:latin typeface="Cambria"/>
              <a:cs typeface="Cambria"/>
            </a:endParaRPr>
          </a:p>
          <a:p>
            <a:pPr marL="808355" marR="5080" indent="-796290">
              <a:lnSpc>
                <a:spcPct val="112400"/>
              </a:lnSpc>
              <a:spcBef>
                <a:spcPts val="1530"/>
              </a:spcBef>
            </a:pPr>
            <a:r>
              <a:rPr sz="2200" spc="-30" dirty="0">
                <a:solidFill>
                  <a:srgbClr val="2A2A2A"/>
                </a:solidFill>
                <a:latin typeface="Calibri"/>
                <a:cs typeface="Calibri"/>
              </a:rPr>
              <a:t>Recommendations</a:t>
            </a:r>
            <a:r>
              <a:rPr sz="2200" spc="-8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B2B2B"/>
                </a:solidFill>
                <a:latin typeface="Calibri"/>
                <a:cs typeface="Calibri"/>
              </a:rPr>
              <a:t>sent</a:t>
            </a:r>
            <a:r>
              <a:rPr sz="2200" spc="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F2F2F"/>
                </a:solidFill>
                <a:latin typeface="Calibri"/>
                <a:cs typeface="Calibri"/>
              </a:rPr>
              <a:t>via</a:t>
            </a:r>
            <a:r>
              <a:rPr sz="2200" spc="-10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B2B2B"/>
                </a:solidFill>
                <a:latin typeface="Calibri"/>
                <a:cs typeface="Calibri"/>
              </a:rPr>
              <a:t>chatbot</a:t>
            </a:r>
            <a:r>
              <a:rPr sz="2200" spc="8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41566B"/>
                </a:solidFill>
                <a:latin typeface="Calibri"/>
                <a:cs typeface="Calibri"/>
              </a:rPr>
              <a:t>in </a:t>
            </a:r>
            <a:r>
              <a:rPr sz="2200" spc="-30" dirty="0">
                <a:solidFill>
                  <a:srgbClr val="607B90"/>
                </a:solidFill>
                <a:latin typeface="Calibri"/>
                <a:cs typeface="Calibri"/>
              </a:rPr>
              <a:t>local</a:t>
            </a:r>
            <a:r>
              <a:rPr sz="2200" spc="-95" dirty="0">
                <a:solidFill>
                  <a:srgbClr val="607B90"/>
                </a:solidFill>
                <a:latin typeface="Calibri"/>
                <a:cs typeface="Calibri"/>
              </a:rPr>
              <a:t> </a:t>
            </a:r>
            <a:r>
              <a:rPr sz="2200" spc="-45" dirty="0">
                <a:solidFill>
                  <a:srgbClr val="343434"/>
                </a:solidFill>
                <a:latin typeface="Calibri"/>
                <a:cs typeface="Calibri"/>
              </a:rPr>
              <a:t>regional</a:t>
            </a:r>
            <a:r>
              <a:rPr sz="2200" spc="-6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A2A2A"/>
                </a:solidFill>
                <a:latin typeface="Calibri"/>
                <a:cs typeface="Calibri"/>
              </a:rPr>
              <a:t>languages.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673" y="1947584"/>
            <a:ext cx="18313578" cy="785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79" y="4209295"/>
            <a:ext cx="18219340" cy="1083736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106375"/>
              </p:ext>
            </p:extLst>
          </p:nvPr>
        </p:nvGraphicFramePr>
        <p:xfrm>
          <a:off x="1212850" y="4622258"/>
          <a:ext cx="14959964" cy="4258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85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3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1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pPr marL="48260">
                        <a:lnSpc>
                          <a:spcPts val="2990"/>
                        </a:lnSpc>
                      </a:pPr>
                      <a:endParaRPr sz="2700" dirty="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93470">
                        <a:lnSpc>
                          <a:spcPts val="2990"/>
                        </a:lnSpc>
                      </a:pPr>
                      <a:endParaRPr sz="2700" dirty="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1615">
                        <a:lnSpc>
                          <a:spcPts val="2990"/>
                        </a:lnSpc>
                      </a:pPr>
                      <a:r>
                        <a:rPr lang="en-US" sz="27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Key</a:t>
                      </a:r>
                      <a:r>
                        <a:rPr lang="en-US" sz="2700" spc="-1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US" sz="2700" spc="10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Benefit</a:t>
                      </a:r>
                      <a:endParaRPr sz="2700" dirty="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21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355"/>
                        </a:spcBef>
                      </a:pPr>
                      <a:r>
                        <a:rPr sz="2300" spc="-10" dirty="0">
                          <a:solidFill>
                            <a:srgbClr val="2F2F2F"/>
                          </a:solidFill>
                          <a:latin typeface="Arial MT"/>
                          <a:cs typeface="Arial MT"/>
                        </a:rPr>
                        <a:t>Farmers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299085" marB="0"/>
                </a:tc>
                <a:tc>
                  <a:txBody>
                    <a:bodyPr/>
                    <a:lstStyle/>
                    <a:p>
                      <a:pPr marL="1097280">
                        <a:lnSpc>
                          <a:spcPct val="100000"/>
                        </a:lnSpc>
                        <a:spcBef>
                          <a:spcPts val="2420"/>
                        </a:spcBef>
                      </a:pPr>
                      <a:r>
                        <a:rPr sz="2300" spc="-114" dirty="0">
                          <a:solidFill>
                            <a:srgbClr val="313131"/>
                          </a:solidFill>
                          <a:latin typeface="Arial MT"/>
                          <a:cs typeface="Arial MT"/>
                        </a:rPr>
                        <a:t>End</a:t>
                      </a:r>
                      <a:r>
                        <a:rPr sz="2300" spc="-45" dirty="0">
                          <a:solidFill>
                            <a:srgbClr val="31313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-20" dirty="0">
                          <a:solidFill>
                            <a:srgbClr val="2D2D2D"/>
                          </a:solidFill>
                          <a:latin typeface="Arial MT"/>
                          <a:cs typeface="Arial MT"/>
                        </a:rPr>
                        <a:t>Users</a:t>
                      </a:r>
                      <a:r>
                        <a:rPr sz="2300" spc="5" dirty="0">
                          <a:solidFill>
                            <a:srgbClr val="2D2D2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dirty="0">
                          <a:solidFill>
                            <a:srgbClr val="313131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sz="2300" spc="45" dirty="0">
                          <a:solidFill>
                            <a:srgbClr val="31313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r>
                        <a:rPr sz="2300" spc="-8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-10" dirty="0">
                          <a:solidFill>
                            <a:srgbClr val="2F2F2F"/>
                          </a:solidFill>
                          <a:latin typeface="Arial MT"/>
                          <a:cs typeface="Arial MT"/>
                        </a:rPr>
                        <a:t>Providers</a:t>
                      </a:r>
                      <a:endParaRPr sz="2300" dirty="0">
                        <a:latin typeface="Arial MT"/>
                        <a:cs typeface="Arial MT"/>
                      </a:endParaRPr>
                    </a:p>
                  </a:txBody>
                  <a:tcPr marL="0" marR="0" marT="307340" marB="0"/>
                </a:tc>
                <a:tc>
                  <a:txBody>
                    <a:bodyPr/>
                    <a:lstStyle/>
                    <a:p>
                      <a:pPr marL="1489075">
                        <a:lnSpc>
                          <a:spcPct val="100000"/>
                        </a:lnSpc>
                        <a:spcBef>
                          <a:spcPts val="2355"/>
                        </a:spcBef>
                      </a:pPr>
                      <a:r>
                        <a:rPr sz="2300" dirty="0">
                          <a:solidFill>
                            <a:srgbClr val="282828"/>
                          </a:solidFill>
                          <a:latin typeface="Arial MT"/>
                          <a:cs typeface="Arial MT"/>
                        </a:rPr>
                        <a:t>Improved</a:t>
                      </a:r>
                      <a:r>
                        <a:rPr sz="2300" spc="100" dirty="0">
                          <a:solidFill>
                            <a:srgbClr val="28282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dirty="0">
                          <a:solidFill>
                            <a:srgbClr val="343434"/>
                          </a:solidFill>
                          <a:latin typeface="Arial MT"/>
                          <a:cs typeface="Arial MT"/>
                        </a:rPr>
                        <a:t>Profit</a:t>
                      </a:r>
                      <a:r>
                        <a:rPr sz="2300" spc="75" dirty="0">
                          <a:solidFill>
                            <a:srgbClr val="3434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135" dirty="0">
                          <a:solidFill>
                            <a:srgbClr val="363636"/>
                          </a:solidFill>
                          <a:latin typeface="Arial MT"/>
                          <a:cs typeface="Arial MT"/>
                        </a:rPr>
                        <a:t>&amp;</a:t>
                      </a:r>
                      <a:r>
                        <a:rPr sz="2300" spc="-70" dirty="0">
                          <a:solidFill>
                            <a:srgbClr val="36363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-55" dirty="0">
                          <a:solidFill>
                            <a:srgbClr val="2F2F2F"/>
                          </a:solidFill>
                          <a:latin typeface="Arial MT"/>
                          <a:cs typeface="Arial MT"/>
                        </a:rPr>
                        <a:t>Reduced</a:t>
                      </a:r>
                      <a:r>
                        <a:rPr sz="2300" spc="-15" dirty="0">
                          <a:solidFill>
                            <a:srgbClr val="2F2F2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-20" dirty="0">
                          <a:solidFill>
                            <a:srgbClr val="2F2F2F"/>
                          </a:solidFill>
                          <a:latin typeface="Arial MT"/>
                          <a:cs typeface="Arial MT"/>
                        </a:rPr>
                        <a:t>Risk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2990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1865"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245"/>
                        </a:spcBef>
                      </a:pPr>
                      <a:r>
                        <a:rPr sz="2300" spc="-10" dirty="0">
                          <a:solidFill>
                            <a:srgbClr val="232323"/>
                          </a:solidFill>
                          <a:latin typeface="Arial MT"/>
                          <a:cs typeface="Arial MT"/>
                        </a:rPr>
                        <a:t>Government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285115" marB="0"/>
                </a:tc>
                <a:tc>
                  <a:txBody>
                    <a:bodyPr/>
                    <a:lstStyle/>
                    <a:p>
                      <a:pPr marL="1090295">
                        <a:lnSpc>
                          <a:spcPct val="100000"/>
                        </a:lnSpc>
                        <a:spcBef>
                          <a:spcPts val="2305"/>
                        </a:spcBef>
                      </a:pPr>
                      <a:r>
                        <a:rPr sz="2300" spc="-20" dirty="0">
                          <a:solidFill>
                            <a:srgbClr val="313131"/>
                          </a:solidFill>
                          <a:latin typeface="Arial MT"/>
                          <a:cs typeface="Arial MT"/>
                        </a:rPr>
                        <a:t>Policy</a:t>
                      </a:r>
                      <a:r>
                        <a:rPr sz="2300" spc="85" dirty="0">
                          <a:solidFill>
                            <a:srgbClr val="31313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Support</a:t>
                      </a:r>
                      <a:r>
                        <a:rPr sz="2300" spc="17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dirty="0">
                          <a:solidFill>
                            <a:srgbClr val="313131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sz="2300" spc="75" dirty="0">
                          <a:solidFill>
                            <a:srgbClr val="31313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Subsidies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292735" marB="0"/>
                </a:tc>
                <a:tc>
                  <a:txBody>
                    <a:bodyPr/>
                    <a:lstStyle/>
                    <a:p>
                      <a:pPr marL="1484630">
                        <a:lnSpc>
                          <a:spcPct val="100000"/>
                        </a:lnSpc>
                        <a:spcBef>
                          <a:spcPts val="2305"/>
                        </a:spcBef>
                      </a:pPr>
                      <a:r>
                        <a:rPr sz="2300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Food</a:t>
                      </a:r>
                      <a:r>
                        <a:rPr sz="2300" spc="-65" dirty="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dirty="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Security</a:t>
                      </a:r>
                      <a:r>
                        <a:rPr sz="2300" spc="55" dirty="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60" dirty="0">
                          <a:solidFill>
                            <a:srgbClr val="313131"/>
                          </a:solidFill>
                          <a:latin typeface="Arial MT"/>
                          <a:cs typeface="Arial MT"/>
                        </a:rPr>
                        <a:t>&amp;</a:t>
                      </a:r>
                      <a:r>
                        <a:rPr sz="2300" spc="-95" dirty="0">
                          <a:solidFill>
                            <a:srgbClr val="31313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-40" dirty="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Rural</a:t>
                      </a:r>
                      <a:r>
                        <a:rPr sz="2300" spc="35" dirty="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Stability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29273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044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sz="2700" spc="-20" dirty="0">
                          <a:solidFill>
                            <a:srgbClr val="2F2F2F"/>
                          </a:solidFill>
                          <a:latin typeface="Courier New"/>
                          <a:cs typeface="Courier New"/>
                        </a:rPr>
                        <a:t>NGOs</a:t>
                      </a:r>
                      <a:endParaRPr sz="2700">
                        <a:latin typeface="Courier New"/>
                        <a:cs typeface="Courier New"/>
                      </a:endParaRPr>
                    </a:p>
                  </a:txBody>
                  <a:tcPr marL="0" marR="0" marT="247650" marB="0"/>
                </a:tc>
                <a:tc>
                  <a:txBody>
                    <a:bodyPr/>
                    <a:lstStyle/>
                    <a:p>
                      <a:pPr marL="1090930">
                        <a:lnSpc>
                          <a:spcPct val="100000"/>
                        </a:lnSpc>
                        <a:spcBef>
                          <a:spcPts val="2290"/>
                        </a:spcBef>
                      </a:pPr>
                      <a:r>
                        <a:rPr sz="2300" spc="-170" dirty="0">
                          <a:solidFill>
                            <a:srgbClr val="2B2B2B"/>
                          </a:solidFill>
                          <a:latin typeface="Arial MT"/>
                          <a:cs typeface="Arial MT"/>
                        </a:rPr>
                        <a:t>Last—</a:t>
                      </a:r>
                      <a:r>
                        <a:rPr sz="2300" spc="-75" dirty="0">
                          <a:solidFill>
                            <a:srgbClr val="2B2B2B"/>
                          </a:solidFill>
                          <a:latin typeface="Arial MT"/>
                          <a:cs typeface="Arial MT"/>
                        </a:rPr>
                        <a:t>mile</a:t>
                      </a:r>
                      <a:r>
                        <a:rPr sz="2300" spc="-30" dirty="0">
                          <a:solidFill>
                            <a:srgbClr val="2B2B2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3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Connectivity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290830" marB="0"/>
                </a:tc>
                <a:tc>
                  <a:txBody>
                    <a:bodyPr/>
                    <a:lstStyle/>
                    <a:p>
                      <a:pPr marL="1494790">
                        <a:lnSpc>
                          <a:spcPct val="100000"/>
                        </a:lnSpc>
                        <a:spcBef>
                          <a:spcPts val="2450"/>
                        </a:spcBef>
                      </a:pPr>
                      <a:r>
                        <a:rPr sz="2200" dirty="0">
                          <a:solidFill>
                            <a:srgbClr val="282828"/>
                          </a:solidFill>
                          <a:latin typeface="Arial MT"/>
                          <a:cs typeface="Arial MT"/>
                        </a:rPr>
                        <a:t>Empowering</a:t>
                      </a:r>
                      <a:r>
                        <a:rPr sz="2200" spc="310" dirty="0">
                          <a:solidFill>
                            <a:srgbClr val="28282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dirty="0">
                          <a:solidFill>
                            <a:srgbClr val="242424"/>
                          </a:solidFill>
                          <a:latin typeface="Arial MT"/>
                          <a:cs typeface="Arial MT"/>
                        </a:rPr>
                        <a:t>Vulnerable</a:t>
                      </a:r>
                      <a:r>
                        <a:rPr sz="2200" spc="360" dirty="0">
                          <a:solidFill>
                            <a:srgbClr val="24242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200" spc="-10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Groups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31115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170"/>
                        </a:spcBef>
                      </a:pPr>
                      <a:r>
                        <a:rPr sz="230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Agri—</a:t>
                      </a:r>
                      <a:r>
                        <a:rPr sz="2300" spc="-10" dirty="0">
                          <a:solidFill>
                            <a:srgbClr val="242424"/>
                          </a:solidFill>
                          <a:latin typeface="Calibri"/>
                          <a:cs typeface="Calibri"/>
                        </a:rPr>
                        <a:t>Companies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275590" marB="0"/>
                </a:tc>
                <a:tc>
                  <a:txBody>
                    <a:bodyPr/>
                    <a:lstStyle/>
                    <a:p>
                      <a:pPr marL="1086485">
                        <a:lnSpc>
                          <a:spcPct val="100000"/>
                        </a:lnSpc>
                        <a:spcBef>
                          <a:spcPts val="2020"/>
                        </a:spcBef>
                      </a:pPr>
                      <a:r>
                        <a:rPr sz="2450" dirty="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Inputs</a:t>
                      </a:r>
                      <a:r>
                        <a:rPr sz="2450" spc="50" dirty="0">
                          <a:solidFill>
                            <a:srgbClr val="2A2A2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50" spc="-220" dirty="0">
                          <a:solidFill>
                            <a:srgbClr val="3B3B3B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2450" spc="50" dirty="0">
                          <a:solidFill>
                            <a:srgbClr val="3B3B3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50" spc="-30" dirty="0">
                          <a:solidFill>
                            <a:srgbClr val="2D2D2D"/>
                          </a:solidFill>
                          <a:latin typeface="Calibri"/>
                          <a:cs typeface="Calibri"/>
                        </a:rPr>
                        <a:t>Market</a:t>
                      </a:r>
                      <a:r>
                        <a:rPr sz="2450" spc="50" dirty="0">
                          <a:solidFill>
                            <a:srgbClr val="2D2D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50" spc="-10" dirty="0">
                          <a:solidFill>
                            <a:srgbClr val="2F2F2F"/>
                          </a:solidFill>
                          <a:latin typeface="Calibri"/>
                          <a:cs typeface="Calibri"/>
                        </a:rPr>
                        <a:t>Linkage</a:t>
                      </a:r>
                      <a:endParaRPr sz="2450">
                        <a:latin typeface="Calibri"/>
                        <a:cs typeface="Calibri"/>
                      </a:endParaRPr>
                    </a:p>
                  </a:txBody>
                  <a:tcPr marL="0" marR="0" marT="256540" marB="0"/>
                </a:tc>
                <a:tc>
                  <a:txBody>
                    <a:bodyPr/>
                    <a:lstStyle/>
                    <a:p>
                      <a:pPr marL="1494790">
                        <a:lnSpc>
                          <a:spcPct val="100000"/>
                        </a:lnSpc>
                        <a:spcBef>
                          <a:spcPts val="2020"/>
                        </a:spcBef>
                      </a:pPr>
                      <a:r>
                        <a:rPr sz="2450" spc="-114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Sust</a:t>
                      </a:r>
                      <a:r>
                        <a:rPr lang="en-US" sz="2450" spc="-114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ainable</a:t>
                      </a:r>
                      <a:r>
                        <a:rPr sz="2450" spc="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14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Supply</a:t>
                      </a:r>
                      <a:r>
                        <a:rPr sz="2450" spc="-45" dirty="0">
                          <a:solidFill>
                            <a:srgbClr val="2A2A2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2450" spc="-10" dirty="0">
                          <a:solidFill>
                            <a:srgbClr val="343434"/>
                          </a:solidFill>
                          <a:latin typeface="Arial MT"/>
                          <a:cs typeface="Arial MT"/>
                        </a:rPr>
                        <a:t>Chain</a:t>
                      </a:r>
                      <a:endParaRPr sz="2450" dirty="0">
                        <a:latin typeface="Arial MT"/>
                        <a:cs typeface="Arial MT"/>
                      </a:endParaRPr>
                    </a:p>
                  </a:txBody>
                  <a:tcPr marL="0" marR="0" marT="25654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10"/>
              </a:spcBef>
            </a:pPr>
            <a:r>
              <a:rPr b="0" spc="-25" dirty="0">
                <a:solidFill>
                  <a:srgbClr val="18601D"/>
                </a:solidFill>
                <a:latin typeface="Cambria"/>
                <a:cs typeface="Cambria"/>
              </a:rPr>
              <a:t>Stakeholder</a:t>
            </a:r>
            <a:r>
              <a:rPr b="0" spc="-245" dirty="0">
                <a:solidFill>
                  <a:srgbClr val="18601D"/>
                </a:solidFill>
                <a:latin typeface="Cambria"/>
                <a:cs typeface="Cambria"/>
              </a:rPr>
              <a:t> </a:t>
            </a:r>
            <a:r>
              <a:rPr b="0" spc="-20" dirty="0">
                <a:solidFill>
                  <a:srgbClr val="21591F"/>
                </a:solidFill>
                <a:latin typeface="Cambria"/>
                <a:cs typeface="Cambria"/>
              </a:rPr>
              <a:t>Ecosystem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673" y="1947584"/>
            <a:ext cx="18313578" cy="7853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6450" b="0" spc="-195" dirty="0">
                <a:solidFill>
                  <a:srgbClr val="18601F"/>
                </a:solidFill>
                <a:latin typeface="Cambria"/>
                <a:cs typeface="Cambria"/>
              </a:rPr>
              <a:t>Core</a:t>
            </a:r>
            <a:r>
              <a:rPr sz="6450" b="0" spc="-165" dirty="0">
                <a:solidFill>
                  <a:srgbClr val="18601F"/>
                </a:solidFill>
                <a:latin typeface="Cambria"/>
                <a:cs typeface="Cambria"/>
              </a:rPr>
              <a:t> </a:t>
            </a:r>
            <a:r>
              <a:rPr sz="6450" b="0" spc="-55" dirty="0">
                <a:solidFill>
                  <a:srgbClr val="285E1D"/>
                </a:solidFill>
                <a:latin typeface="Cambria"/>
                <a:cs typeface="Cambria"/>
              </a:rPr>
              <a:t>Advantages</a:t>
            </a:r>
            <a:r>
              <a:rPr sz="6450" b="0" spc="-195" dirty="0">
                <a:solidFill>
                  <a:srgbClr val="285E1D"/>
                </a:solidFill>
                <a:latin typeface="Cambria"/>
                <a:cs typeface="Cambria"/>
              </a:rPr>
              <a:t> </a:t>
            </a:r>
            <a:r>
              <a:rPr sz="6450" b="0" dirty="0">
                <a:solidFill>
                  <a:srgbClr val="165D1D"/>
                </a:solidFill>
                <a:latin typeface="Cambria"/>
                <a:cs typeface="Cambria"/>
              </a:rPr>
              <a:t>of</a:t>
            </a:r>
            <a:r>
              <a:rPr sz="6450" b="0" spc="-100" dirty="0">
                <a:solidFill>
                  <a:srgbClr val="165D1D"/>
                </a:solidFill>
                <a:latin typeface="Cambria"/>
                <a:cs typeface="Cambria"/>
              </a:rPr>
              <a:t> </a:t>
            </a:r>
            <a:r>
              <a:rPr sz="6450" b="0" spc="-10" dirty="0">
                <a:solidFill>
                  <a:srgbClr val="1C5D26"/>
                </a:solidFill>
                <a:latin typeface="Cambria"/>
                <a:cs typeface="Cambria"/>
              </a:rPr>
              <a:t>the</a:t>
            </a:r>
            <a:r>
              <a:rPr sz="6450" b="0" spc="-350" dirty="0">
                <a:solidFill>
                  <a:srgbClr val="1C5D26"/>
                </a:solidFill>
                <a:latin typeface="Cambria"/>
                <a:cs typeface="Cambria"/>
              </a:rPr>
              <a:t> </a:t>
            </a:r>
            <a:r>
              <a:rPr sz="6450" b="0" spc="-10" dirty="0">
                <a:solidFill>
                  <a:srgbClr val="1C5D21"/>
                </a:solidFill>
                <a:latin typeface="Cambria"/>
                <a:cs typeface="Cambria"/>
              </a:rPr>
              <a:t>System</a:t>
            </a:r>
            <a:endParaRPr sz="64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515" y="4123953"/>
            <a:ext cx="17889855" cy="4215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9290" marR="991235" indent="-14604">
              <a:lnSpc>
                <a:spcPct val="122100"/>
              </a:lnSpc>
              <a:spcBef>
                <a:spcPts val="100"/>
              </a:spcBef>
            </a:pPr>
            <a:r>
              <a:rPr sz="2700" spc="180" dirty="0">
                <a:solidFill>
                  <a:srgbClr val="2F2F2F"/>
                </a:solidFill>
                <a:latin typeface="Calibri"/>
                <a:cs typeface="Calibri"/>
              </a:rPr>
              <a:t>User-</a:t>
            </a:r>
            <a:r>
              <a:rPr sz="2700" spc="170" dirty="0">
                <a:solidFill>
                  <a:srgbClr val="2F2F2F"/>
                </a:solidFill>
                <a:latin typeface="Calibri"/>
                <a:cs typeface="Calibri"/>
              </a:rPr>
              <a:t>Centric</a:t>
            </a:r>
            <a:r>
              <a:rPr sz="2700" spc="23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700" spc="110" dirty="0">
                <a:solidFill>
                  <a:srgbClr val="2F2F2F"/>
                </a:solidFill>
                <a:latin typeface="Calibri"/>
                <a:cs typeface="Calibri"/>
              </a:rPr>
              <a:t>Design:</a:t>
            </a:r>
            <a:r>
              <a:rPr sz="2700" spc="5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313131"/>
                </a:solidFill>
                <a:latin typeface="Calibri"/>
                <a:cs typeface="Calibri"/>
              </a:rPr>
              <a:t>Simplified</a:t>
            </a:r>
            <a:r>
              <a:rPr sz="2700" spc="20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313131"/>
                </a:solidFill>
                <a:latin typeface="Calibri"/>
                <a:cs typeface="Calibri"/>
              </a:rPr>
              <a:t>UI</a:t>
            </a:r>
            <a:r>
              <a:rPr sz="2700" spc="8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82828"/>
                </a:solidFill>
                <a:latin typeface="Calibri"/>
                <a:cs typeface="Calibri"/>
              </a:rPr>
              <a:t>tailored</a:t>
            </a:r>
            <a:r>
              <a:rPr sz="2700" spc="26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B2B2B"/>
                </a:solidFill>
                <a:latin typeface="Calibri"/>
                <a:cs typeface="Calibri"/>
              </a:rPr>
              <a:t>for</a:t>
            </a:r>
            <a:r>
              <a:rPr sz="2700" spc="-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D2D2D"/>
                </a:solidFill>
                <a:latin typeface="Calibri"/>
                <a:cs typeface="Calibri"/>
              </a:rPr>
              <a:t>users</a:t>
            </a:r>
            <a:r>
              <a:rPr sz="2700" spc="18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D2D2D"/>
                </a:solidFill>
                <a:latin typeface="Calibri"/>
                <a:cs typeface="Calibri"/>
              </a:rPr>
              <a:t>with</a:t>
            </a:r>
            <a:r>
              <a:rPr sz="2700" spc="12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D2D2D"/>
                </a:solidFill>
                <a:latin typeface="Calibri"/>
                <a:cs typeface="Calibri"/>
              </a:rPr>
              <a:t>low</a:t>
            </a:r>
            <a:r>
              <a:rPr sz="2700" spc="10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B2B2B"/>
                </a:solidFill>
                <a:latin typeface="Calibri"/>
                <a:cs typeface="Calibri"/>
              </a:rPr>
              <a:t>technical</a:t>
            </a:r>
            <a:r>
              <a:rPr sz="2700" spc="1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62626"/>
                </a:solidFill>
                <a:latin typeface="Calibri"/>
                <a:cs typeface="Calibri"/>
              </a:rPr>
              <a:t>exposure,</a:t>
            </a:r>
            <a:r>
              <a:rPr sz="2700" spc="8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42424"/>
                </a:solidFill>
                <a:latin typeface="Calibri"/>
                <a:cs typeface="Calibri"/>
              </a:rPr>
              <a:t>using</a:t>
            </a:r>
            <a:r>
              <a:rPr sz="2700" spc="114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D2D2D"/>
                </a:solidFill>
                <a:latin typeface="Calibri"/>
                <a:cs typeface="Calibri"/>
              </a:rPr>
              <a:t>intuitive</a:t>
            </a:r>
            <a:r>
              <a:rPr sz="2700" spc="17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700" spc="50" dirty="0">
                <a:solidFill>
                  <a:srgbClr val="2B2B2B"/>
                </a:solidFill>
                <a:latin typeface="Calibri"/>
                <a:cs typeface="Calibri"/>
              </a:rPr>
              <a:t>icons</a:t>
            </a:r>
            <a:r>
              <a:rPr sz="2700" spc="1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sz="2700" spc="14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700" spc="65" dirty="0">
                <a:solidFill>
                  <a:srgbClr val="242424"/>
                </a:solidFill>
                <a:latin typeface="Calibri"/>
                <a:cs typeface="Calibri"/>
              </a:rPr>
              <a:t>voice </a:t>
            </a:r>
            <a:r>
              <a:rPr sz="2700" spc="-10" dirty="0">
                <a:solidFill>
                  <a:srgbClr val="282828"/>
                </a:solidFill>
                <a:latin typeface="Calibri"/>
                <a:cs typeface="Calibri"/>
              </a:rPr>
              <a:t>feedback.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2700">
              <a:latin typeface="Calibri"/>
              <a:cs typeface="Calibri"/>
            </a:endParaRPr>
          </a:p>
          <a:p>
            <a:pPr marL="654685">
              <a:lnSpc>
                <a:spcPct val="100000"/>
              </a:lnSpc>
            </a:pPr>
            <a:r>
              <a:rPr sz="2700" spc="50" dirty="0">
                <a:solidFill>
                  <a:srgbClr val="3B3B3B"/>
                </a:solidFill>
                <a:latin typeface="Calibri"/>
                <a:cs typeface="Calibri"/>
              </a:rPr>
              <a:t>Multilingual</a:t>
            </a:r>
            <a:r>
              <a:rPr sz="2700" spc="20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700" spc="155" dirty="0">
                <a:solidFill>
                  <a:srgbClr val="2A2A2A"/>
                </a:solidFill>
                <a:latin typeface="Calibri"/>
                <a:cs typeface="Calibri"/>
              </a:rPr>
              <a:t>Accessibility:</a:t>
            </a:r>
            <a:r>
              <a:rPr sz="2700" spc="-14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B2B2B"/>
                </a:solidFill>
                <a:latin typeface="Calibri"/>
                <a:cs typeface="Calibri"/>
              </a:rPr>
              <a:t>Breaks</a:t>
            </a:r>
            <a:r>
              <a:rPr sz="2700" spc="17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82828"/>
                </a:solidFill>
                <a:latin typeface="Calibri"/>
                <a:cs typeface="Calibri"/>
              </a:rPr>
              <a:t>the</a:t>
            </a:r>
            <a:r>
              <a:rPr sz="2700" spc="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B2B2B"/>
                </a:solidFill>
                <a:latin typeface="Calibri"/>
                <a:cs typeface="Calibri"/>
              </a:rPr>
              <a:t>language</a:t>
            </a:r>
            <a:r>
              <a:rPr sz="2700" spc="11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383838"/>
                </a:solidFill>
                <a:latin typeface="Calibri"/>
                <a:cs typeface="Calibri"/>
              </a:rPr>
              <a:t>barrier</a:t>
            </a:r>
            <a:r>
              <a:rPr sz="2700" spc="14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700" spc="75" dirty="0">
                <a:solidFill>
                  <a:srgbClr val="363636"/>
                </a:solidFill>
                <a:latin typeface="Calibri"/>
                <a:cs typeface="Calibri"/>
              </a:rPr>
              <a:t>by</a:t>
            </a:r>
            <a:r>
              <a:rPr sz="2700" spc="6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F2F2F"/>
                </a:solidFill>
                <a:latin typeface="Calibri"/>
                <a:cs typeface="Calibri"/>
              </a:rPr>
              <a:t>providing</a:t>
            </a:r>
            <a:r>
              <a:rPr sz="2700" spc="16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700" spc="85" dirty="0">
                <a:solidFill>
                  <a:srgbClr val="313131"/>
                </a:solidFill>
                <a:latin typeface="Calibri"/>
                <a:cs typeface="Calibri"/>
              </a:rPr>
              <a:t>advice</a:t>
            </a:r>
            <a:r>
              <a:rPr sz="2700" spc="10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3B3B3B"/>
                </a:solidFill>
                <a:latin typeface="Calibri"/>
                <a:cs typeface="Calibri"/>
              </a:rPr>
              <a:t>in</a:t>
            </a:r>
            <a:r>
              <a:rPr sz="2700" spc="-16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D2D2D"/>
                </a:solidFill>
                <a:latin typeface="Calibri"/>
                <a:cs typeface="Calibri"/>
              </a:rPr>
              <a:t>7+</a:t>
            </a:r>
            <a:r>
              <a:rPr sz="2700" spc="7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313131"/>
                </a:solidFill>
                <a:latin typeface="Calibri"/>
                <a:cs typeface="Calibri"/>
              </a:rPr>
              <a:t>Indian</a:t>
            </a:r>
            <a:r>
              <a:rPr sz="2700" spc="-2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F2F2F"/>
                </a:solidFill>
                <a:latin typeface="Calibri"/>
                <a:cs typeface="Calibri"/>
              </a:rPr>
              <a:t>regional</a:t>
            </a:r>
            <a:r>
              <a:rPr sz="2700" spc="8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2D2D2D"/>
                </a:solidFill>
                <a:latin typeface="Calibri"/>
                <a:cs typeface="Calibri"/>
              </a:rPr>
              <a:t>languages.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2700">
              <a:latin typeface="Calibri"/>
              <a:cs typeface="Calibri"/>
            </a:endParaRPr>
          </a:p>
          <a:p>
            <a:pPr marL="12700" indent="659130">
              <a:lnSpc>
                <a:spcPct val="100000"/>
              </a:lnSpc>
            </a:pPr>
            <a:r>
              <a:rPr sz="2700" spc="100" dirty="0">
                <a:solidFill>
                  <a:srgbClr val="313131"/>
                </a:solidFill>
                <a:latin typeface="Calibri"/>
                <a:cs typeface="Calibri"/>
              </a:rPr>
              <a:t>Scientific</a:t>
            </a:r>
            <a:r>
              <a:rPr sz="2700" spc="17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700" spc="90" dirty="0">
                <a:solidFill>
                  <a:srgbClr val="2D2D2D"/>
                </a:solidFill>
                <a:latin typeface="Calibri"/>
                <a:cs typeface="Calibri"/>
              </a:rPr>
              <a:t>Precision:</a:t>
            </a:r>
            <a:r>
              <a:rPr sz="2700" spc="-6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343434"/>
                </a:solidFill>
                <a:latin typeface="Calibri"/>
                <a:cs typeface="Calibri"/>
              </a:rPr>
              <a:t>Moves</a:t>
            </a:r>
            <a:r>
              <a:rPr sz="2700" spc="11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333333"/>
                </a:solidFill>
                <a:latin typeface="Calibri"/>
                <a:cs typeface="Calibri"/>
              </a:rPr>
              <a:t>farming</a:t>
            </a:r>
            <a:r>
              <a:rPr sz="2700" spc="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383838"/>
                </a:solidFill>
                <a:latin typeface="Calibri"/>
                <a:cs typeface="Calibri"/>
              </a:rPr>
              <a:t>from</a:t>
            </a:r>
            <a:r>
              <a:rPr sz="2700" spc="-12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700" spc="-15" dirty="0">
                <a:solidFill>
                  <a:srgbClr val="343434"/>
                </a:solidFill>
                <a:latin typeface="Calibri"/>
                <a:cs typeface="Calibri"/>
              </a:rPr>
              <a:t>"Guesswork"</a:t>
            </a:r>
            <a:r>
              <a:rPr sz="2700" spc="22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363636"/>
                </a:solidFill>
                <a:latin typeface="Calibri"/>
                <a:cs typeface="Calibri"/>
              </a:rPr>
              <a:t>to</a:t>
            </a:r>
            <a:r>
              <a:rPr sz="2700" spc="-12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700" spc="-40" dirty="0">
                <a:solidFill>
                  <a:srgbClr val="282828"/>
                </a:solidFill>
                <a:latin typeface="Calibri"/>
                <a:cs typeface="Calibri"/>
              </a:rPr>
              <a:t>"Evidence—</a:t>
            </a:r>
            <a:r>
              <a:rPr sz="2700" spc="-10" dirty="0">
                <a:solidFill>
                  <a:srgbClr val="282828"/>
                </a:solidFill>
                <a:latin typeface="Calibri"/>
                <a:cs typeface="Calibri"/>
              </a:rPr>
              <a:t>based"</a:t>
            </a:r>
            <a:r>
              <a:rPr sz="2700" spc="-4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313131"/>
                </a:solidFill>
                <a:latin typeface="Calibri"/>
                <a:cs typeface="Calibri"/>
              </a:rPr>
              <a:t>through</a:t>
            </a:r>
            <a:r>
              <a:rPr sz="2700" spc="6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700" spc="-70" dirty="0">
                <a:solidFill>
                  <a:srgbClr val="2F2F2F"/>
                </a:solidFill>
                <a:latin typeface="Calibri"/>
                <a:cs typeface="Calibri"/>
              </a:rPr>
              <a:t>data—</a:t>
            </a:r>
            <a:r>
              <a:rPr sz="2700" spc="-10" dirty="0">
                <a:solidFill>
                  <a:srgbClr val="2F2F2F"/>
                </a:solidFill>
                <a:latin typeface="Calibri"/>
                <a:cs typeface="Calibri"/>
              </a:rPr>
              <a:t>driven</a:t>
            </a:r>
            <a:r>
              <a:rPr sz="2700" spc="6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A2A2A"/>
                </a:solidFill>
                <a:latin typeface="Calibri"/>
                <a:cs typeface="Calibri"/>
              </a:rPr>
              <a:t>fertilizer</a:t>
            </a:r>
            <a:r>
              <a:rPr sz="2700" spc="4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2D2D2D"/>
                </a:solidFill>
                <a:latin typeface="Calibri"/>
                <a:cs typeface="Calibri"/>
              </a:rPr>
              <a:t>management.</a:t>
            </a:r>
            <a:endParaRPr sz="2700">
              <a:latin typeface="Calibri"/>
              <a:cs typeface="Calibri"/>
            </a:endParaRPr>
          </a:p>
          <a:p>
            <a:pPr marL="666750" marR="5080" indent="-654685">
              <a:lnSpc>
                <a:spcPct val="129299"/>
              </a:lnSpc>
              <a:spcBef>
                <a:spcPts val="3065"/>
              </a:spcBef>
              <a:tabLst>
                <a:tab pos="663575" algn="l"/>
              </a:tabLst>
            </a:pPr>
            <a:r>
              <a:rPr sz="2550" spc="-50" dirty="0">
                <a:solidFill>
                  <a:srgbClr val="2A7E31"/>
                </a:solidFill>
                <a:latin typeface="Calibri"/>
                <a:cs typeface="Calibri"/>
              </a:rPr>
              <a:t>@</a:t>
            </a:r>
            <a:r>
              <a:rPr sz="2550" dirty="0">
                <a:solidFill>
                  <a:srgbClr val="2A7E31"/>
                </a:solidFill>
                <a:latin typeface="Calibri"/>
                <a:cs typeface="Calibri"/>
              </a:rPr>
              <a:t>	</a:t>
            </a:r>
            <a:r>
              <a:rPr sz="2550" spc="215" dirty="0">
                <a:solidFill>
                  <a:srgbClr val="2A2A2A"/>
                </a:solidFill>
                <a:latin typeface="Calibri"/>
                <a:cs typeface="Calibri"/>
              </a:rPr>
              <a:t>Real-</a:t>
            </a:r>
            <a:r>
              <a:rPr sz="2550" spc="245" dirty="0">
                <a:solidFill>
                  <a:srgbClr val="2A2A2A"/>
                </a:solidFill>
                <a:latin typeface="Calibri"/>
                <a:cs typeface="Calibri"/>
              </a:rPr>
              <a:t>time</a:t>
            </a:r>
            <a:r>
              <a:rPr sz="2550" spc="19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550" spc="170" dirty="0">
                <a:solidFill>
                  <a:srgbClr val="2B2B2B"/>
                </a:solidFill>
                <a:latin typeface="Calibri"/>
                <a:cs typeface="Calibri"/>
              </a:rPr>
              <a:t>Scalability:</a:t>
            </a:r>
            <a:r>
              <a:rPr sz="2550" spc="12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242424"/>
                </a:solidFill>
                <a:latin typeface="Calibri"/>
                <a:cs typeface="Calibri"/>
              </a:rPr>
              <a:t>Cloud—based</a:t>
            </a:r>
            <a:r>
              <a:rPr sz="2550" spc="46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550" spc="90" dirty="0">
                <a:solidFill>
                  <a:srgbClr val="2A2A2A"/>
                </a:solidFill>
                <a:latin typeface="Calibri"/>
                <a:cs typeface="Calibri"/>
              </a:rPr>
              <a:t>architecture</a:t>
            </a:r>
            <a:r>
              <a:rPr sz="2550" spc="27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343434"/>
                </a:solidFill>
                <a:latin typeface="Calibri"/>
                <a:cs typeface="Calibri"/>
              </a:rPr>
              <a:t>allows</a:t>
            </a:r>
            <a:r>
              <a:rPr sz="2550" spc="29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550" spc="110" dirty="0">
                <a:solidFill>
                  <a:srgbClr val="2F2F2F"/>
                </a:solidFill>
                <a:latin typeface="Calibri"/>
                <a:cs typeface="Calibri"/>
              </a:rPr>
              <a:t>the</a:t>
            </a:r>
            <a:r>
              <a:rPr sz="2550" spc="114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550" spc="140" dirty="0">
                <a:solidFill>
                  <a:srgbClr val="2B2B2B"/>
                </a:solidFill>
                <a:latin typeface="Calibri"/>
                <a:cs typeface="Calibri"/>
              </a:rPr>
              <a:t>system</a:t>
            </a:r>
            <a:r>
              <a:rPr sz="2550" spc="20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550" spc="105" dirty="0">
                <a:solidFill>
                  <a:srgbClr val="262626"/>
                </a:solidFill>
                <a:latin typeface="Calibri"/>
                <a:cs typeface="Calibri"/>
              </a:rPr>
              <a:t>to</a:t>
            </a:r>
            <a:r>
              <a:rPr sz="2550" spc="15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550" spc="95" dirty="0">
                <a:solidFill>
                  <a:srgbClr val="2B2B2B"/>
                </a:solidFill>
                <a:latin typeface="Calibri"/>
                <a:cs typeface="Calibri"/>
              </a:rPr>
              <a:t>serve</a:t>
            </a:r>
            <a:r>
              <a:rPr sz="2550" spc="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2A2A2A"/>
                </a:solidFill>
                <a:latin typeface="Calibri"/>
                <a:cs typeface="Calibri"/>
              </a:rPr>
              <a:t>millions</a:t>
            </a:r>
            <a:r>
              <a:rPr sz="2550" spc="25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343434"/>
                </a:solidFill>
                <a:latin typeface="Calibri"/>
                <a:cs typeface="Calibri"/>
              </a:rPr>
              <a:t>of</a:t>
            </a:r>
            <a:r>
              <a:rPr sz="2550" spc="25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550" spc="65" dirty="0">
                <a:solidFill>
                  <a:srgbClr val="2D2D2D"/>
                </a:solidFill>
                <a:latin typeface="Calibri"/>
                <a:cs typeface="Calibri"/>
              </a:rPr>
              <a:t>farmers</a:t>
            </a:r>
            <a:r>
              <a:rPr sz="2550" spc="32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550" spc="80" dirty="0">
                <a:solidFill>
                  <a:srgbClr val="262626"/>
                </a:solidFill>
                <a:latin typeface="Calibri"/>
                <a:cs typeface="Calibri"/>
              </a:rPr>
              <a:t>simultaneously</a:t>
            </a:r>
            <a:r>
              <a:rPr sz="2550" spc="114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550" spc="50" dirty="0">
                <a:solidFill>
                  <a:srgbClr val="2A2A2A"/>
                </a:solidFill>
                <a:latin typeface="Calibri"/>
                <a:cs typeface="Calibri"/>
              </a:rPr>
              <a:t>without </a:t>
            </a:r>
            <a:r>
              <a:rPr sz="2550" spc="45" dirty="0">
                <a:solidFill>
                  <a:srgbClr val="2B2B2B"/>
                </a:solidFill>
                <a:latin typeface="Calibri"/>
                <a:cs typeface="Calibri"/>
              </a:rPr>
              <a:t>latency.</a:t>
            </a:r>
            <a:endParaRPr sz="2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673" y="1947584"/>
            <a:ext cx="18313578" cy="7853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19544" y="803374"/>
            <a:ext cx="5525135" cy="987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b="0" spc="60" dirty="0">
                <a:solidFill>
                  <a:srgbClr val="215B1F"/>
                </a:solidFill>
                <a:latin typeface="Cambria"/>
                <a:cs typeface="Cambria"/>
              </a:rPr>
              <a:t>The</a:t>
            </a:r>
            <a:r>
              <a:rPr b="0" spc="-350" dirty="0">
                <a:solidFill>
                  <a:srgbClr val="215B1F"/>
                </a:solidFill>
                <a:latin typeface="Cambria"/>
                <a:cs typeface="Cambria"/>
              </a:rPr>
              <a:t> </a:t>
            </a:r>
            <a:r>
              <a:rPr b="0" dirty="0">
                <a:solidFill>
                  <a:srgbClr val="215B21"/>
                </a:solidFill>
                <a:latin typeface="Cambria"/>
                <a:cs typeface="Cambria"/>
              </a:rPr>
              <a:t>Road</a:t>
            </a:r>
            <a:r>
              <a:rPr b="0" spc="-195" dirty="0">
                <a:solidFill>
                  <a:srgbClr val="215B21"/>
                </a:solidFill>
                <a:latin typeface="Cambria"/>
                <a:cs typeface="Cambria"/>
              </a:rPr>
              <a:t> </a:t>
            </a:r>
            <a:r>
              <a:rPr b="0" spc="-55" dirty="0">
                <a:solidFill>
                  <a:srgbClr val="265E21"/>
                </a:solidFill>
                <a:latin typeface="Cambria"/>
                <a:cs typeface="Cambria"/>
              </a:rPr>
              <a:t>Ahead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7668" y="3546746"/>
            <a:ext cx="8007350" cy="2357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4165" indent="-291465">
              <a:lnSpc>
                <a:spcPct val="100000"/>
              </a:lnSpc>
              <a:spcBef>
                <a:spcPts val="105"/>
              </a:spcBef>
              <a:buClr>
                <a:srgbClr val="216228"/>
              </a:buClr>
              <a:buAutoNum type="arabicPeriod"/>
              <a:tabLst>
                <a:tab pos="304165" algn="l"/>
              </a:tabLst>
            </a:pPr>
            <a:r>
              <a:rPr sz="2700" spc="-50" dirty="0">
                <a:solidFill>
                  <a:srgbClr val="1F6034"/>
                </a:solidFill>
                <a:latin typeface="Cambria"/>
                <a:cs typeface="Cambria"/>
              </a:rPr>
              <a:t>IoT</a:t>
            </a:r>
            <a:r>
              <a:rPr sz="2700" spc="-185" dirty="0">
                <a:solidFill>
                  <a:srgbClr val="1F6034"/>
                </a:solidFill>
                <a:latin typeface="Cambria"/>
                <a:cs typeface="Cambria"/>
              </a:rPr>
              <a:t> </a:t>
            </a:r>
            <a:r>
              <a:rPr sz="2700" dirty="0">
                <a:solidFill>
                  <a:srgbClr val="186423"/>
                </a:solidFill>
                <a:latin typeface="Cambria"/>
                <a:cs typeface="Cambria"/>
              </a:rPr>
              <a:t>Edge</a:t>
            </a:r>
            <a:r>
              <a:rPr sz="2700" spc="-114" dirty="0">
                <a:solidFill>
                  <a:srgbClr val="186423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1C642B"/>
                </a:solidFill>
                <a:latin typeface="Cambria"/>
                <a:cs typeface="Cambria"/>
              </a:rPr>
              <a:t>Integration</a:t>
            </a:r>
            <a:endParaRPr sz="2700">
              <a:latin typeface="Cambria"/>
              <a:cs typeface="Cambria"/>
            </a:endParaRPr>
          </a:p>
          <a:p>
            <a:pPr marL="33655" marR="5080" indent="-6350">
              <a:lnSpc>
                <a:spcPct val="119600"/>
              </a:lnSpc>
              <a:spcBef>
                <a:spcPts val="1935"/>
              </a:spcBef>
            </a:pPr>
            <a:r>
              <a:rPr sz="2800" dirty="0">
                <a:solidFill>
                  <a:srgbClr val="2F2F2F"/>
                </a:solidFill>
                <a:latin typeface="Calibri"/>
                <a:cs typeface="Calibri"/>
              </a:rPr>
              <a:t>Direct</a:t>
            </a:r>
            <a:r>
              <a:rPr sz="2800" spc="-2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2B2B2B"/>
                </a:solidFill>
                <a:latin typeface="Calibri"/>
                <a:cs typeface="Calibri"/>
              </a:rPr>
              <a:t>deployment</a:t>
            </a:r>
            <a:r>
              <a:rPr sz="2800" spc="25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13131"/>
                </a:solidFill>
                <a:latin typeface="Calibri"/>
                <a:cs typeface="Calibri"/>
              </a:rPr>
              <a:t>of</a:t>
            </a:r>
            <a:r>
              <a:rPr sz="2800" spc="4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soil</a:t>
            </a:r>
            <a:r>
              <a:rPr sz="2800" spc="-15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sensors</a:t>
            </a:r>
            <a:r>
              <a:rPr sz="2800" spc="-1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63636"/>
                </a:solidFill>
                <a:latin typeface="Calibri"/>
                <a:cs typeface="Calibri"/>
              </a:rPr>
              <a:t>(NPK,</a:t>
            </a:r>
            <a:r>
              <a:rPr sz="2800" spc="-7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spc="65" dirty="0">
                <a:solidFill>
                  <a:srgbClr val="343434"/>
                </a:solidFill>
                <a:latin typeface="Calibri"/>
                <a:cs typeface="Calibri"/>
              </a:rPr>
              <a:t>pH)</a:t>
            </a:r>
            <a:r>
              <a:rPr sz="2800" spc="-16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63636"/>
                </a:solidFill>
                <a:latin typeface="Calibri"/>
                <a:cs typeface="Calibri"/>
              </a:rPr>
              <a:t>in</a:t>
            </a:r>
            <a:r>
              <a:rPr sz="2800" spc="-16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fields</a:t>
            </a:r>
            <a:r>
              <a:rPr sz="2800" spc="3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43434"/>
                </a:solidFill>
                <a:latin typeface="Calibri"/>
                <a:cs typeface="Calibri"/>
              </a:rPr>
              <a:t>for 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automated</a:t>
            </a:r>
            <a:r>
              <a:rPr sz="2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50" dirty="0">
                <a:solidFill>
                  <a:srgbClr val="383838"/>
                </a:solidFill>
                <a:latin typeface="Calibri"/>
                <a:cs typeface="Calibri"/>
              </a:rPr>
              <a:t>data</a:t>
            </a:r>
            <a:r>
              <a:rPr sz="2800" spc="-15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13131"/>
                </a:solidFill>
                <a:latin typeface="Calibri"/>
                <a:cs typeface="Calibri"/>
              </a:rPr>
              <a:t>logging</a:t>
            </a:r>
            <a:r>
              <a:rPr sz="2800" spc="-5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262626"/>
                </a:solidFill>
                <a:latin typeface="Calibri"/>
                <a:cs typeface="Calibri"/>
              </a:rPr>
              <a:t>without</a:t>
            </a:r>
            <a:r>
              <a:rPr sz="2800" spc="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800" spc="-45" dirty="0">
                <a:solidFill>
                  <a:srgbClr val="242424"/>
                </a:solidFill>
                <a:latin typeface="Calibri"/>
                <a:cs typeface="Calibri"/>
              </a:rPr>
              <a:t>manual</a:t>
            </a:r>
            <a:r>
              <a:rPr sz="2800" spc="-11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D2D2D"/>
                </a:solidFill>
                <a:latin typeface="Calibri"/>
                <a:cs typeface="Calibri"/>
              </a:rPr>
              <a:t>entry.</a:t>
            </a:r>
            <a:endParaRPr sz="2800">
              <a:latin typeface="Calibri"/>
              <a:cs typeface="Calibri"/>
            </a:endParaRPr>
          </a:p>
          <a:p>
            <a:pPr marL="349250" indent="-314960">
              <a:lnSpc>
                <a:spcPct val="100000"/>
              </a:lnSpc>
              <a:spcBef>
                <a:spcPts val="1775"/>
              </a:spcBef>
              <a:buClr>
                <a:srgbClr val="13602D"/>
              </a:buClr>
              <a:buAutoNum type="arabicPeriod" startAt="2"/>
              <a:tabLst>
                <a:tab pos="349250" algn="l"/>
              </a:tabLst>
            </a:pPr>
            <a:r>
              <a:rPr sz="2800" spc="-20" dirty="0">
                <a:solidFill>
                  <a:srgbClr val="1A561C"/>
                </a:solidFill>
                <a:latin typeface="Times New Roman"/>
                <a:cs typeface="Times New Roman"/>
              </a:rPr>
              <a:t>Blockchain</a:t>
            </a:r>
            <a:r>
              <a:rPr sz="2800" spc="-25" dirty="0">
                <a:solidFill>
                  <a:srgbClr val="1A561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135B28"/>
                </a:solidFill>
                <a:latin typeface="Times New Roman"/>
                <a:cs typeface="Times New Roman"/>
              </a:rPr>
              <a:t>for</a:t>
            </a:r>
            <a:r>
              <a:rPr sz="2800" spc="-175" dirty="0">
                <a:solidFill>
                  <a:srgbClr val="135B28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F5B28"/>
                </a:solidFill>
                <a:latin typeface="Times New Roman"/>
                <a:cs typeface="Times New Roman"/>
              </a:rPr>
              <a:t>Traceability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3374" y="6137636"/>
            <a:ext cx="8418195" cy="1687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845" marR="5080" indent="-15875">
              <a:lnSpc>
                <a:spcPct val="117800"/>
              </a:lnSpc>
              <a:spcBef>
                <a:spcPts val="90"/>
              </a:spcBef>
            </a:pPr>
            <a:r>
              <a:rPr sz="2800" dirty="0">
                <a:solidFill>
                  <a:srgbClr val="2F2F2F"/>
                </a:solidFill>
                <a:latin typeface="Calibri"/>
                <a:cs typeface="Calibri"/>
              </a:rPr>
              <a:t>Using</a:t>
            </a:r>
            <a:r>
              <a:rPr sz="2800" spc="9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2A2A2A"/>
                </a:solidFill>
                <a:latin typeface="Calibri"/>
                <a:cs typeface="Calibri"/>
              </a:rPr>
              <a:t>Distributed</a:t>
            </a:r>
            <a:r>
              <a:rPr sz="2800" i="1" spc="13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2F2F2F"/>
                </a:solidFill>
                <a:latin typeface="Calibri"/>
                <a:cs typeface="Calibri"/>
              </a:rPr>
              <a:t>Ledger</a:t>
            </a:r>
            <a:r>
              <a:rPr sz="2800" i="1" spc="20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i="1" spc="-45" dirty="0">
                <a:solidFill>
                  <a:srgbClr val="262626"/>
                </a:solidFill>
                <a:latin typeface="Calibri"/>
                <a:cs typeface="Calibri"/>
              </a:rPr>
              <a:t>Technology</a:t>
            </a:r>
            <a:r>
              <a:rPr sz="2800" i="1" spc="4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sz="2800" spc="6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A2A2A"/>
                </a:solidFill>
                <a:latin typeface="Calibri"/>
                <a:cs typeface="Calibri"/>
              </a:rPr>
              <a:t>track</a:t>
            </a:r>
            <a:r>
              <a:rPr sz="2800" spc="14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F2F2F"/>
                </a:solidFill>
                <a:latin typeface="Calibri"/>
                <a:cs typeface="Calibri"/>
              </a:rPr>
              <a:t>crop</a:t>
            </a:r>
            <a:r>
              <a:rPr sz="2800" spc="16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2D2D2D"/>
                </a:solidFill>
                <a:latin typeface="Calibri"/>
                <a:cs typeface="Calibri"/>
              </a:rPr>
              <a:t>journey </a:t>
            </a:r>
            <a:r>
              <a:rPr sz="2800" dirty="0">
                <a:solidFill>
                  <a:srgbClr val="2B2B2B"/>
                </a:solidFill>
                <a:latin typeface="Calibri"/>
                <a:cs typeface="Calibri"/>
              </a:rPr>
              <a:t>from</a:t>
            </a:r>
            <a:r>
              <a:rPr sz="2800" spc="-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42424"/>
                </a:solidFill>
                <a:latin typeface="Calibri"/>
                <a:cs typeface="Calibri"/>
              </a:rPr>
              <a:t>seed</a:t>
            </a:r>
            <a:r>
              <a:rPr sz="2800" spc="-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to</a:t>
            </a:r>
            <a:r>
              <a:rPr sz="2800" spc="-4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2B2B2B"/>
                </a:solidFill>
                <a:latin typeface="Calibri"/>
                <a:cs typeface="Calibri"/>
              </a:rPr>
              <a:t>table,</a:t>
            </a:r>
            <a:r>
              <a:rPr sz="2800" spc="-9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62626"/>
                </a:solidFill>
                <a:latin typeface="Calibri"/>
                <a:cs typeface="Calibri"/>
              </a:rPr>
              <a:t>increasing</a:t>
            </a:r>
            <a:r>
              <a:rPr sz="2800" spc="3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13131"/>
                </a:solidFill>
                <a:latin typeface="Calibri"/>
                <a:cs typeface="Calibri"/>
              </a:rPr>
              <a:t>trust</a:t>
            </a:r>
            <a:r>
              <a:rPr sz="2800" spc="5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sz="2800" spc="-6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A2A2A"/>
                </a:solidFill>
                <a:latin typeface="Calibri"/>
                <a:cs typeface="Calibri"/>
              </a:rPr>
              <a:t>export</a:t>
            </a:r>
            <a:r>
              <a:rPr sz="2800" spc="12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242424"/>
                </a:solidFill>
                <a:latin typeface="Calibri"/>
                <a:cs typeface="Calibri"/>
              </a:rPr>
              <a:t>value.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35"/>
              </a:spcBef>
            </a:pPr>
            <a:r>
              <a:rPr sz="2700" dirty="0">
                <a:solidFill>
                  <a:srgbClr val="165626"/>
                </a:solidFill>
                <a:latin typeface="Cambria"/>
                <a:cs typeface="Cambria"/>
              </a:rPr>
              <a:t>3.</a:t>
            </a:r>
            <a:r>
              <a:rPr sz="2700" spc="-160" dirty="0">
                <a:solidFill>
                  <a:srgbClr val="165626"/>
                </a:solidFill>
                <a:latin typeface="Cambria"/>
                <a:cs typeface="Cambria"/>
              </a:rPr>
              <a:t> </a:t>
            </a:r>
            <a:r>
              <a:rPr sz="2700" spc="-25" dirty="0">
                <a:solidFill>
                  <a:srgbClr val="215B34"/>
                </a:solidFill>
                <a:latin typeface="Cambria"/>
                <a:cs typeface="Cambria"/>
              </a:rPr>
              <a:t>Advanced</a:t>
            </a:r>
            <a:r>
              <a:rPr sz="2700" spc="-30" dirty="0">
                <a:solidFill>
                  <a:srgbClr val="215B34"/>
                </a:solidFill>
                <a:latin typeface="Cambria"/>
                <a:cs typeface="Cambria"/>
              </a:rPr>
              <a:t> </a:t>
            </a:r>
            <a:r>
              <a:rPr sz="2700" spc="-25" dirty="0">
                <a:solidFill>
                  <a:srgbClr val="1A6426"/>
                </a:solidFill>
                <a:latin typeface="Cambria"/>
                <a:cs typeface="Cambria"/>
              </a:rPr>
              <a:t>Predictive</a:t>
            </a:r>
            <a:r>
              <a:rPr sz="2700" spc="-105" dirty="0">
                <a:solidFill>
                  <a:srgbClr val="1A6426"/>
                </a:solidFill>
                <a:latin typeface="Cambria"/>
                <a:cs typeface="Cambria"/>
              </a:rPr>
              <a:t> </a:t>
            </a:r>
            <a:r>
              <a:rPr sz="2700" spc="-10" dirty="0">
                <a:solidFill>
                  <a:srgbClr val="1C642A"/>
                </a:solidFill>
                <a:latin typeface="Cambria"/>
                <a:cs typeface="Cambria"/>
              </a:rPr>
              <a:t>Modeling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3010" y="8053808"/>
            <a:ext cx="8492490" cy="1030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050" marR="5080" indent="-6985">
              <a:lnSpc>
                <a:spcPct val="117800"/>
              </a:lnSpc>
              <a:spcBef>
                <a:spcPts val="90"/>
              </a:spcBef>
            </a:pPr>
            <a:r>
              <a:rPr sz="2800" dirty="0">
                <a:solidFill>
                  <a:srgbClr val="2D2D2D"/>
                </a:solidFill>
                <a:latin typeface="Calibri"/>
                <a:cs typeface="Calibri"/>
              </a:rPr>
              <a:t>Deep</a:t>
            </a:r>
            <a:r>
              <a:rPr sz="2800" spc="7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313131"/>
                </a:solidFill>
                <a:latin typeface="Calibri"/>
                <a:cs typeface="Calibri"/>
              </a:rPr>
              <a:t>learning</a:t>
            </a:r>
            <a:r>
              <a:rPr sz="2800" spc="4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F2F2F"/>
                </a:solidFill>
                <a:latin typeface="Calibri"/>
                <a:cs typeface="Calibri"/>
              </a:rPr>
              <a:t>for</a:t>
            </a:r>
            <a:r>
              <a:rPr sz="2800" spc="-7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800" spc="-204" dirty="0">
                <a:solidFill>
                  <a:srgbClr val="2D2D2D"/>
                </a:solidFill>
                <a:latin typeface="Calibri"/>
                <a:cs typeface="Calibri"/>
              </a:rPr>
              <a:t>long—</a:t>
            </a:r>
            <a:r>
              <a:rPr sz="2800" spc="-125" dirty="0">
                <a:solidFill>
                  <a:srgbClr val="2D2D2D"/>
                </a:solidFill>
                <a:latin typeface="Calibri"/>
                <a:cs typeface="Calibri"/>
              </a:rPr>
              <a:t>term</a:t>
            </a:r>
            <a:r>
              <a:rPr sz="2800" spc="14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climate</a:t>
            </a:r>
            <a:r>
              <a:rPr sz="2800" spc="-2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impact</a:t>
            </a:r>
            <a:r>
              <a:rPr sz="2800" spc="6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D2D2D"/>
                </a:solidFill>
                <a:latin typeface="Calibri"/>
                <a:cs typeface="Calibri"/>
              </a:rPr>
              <a:t>prediction</a:t>
            </a:r>
            <a:r>
              <a:rPr sz="2800" spc="1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A3A3A"/>
                </a:solidFill>
                <a:latin typeface="Calibri"/>
                <a:cs typeface="Calibri"/>
              </a:rPr>
              <a:t>and 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carbon</a:t>
            </a:r>
            <a:r>
              <a:rPr sz="2800" spc="-9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B2B2B"/>
                </a:solidFill>
                <a:latin typeface="Calibri"/>
                <a:cs typeface="Calibri"/>
              </a:rPr>
              <a:t>credit</a:t>
            </a:r>
            <a:r>
              <a:rPr sz="2800" spc="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B2B2B"/>
                </a:solidFill>
                <a:latin typeface="Calibri"/>
                <a:cs typeface="Calibri"/>
              </a:rPr>
              <a:t>calculations</a:t>
            </a:r>
            <a:r>
              <a:rPr sz="2800" spc="14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83838"/>
                </a:solidFill>
                <a:latin typeface="Calibri"/>
                <a:cs typeface="Calibri"/>
              </a:rPr>
              <a:t>for</a:t>
            </a:r>
            <a:r>
              <a:rPr sz="2800" spc="-8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43434"/>
                </a:solidFill>
                <a:latin typeface="Calibri"/>
                <a:cs typeface="Calibri"/>
              </a:rPr>
              <a:t>sustainable</a:t>
            </a:r>
            <a:r>
              <a:rPr sz="2800" spc="5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13131"/>
                </a:solidFill>
                <a:latin typeface="Calibri"/>
                <a:cs typeface="Calibri"/>
              </a:rPr>
              <a:t>farming.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54192" y="6297971"/>
            <a:ext cx="260604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dirty="0">
                <a:latin typeface="Calibri"/>
                <a:cs typeface="Calibri"/>
              </a:rPr>
              <a:t>Blockchain</a:t>
            </a:r>
            <a:r>
              <a:rPr sz="2200" spc="1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Agriculture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 flipV="1">
            <a:off x="15706" y="2822449"/>
            <a:ext cx="20088860" cy="317625"/>
          </a:xfrm>
          <a:custGeom>
            <a:avLst/>
            <a:gdLst/>
            <a:ahLst/>
            <a:cxnLst/>
            <a:rect l="l" t="t" r="r" b="b"/>
            <a:pathLst>
              <a:path w="20088860" h="125729">
                <a:moveTo>
                  <a:pt x="0" y="0"/>
                </a:moveTo>
                <a:lnTo>
                  <a:pt x="20088394" y="0"/>
                </a:lnTo>
                <a:lnTo>
                  <a:pt x="20088394" y="125650"/>
                </a:lnTo>
                <a:lnTo>
                  <a:pt x="0" y="125650"/>
                </a:lnTo>
                <a:lnTo>
                  <a:pt x="0" y="0"/>
                </a:lnTo>
                <a:close/>
              </a:path>
            </a:pathLst>
          </a:custGeom>
          <a:solidFill>
            <a:srgbClr val="1C5D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573628" y="1051876"/>
            <a:ext cx="6879590" cy="1583311"/>
          </a:xfrm>
          <a:custGeom>
            <a:avLst/>
            <a:gdLst/>
            <a:ahLst/>
            <a:cxnLst/>
            <a:rect l="l" t="t" r="r" b="b"/>
            <a:pathLst>
              <a:path w="6879590" h="1052829">
                <a:moveTo>
                  <a:pt x="6879372" y="1052324"/>
                </a:moveTo>
                <a:lnTo>
                  <a:pt x="0" y="1052324"/>
                </a:lnTo>
                <a:lnTo>
                  <a:pt x="0" y="0"/>
                </a:lnTo>
                <a:lnTo>
                  <a:pt x="6879372" y="0"/>
                </a:lnTo>
                <a:lnTo>
                  <a:pt x="6879372" y="1052324"/>
                </a:lnTo>
                <a:close/>
              </a:path>
            </a:pathLst>
          </a:custGeom>
          <a:solidFill>
            <a:srgbClr val="1C5D1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576803" y="864613"/>
            <a:ext cx="6876415" cy="1753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300" b="0" spc="-10" dirty="0">
                <a:solidFill>
                  <a:srgbClr val="FFFFFF"/>
                </a:solidFill>
                <a:latin typeface="Cambria"/>
                <a:cs typeface="Cambria"/>
              </a:rPr>
              <a:t>Conclusion</a:t>
            </a:r>
            <a:endParaRPr sz="11300" dirty="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75050" y="3673475"/>
            <a:ext cx="12576810" cy="57499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0" marR="193040" indent="22860" algn="ctr">
              <a:lnSpc>
                <a:spcPct val="132800"/>
              </a:lnSpc>
              <a:spcBef>
                <a:spcPts val="95"/>
              </a:spcBef>
            </a:pPr>
            <a:r>
              <a:rPr sz="4000" spc="15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Smart</a:t>
            </a:r>
            <a:r>
              <a:rPr sz="4000" spc="254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22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Crop</a:t>
            </a:r>
            <a:r>
              <a:rPr sz="4000" spc="26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16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Advisory</a:t>
            </a:r>
            <a:r>
              <a:rPr sz="4000" spc="37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19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Systems</a:t>
            </a:r>
            <a:r>
              <a:rPr sz="4000" spc="32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12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are</a:t>
            </a:r>
            <a:r>
              <a:rPr sz="4000" spc="20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114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not</a:t>
            </a:r>
            <a:r>
              <a:rPr sz="4000" spc="15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9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just</a:t>
            </a:r>
            <a:r>
              <a:rPr sz="4000" spc="30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14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technology</a:t>
            </a:r>
            <a:r>
              <a:rPr sz="4000" spc="47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7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tools;</a:t>
            </a:r>
            <a:r>
              <a:rPr sz="4000" spc="16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15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they</a:t>
            </a:r>
            <a:r>
              <a:rPr sz="4000" spc="24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10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are </a:t>
            </a:r>
            <a:r>
              <a:rPr sz="4000" spc="14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instruments</a:t>
            </a:r>
            <a:r>
              <a:rPr sz="4000" spc="40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of</a:t>
            </a:r>
            <a:r>
              <a:rPr sz="4000" spc="35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14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socio—economic</a:t>
            </a:r>
            <a:r>
              <a:rPr sz="4000" spc="20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16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change.</a:t>
            </a:r>
            <a:r>
              <a:rPr sz="4000" spc="17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18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By</a:t>
            </a:r>
            <a:r>
              <a:rPr sz="4000" spc="12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14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providing</a:t>
            </a:r>
            <a:r>
              <a:rPr sz="4000" spc="24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11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marginal</a:t>
            </a:r>
            <a:r>
              <a:rPr sz="4000" spc="27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114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farmers</a:t>
            </a:r>
            <a:endParaRPr sz="4000" dirty="0">
              <a:solidFill>
                <a:schemeClr val="accent3">
                  <a:lumMod val="50000"/>
                </a:schemeClr>
              </a:solidFill>
              <a:latin typeface="Calibri"/>
              <a:cs typeface="Calibri"/>
            </a:endParaRPr>
          </a:p>
          <a:p>
            <a:pPr marL="12700" marR="5080" algn="ctr">
              <a:lnSpc>
                <a:spcPct val="135800"/>
              </a:lnSpc>
              <a:spcBef>
                <a:spcPts val="229"/>
              </a:spcBef>
            </a:pPr>
            <a:r>
              <a:rPr sz="4000" spc="14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with</a:t>
            </a:r>
            <a:r>
              <a:rPr sz="4000" spc="36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14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the</a:t>
            </a:r>
            <a:r>
              <a:rPr sz="4000" spc="38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28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same</a:t>
            </a:r>
            <a:r>
              <a:rPr sz="4000" spc="31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22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scientific</a:t>
            </a:r>
            <a:r>
              <a:rPr sz="4000" spc="49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20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insights</a:t>
            </a:r>
            <a:r>
              <a:rPr sz="4000" spc="409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16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available</a:t>
            </a:r>
            <a:r>
              <a:rPr sz="4000" spc="42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17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to</a:t>
            </a:r>
            <a:r>
              <a:rPr sz="4000" spc="15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18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large—</a:t>
            </a:r>
            <a:r>
              <a:rPr sz="400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scale</a:t>
            </a:r>
            <a:r>
              <a:rPr sz="4000" spc="434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16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industrial</a:t>
            </a:r>
            <a:r>
              <a:rPr sz="4000" spc="33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14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farms, </a:t>
            </a:r>
            <a:r>
              <a:rPr sz="4000" spc="10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we</a:t>
            </a:r>
            <a:r>
              <a:rPr sz="4000" spc="229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17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democratize</a:t>
            </a:r>
            <a:r>
              <a:rPr sz="4000" spc="46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18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precision</a:t>
            </a:r>
            <a:r>
              <a:rPr sz="4000" spc="28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12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agriculture</a:t>
            </a:r>
            <a:r>
              <a:rPr sz="4000" spc="434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16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and</a:t>
            </a:r>
            <a:r>
              <a:rPr sz="4000" spc="25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17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ensure</a:t>
            </a:r>
            <a:r>
              <a:rPr sz="4000" spc="29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18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a</a:t>
            </a:r>
            <a:r>
              <a:rPr sz="4000" spc="10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14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sustainable</a:t>
            </a:r>
            <a:r>
              <a:rPr sz="4000" spc="40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spc="9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future</a:t>
            </a:r>
            <a:r>
              <a:rPr sz="4000" spc="735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chemeClr val="accent3">
                    <a:lumMod val="50000"/>
                  </a:schemeClr>
                </a:solidFill>
                <a:latin typeface="Arial MT"/>
                <a:cs typeface="Arial MT"/>
              </a:rPr>
              <a:t>for</a:t>
            </a:r>
            <a:r>
              <a:rPr sz="4000" spc="204" dirty="0">
                <a:solidFill>
                  <a:schemeClr val="accent3">
                    <a:lumMod val="50000"/>
                  </a:schemeClr>
                </a:solidFill>
                <a:latin typeface="Arial MT"/>
                <a:cs typeface="Arial MT"/>
              </a:rPr>
              <a:t> </a:t>
            </a:r>
            <a:r>
              <a:rPr sz="4000" spc="65" dirty="0">
                <a:solidFill>
                  <a:schemeClr val="accent3">
                    <a:lumMod val="50000"/>
                  </a:schemeClr>
                </a:solidFill>
                <a:latin typeface="Arial MT"/>
                <a:cs typeface="Arial MT"/>
              </a:rPr>
              <a:t>the</a:t>
            </a:r>
            <a:r>
              <a:rPr sz="4000" spc="135" dirty="0">
                <a:solidFill>
                  <a:schemeClr val="accent3">
                    <a:lumMod val="50000"/>
                  </a:schemeClr>
                </a:solidFill>
                <a:latin typeface="Arial MT"/>
                <a:cs typeface="Arial MT"/>
              </a:rPr>
              <a:t> </a:t>
            </a:r>
            <a:r>
              <a:rPr sz="4000" spc="55" dirty="0">
                <a:solidFill>
                  <a:schemeClr val="accent3">
                    <a:lumMod val="50000"/>
                  </a:schemeClr>
                </a:solidFill>
                <a:latin typeface="Arial MT"/>
                <a:cs typeface="Arial MT"/>
              </a:rPr>
              <a:t>backbone</a:t>
            </a:r>
            <a:r>
              <a:rPr sz="4000" spc="300" dirty="0">
                <a:solidFill>
                  <a:schemeClr val="accent3">
                    <a:lumMod val="50000"/>
                  </a:schemeClr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chemeClr val="accent3">
                    <a:lumMod val="50000"/>
                  </a:schemeClr>
                </a:solidFill>
                <a:latin typeface="Arial MT"/>
                <a:cs typeface="Arial MT"/>
              </a:rPr>
              <a:t>of</a:t>
            </a:r>
            <a:r>
              <a:rPr sz="4000" spc="275" dirty="0">
                <a:solidFill>
                  <a:schemeClr val="accent3">
                    <a:lumMod val="50000"/>
                  </a:schemeClr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chemeClr val="accent3">
                    <a:lumMod val="50000"/>
                  </a:schemeClr>
                </a:solidFill>
                <a:latin typeface="Arial MT"/>
                <a:cs typeface="Arial MT"/>
              </a:rPr>
              <a:t>our</a:t>
            </a:r>
            <a:r>
              <a:rPr sz="4000" spc="200" dirty="0">
                <a:solidFill>
                  <a:schemeClr val="accent3">
                    <a:lumMod val="50000"/>
                  </a:schemeClr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chemeClr val="accent3">
                    <a:lumMod val="50000"/>
                  </a:schemeClr>
                </a:solidFill>
                <a:latin typeface="Arial MT"/>
                <a:cs typeface="Arial MT"/>
              </a:rPr>
              <a:t>nation.</a:t>
            </a:r>
            <a:endParaRPr sz="4000" dirty="0">
              <a:solidFill>
                <a:schemeClr val="accent3">
                  <a:lumMod val="50000"/>
                </a:schemeClr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32450" y="4435475"/>
            <a:ext cx="8305800" cy="3380413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9600" b="0" spc="295" dirty="0">
                <a:solidFill>
                  <a:srgbClr val="1C5D1F"/>
                </a:solidFill>
                <a:latin typeface="Broadway" panose="04040905080B02020502" pitchFamily="82" charset="0"/>
                <a:cs typeface="Cambria"/>
              </a:rPr>
              <a:t>Thank</a:t>
            </a:r>
            <a:r>
              <a:rPr sz="9600" b="0" spc="280" dirty="0">
                <a:solidFill>
                  <a:srgbClr val="1C5D1F"/>
                </a:solidFill>
                <a:latin typeface="Broadway" panose="04040905080B02020502" pitchFamily="82" charset="0"/>
                <a:cs typeface="Cambria"/>
              </a:rPr>
              <a:t> </a:t>
            </a:r>
            <a:r>
              <a:rPr sz="9600" b="0" spc="-375" dirty="0">
                <a:solidFill>
                  <a:srgbClr val="1C5D21"/>
                </a:solidFill>
                <a:latin typeface="Broadway" panose="04040905080B02020502" pitchFamily="82" charset="0"/>
                <a:cs typeface="Cambria"/>
              </a:rPr>
              <a:t>You!</a:t>
            </a:r>
            <a:endParaRPr sz="9600" dirty="0">
              <a:latin typeface="Broadway" panose="04040905080B02020502" pitchFamily="82" charset="0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3175"/>
              </a:spcBef>
            </a:pPr>
            <a:endParaRPr sz="9600" dirty="0">
              <a:latin typeface="Broadway" panose="04040905080B02020502" pitchFamily="82" charset="0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775</Words>
  <Application>Microsoft Office PowerPoint</Application>
  <PresentationFormat>Custom</PresentationFormat>
  <Paragraphs>88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 MT</vt:lpstr>
      <vt:lpstr>Broadway</vt:lpstr>
      <vt:lpstr>Calibri</vt:lpstr>
      <vt:lpstr>Cambria</vt:lpstr>
      <vt:lpstr>Courier New</vt:lpstr>
      <vt:lpstr>Times New Roman</vt:lpstr>
      <vt:lpstr>Office Theme</vt:lpstr>
      <vt:lpstr>Smart Crop Advisory</vt:lpstr>
      <vt:lpstr>Context &amp; Introduction</vt:lpstr>
      <vt:lpstr>The Problem Statement</vt:lpstr>
      <vt:lpstr>Specific Challenges in Small-scale Farming</vt:lpstr>
      <vt:lpstr>The Gravity of the Situation</vt:lpstr>
      <vt:lpstr>Proposed Solution: SCAS</vt:lpstr>
      <vt:lpstr>Core System Features</vt:lpstr>
      <vt:lpstr>System Workflow &amp; Theory</vt:lpstr>
      <vt:lpstr>Stakeholder Ecosystem</vt:lpstr>
      <vt:lpstr>Core Advantages of the System</vt:lpstr>
      <vt:lpstr>The Road Ahead</vt:lpstr>
      <vt:lpstr>Conclusion</vt:lpstr>
      <vt:lpstr>Thank You!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LENOVO</dc:creator>
  <cp:lastModifiedBy>vigneshwaracharysonaganti@gmail.com</cp:lastModifiedBy>
  <cp:revision>2</cp:revision>
  <dcterms:created xsi:type="dcterms:W3CDTF">2026-04-29T06:18:14Z</dcterms:created>
  <dcterms:modified xsi:type="dcterms:W3CDTF">2026-04-29T06:30:59Z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2026-04-29T00:00:00Z</vt:filetime>
  </property>
  <property fmtid="{D5CDD505-2E9C-101B-9397-08002B2CF9AE}" pid="4" name="LastSaved">
    <vt:filetime>2026-04-29T00:00:00Z</vt:filetime>
  </property>
</Properties>
</file>